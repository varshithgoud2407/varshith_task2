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1295" y="127383"/>
              <a:ext cx="298790" cy="1308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63499" y="461156"/>
              <a:ext cx="98178" cy="1156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693204" y="266447"/>
              <a:ext cx="281940" cy="303530"/>
            </a:xfrm>
            <a:custGeom>
              <a:avLst/>
              <a:gdLst/>
              <a:ahLst/>
              <a:cxnLst/>
              <a:rect l="l" t="t" r="r" b="b"/>
              <a:pathLst>
                <a:path w="281940" h="303530">
                  <a:moveTo>
                    <a:pt x="281580" y="178838"/>
                  </a:moveTo>
                  <a:lnTo>
                    <a:pt x="45694" y="178838"/>
                  </a:lnTo>
                  <a:lnTo>
                    <a:pt x="60183" y="179804"/>
                  </a:lnTo>
                  <a:lnTo>
                    <a:pt x="61000" y="194144"/>
                  </a:lnTo>
                  <a:lnTo>
                    <a:pt x="61226" y="200515"/>
                  </a:lnTo>
                  <a:lnTo>
                    <a:pt x="60287" y="206876"/>
                  </a:lnTo>
                  <a:lnTo>
                    <a:pt x="58229" y="212908"/>
                  </a:lnTo>
                  <a:lnTo>
                    <a:pt x="64597" y="215184"/>
                  </a:lnTo>
                  <a:lnTo>
                    <a:pt x="70282" y="219035"/>
                  </a:lnTo>
                  <a:lnTo>
                    <a:pt x="74754" y="224106"/>
                  </a:lnTo>
                  <a:lnTo>
                    <a:pt x="82388" y="238973"/>
                  </a:lnTo>
                  <a:lnTo>
                    <a:pt x="84766" y="258403"/>
                  </a:lnTo>
                  <a:lnTo>
                    <a:pt x="82559" y="279369"/>
                  </a:lnTo>
                  <a:lnTo>
                    <a:pt x="76438" y="298846"/>
                  </a:lnTo>
                  <a:lnTo>
                    <a:pt x="75725" y="300458"/>
                  </a:lnTo>
                  <a:lnTo>
                    <a:pt x="75028" y="301704"/>
                  </a:lnTo>
                  <a:lnTo>
                    <a:pt x="74127" y="303407"/>
                  </a:lnTo>
                  <a:lnTo>
                    <a:pt x="259921" y="303407"/>
                  </a:lnTo>
                  <a:lnTo>
                    <a:pt x="268352" y="301704"/>
                  </a:lnTo>
                  <a:lnTo>
                    <a:pt x="275237" y="297060"/>
                  </a:lnTo>
                  <a:lnTo>
                    <a:pt x="279879" y="290171"/>
                  </a:lnTo>
                  <a:lnTo>
                    <a:pt x="281581" y="281735"/>
                  </a:lnTo>
                  <a:lnTo>
                    <a:pt x="281580" y="178838"/>
                  </a:lnTo>
                  <a:close/>
                </a:path>
                <a:path w="281940" h="303530">
                  <a:moveTo>
                    <a:pt x="0" y="0"/>
                  </a:moveTo>
                  <a:lnTo>
                    <a:pt x="0" y="176360"/>
                  </a:lnTo>
                  <a:lnTo>
                    <a:pt x="10288" y="184085"/>
                  </a:lnTo>
                  <a:lnTo>
                    <a:pt x="12057" y="185272"/>
                  </a:lnTo>
                  <a:lnTo>
                    <a:pt x="13763" y="186536"/>
                  </a:lnTo>
                  <a:lnTo>
                    <a:pt x="15415" y="187868"/>
                  </a:lnTo>
                  <a:lnTo>
                    <a:pt x="21891" y="183886"/>
                  </a:lnTo>
                  <a:lnTo>
                    <a:pt x="28878" y="181016"/>
                  </a:lnTo>
                  <a:lnTo>
                    <a:pt x="36236" y="179304"/>
                  </a:lnTo>
                  <a:lnTo>
                    <a:pt x="43150" y="178838"/>
                  </a:lnTo>
                  <a:lnTo>
                    <a:pt x="281580" y="178838"/>
                  </a:lnTo>
                  <a:lnTo>
                    <a:pt x="281580" y="10835"/>
                  </a:lnTo>
                  <a:lnTo>
                    <a:pt x="17598" y="10835"/>
                  </a:lnTo>
                  <a:lnTo>
                    <a:pt x="0" y="0"/>
                  </a:lnTo>
                  <a:close/>
                </a:path>
                <a:path w="281940" h="303530">
                  <a:moveTo>
                    <a:pt x="35197" y="0"/>
                  </a:moveTo>
                  <a:lnTo>
                    <a:pt x="17598" y="10835"/>
                  </a:lnTo>
                  <a:lnTo>
                    <a:pt x="52796" y="10835"/>
                  </a:lnTo>
                  <a:lnTo>
                    <a:pt x="35197" y="0"/>
                  </a:lnTo>
                  <a:close/>
                </a:path>
                <a:path w="281940" h="303530">
                  <a:moveTo>
                    <a:pt x="70395" y="0"/>
                  </a:moveTo>
                  <a:lnTo>
                    <a:pt x="52796" y="10835"/>
                  </a:lnTo>
                  <a:lnTo>
                    <a:pt x="87993" y="10835"/>
                  </a:lnTo>
                  <a:lnTo>
                    <a:pt x="70395" y="0"/>
                  </a:lnTo>
                  <a:close/>
                </a:path>
                <a:path w="281940" h="303530">
                  <a:moveTo>
                    <a:pt x="105592" y="0"/>
                  </a:moveTo>
                  <a:lnTo>
                    <a:pt x="87993" y="10835"/>
                  </a:lnTo>
                  <a:lnTo>
                    <a:pt x="123191" y="10835"/>
                  </a:lnTo>
                  <a:lnTo>
                    <a:pt x="105592" y="0"/>
                  </a:lnTo>
                  <a:close/>
                </a:path>
                <a:path w="281940" h="303530">
                  <a:moveTo>
                    <a:pt x="140790" y="0"/>
                  </a:moveTo>
                  <a:lnTo>
                    <a:pt x="123191" y="10835"/>
                  </a:lnTo>
                  <a:lnTo>
                    <a:pt x="158389" y="10835"/>
                  </a:lnTo>
                  <a:lnTo>
                    <a:pt x="140790" y="0"/>
                  </a:lnTo>
                  <a:close/>
                </a:path>
                <a:path w="281940" h="303530">
                  <a:moveTo>
                    <a:pt x="175987" y="0"/>
                  </a:moveTo>
                  <a:lnTo>
                    <a:pt x="158389" y="10835"/>
                  </a:lnTo>
                  <a:lnTo>
                    <a:pt x="193586" y="10835"/>
                  </a:lnTo>
                  <a:lnTo>
                    <a:pt x="175987" y="0"/>
                  </a:lnTo>
                  <a:close/>
                </a:path>
                <a:path w="281940" h="303530">
                  <a:moveTo>
                    <a:pt x="211185" y="0"/>
                  </a:moveTo>
                  <a:lnTo>
                    <a:pt x="193586" y="10835"/>
                  </a:lnTo>
                  <a:lnTo>
                    <a:pt x="228784" y="10835"/>
                  </a:lnTo>
                  <a:lnTo>
                    <a:pt x="211185" y="0"/>
                  </a:lnTo>
                  <a:close/>
                </a:path>
                <a:path w="281940" h="303530">
                  <a:moveTo>
                    <a:pt x="246382" y="0"/>
                  </a:moveTo>
                  <a:lnTo>
                    <a:pt x="228784" y="10835"/>
                  </a:lnTo>
                  <a:lnTo>
                    <a:pt x="263981" y="10835"/>
                  </a:lnTo>
                  <a:lnTo>
                    <a:pt x="246382" y="0"/>
                  </a:lnTo>
                  <a:close/>
                </a:path>
                <a:path w="281940" h="303530">
                  <a:moveTo>
                    <a:pt x="281580" y="0"/>
                  </a:moveTo>
                  <a:lnTo>
                    <a:pt x="263981" y="10835"/>
                  </a:lnTo>
                  <a:lnTo>
                    <a:pt x="281580" y="10835"/>
                  </a:lnTo>
                  <a:lnTo>
                    <a:pt x="281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886200" y="1745360"/>
            <a:ext cx="5062855" cy="4209415"/>
            <a:chOff x="3886200" y="1745360"/>
            <a:chExt cx="5062855" cy="4209415"/>
          </a:xfrm>
        </p:grpSpPr>
        <p:sp>
          <p:nvSpPr>
            <p:cNvPr id="11" name="object 11"/>
            <p:cNvSpPr/>
            <p:nvPr/>
          </p:nvSpPr>
          <p:spPr>
            <a:xfrm>
              <a:off x="3886200" y="1746503"/>
              <a:ext cx="5050790" cy="2209800"/>
            </a:xfrm>
            <a:custGeom>
              <a:avLst/>
              <a:gdLst/>
              <a:ahLst/>
              <a:cxnLst/>
              <a:rect l="l" t="t" r="r" b="b"/>
              <a:pathLst>
                <a:path w="5050790" h="2209800">
                  <a:moveTo>
                    <a:pt x="5050536" y="1999488"/>
                  </a:moveTo>
                  <a:lnTo>
                    <a:pt x="0" y="1999488"/>
                  </a:lnTo>
                  <a:lnTo>
                    <a:pt x="0" y="2209800"/>
                  </a:lnTo>
                  <a:lnTo>
                    <a:pt x="5050536" y="2209800"/>
                  </a:lnTo>
                  <a:lnTo>
                    <a:pt x="5050536" y="1999488"/>
                  </a:lnTo>
                  <a:close/>
                </a:path>
                <a:path w="5050790" h="2209800">
                  <a:moveTo>
                    <a:pt x="5050536" y="1399032"/>
                  </a:moveTo>
                  <a:lnTo>
                    <a:pt x="0" y="1399032"/>
                  </a:lnTo>
                  <a:lnTo>
                    <a:pt x="0" y="1609344"/>
                  </a:lnTo>
                  <a:lnTo>
                    <a:pt x="5050536" y="1609344"/>
                  </a:lnTo>
                  <a:lnTo>
                    <a:pt x="5050536" y="1399032"/>
                  </a:lnTo>
                  <a:close/>
                </a:path>
                <a:path w="5050790" h="2209800">
                  <a:moveTo>
                    <a:pt x="5050536" y="406908"/>
                  </a:moveTo>
                  <a:lnTo>
                    <a:pt x="0" y="406908"/>
                  </a:lnTo>
                  <a:lnTo>
                    <a:pt x="0" y="608076"/>
                  </a:lnTo>
                  <a:lnTo>
                    <a:pt x="5050536" y="608076"/>
                  </a:lnTo>
                  <a:lnTo>
                    <a:pt x="5050536" y="406908"/>
                  </a:lnTo>
                  <a:close/>
                </a:path>
                <a:path w="5050790" h="2209800">
                  <a:moveTo>
                    <a:pt x="5050536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050536" y="210312"/>
                  </a:lnTo>
                  <a:lnTo>
                    <a:pt x="505053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39021" y="1754885"/>
              <a:ext cx="0" cy="2192655"/>
            </a:xfrm>
            <a:custGeom>
              <a:avLst/>
              <a:gdLst/>
              <a:ahLst/>
              <a:cxnLst/>
              <a:rect l="l" t="t" r="r" b="b"/>
              <a:pathLst>
                <a:path w="0" h="2192654">
                  <a:moveTo>
                    <a:pt x="0" y="0"/>
                  </a:moveTo>
                  <a:lnTo>
                    <a:pt x="0" y="598551"/>
                  </a:lnTo>
                </a:path>
                <a:path w="0" h="2192654">
                  <a:moveTo>
                    <a:pt x="0" y="1400555"/>
                  </a:moveTo>
                  <a:lnTo>
                    <a:pt x="0" y="2192528"/>
                  </a:lnTo>
                </a:path>
              </a:pathLst>
            </a:custGeom>
            <a:ln w="19050">
              <a:solidFill>
                <a:srgbClr val="041F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48956" y="1808987"/>
              <a:ext cx="486409" cy="510540"/>
            </a:xfrm>
            <a:custGeom>
              <a:avLst/>
              <a:gdLst/>
              <a:ahLst/>
              <a:cxnLst/>
              <a:rect l="l" t="t" r="r" b="b"/>
              <a:pathLst>
                <a:path w="486409" h="510539">
                  <a:moveTo>
                    <a:pt x="486156" y="399288"/>
                  </a:moveTo>
                  <a:lnTo>
                    <a:pt x="249936" y="399288"/>
                  </a:lnTo>
                  <a:lnTo>
                    <a:pt x="249936" y="510540"/>
                  </a:lnTo>
                  <a:lnTo>
                    <a:pt x="486156" y="510540"/>
                  </a:lnTo>
                  <a:lnTo>
                    <a:pt x="486156" y="399288"/>
                  </a:lnTo>
                  <a:close/>
                </a:path>
                <a:path w="486409" h="510539">
                  <a:moveTo>
                    <a:pt x="48615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486156" y="111252"/>
                  </a:lnTo>
                  <a:lnTo>
                    <a:pt x="486156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19872" y="2008631"/>
              <a:ext cx="451484" cy="3896995"/>
            </a:xfrm>
            <a:custGeom>
              <a:avLst/>
              <a:gdLst/>
              <a:ahLst/>
              <a:cxnLst/>
              <a:rect l="l" t="t" r="r" b="b"/>
              <a:pathLst>
                <a:path w="451484" h="3896995">
                  <a:moveTo>
                    <a:pt x="15240" y="399288"/>
                  </a:moveTo>
                  <a:lnTo>
                    <a:pt x="0" y="399288"/>
                  </a:lnTo>
                  <a:lnTo>
                    <a:pt x="0" y="509016"/>
                  </a:lnTo>
                  <a:lnTo>
                    <a:pt x="15240" y="509016"/>
                  </a:lnTo>
                  <a:lnTo>
                    <a:pt x="15240" y="399288"/>
                  </a:lnTo>
                  <a:close/>
                </a:path>
                <a:path w="451484" h="3896995">
                  <a:moveTo>
                    <a:pt x="16764" y="0"/>
                  </a:moveTo>
                  <a:lnTo>
                    <a:pt x="15240" y="0"/>
                  </a:lnTo>
                  <a:lnTo>
                    <a:pt x="15240" y="111252"/>
                  </a:lnTo>
                  <a:lnTo>
                    <a:pt x="16764" y="111252"/>
                  </a:lnTo>
                  <a:lnTo>
                    <a:pt x="16764" y="0"/>
                  </a:lnTo>
                  <a:close/>
                </a:path>
                <a:path w="451484" h="3896995">
                  <a:moveTo>
                    <a:pt x="28956" y="1594104"/>
                  </a:moveTo>
                  <a:lnTo>
                    <a:pt x="15240" y="1594104"/>
                  </a:lnTo>
                  <a:lnTo>
                    <a:pt x="15240" y="1705356"/>
                  </a:lnTo>
                  <a:lnTo>
                    <a:pt x="28956" y="1705356"/>
                  </a:lnTo>
                  <a:lnTo>
                    <a:pt x="28956" y="1594104"/>
                  </a:lnTo>
                  <a:close/>
                </a:path>
                <a:path w="451484" h="3896995">
                  <a:moveTo>
                    <a:pt x="134112" y="996696"/>
                  </a:moveTo>
                  <a:lnTo>
                    <a:pt x="15240" y="996696"/>
                  </a:lnTo>
                  <a:lnTo>
                    <a:pt x="15240" y="1107948"/>
                  </a:lnTo>
                  <a:lnTo>
                    <a:pt x="134112" y="1107948"/>
                  </a:lnTo>
                  <a:lnTo>
                    <a:pt x="134112" y="996696"/>
                  </a:lnTo>
                  <a:close/>
                </a:path>
                <a:path w="451484" h="3896995">
                  <a:moveTo>
                    <a:pt x="153924" y="1394460"/>
                  </a:moveTo>
                  <a:lnTo>
                    <a:pt x="15240" y="1394460"/>
                  </a:lnTo>
                  <a:lnTo>
                    <a:pt x="15240" y="1505712"/>
                  </a:lnTo>
                  <a:lnTo>
                    <a:pt x="153924" y="1505712"/>
                  </a:lnTo>
                  <a:lnTo>
                    <a:pt x="153924" y="1394460"/>
                  </a:lnTo>
                  <a:close/>
                </a:path>
                <a:path w="451484" h="3896995">
                  <a:moveTo>
                    <a:pt x="184404" y="797052"/>
                  </a:moveTo>
                  <a:lnTo>
                    <a:pt x="15240" y="797052"/>
                  </a:lnTo>
                  <a:lnTo>
                    <a:pt x="15240" y="908304"/>
                  </a:lnTo>
                  <a:lnTo>
                    <a:pt x="184404" y="908304"/>
                  </a:lnTo>
                  <a:lnTo>
                    <a:pt x="184404" y="797052"/>
                  </a:lnTo>
                  <a:close/>
                </a:path>
                <a:path w="451484" h="3896995">
                  <a:moveTo>
                    <a:pt x="222504" y="2988564"/>
                  </a:moveTo>
                  <a:lnTo>
                    <a:pt x="15240" y="2988564"/>
                  </a:lnTo>
                  <a:lnTo>
                    <a:pt x="15240" y="3099816"/>
                  </a:lnTo>
                  <a:lnTo>
                    <a:pt x="222504" y="3099816"/>
                  </a:lnTo>
                  <a:lnTo>
                    <a:pt x="222504" y="2988564"/>
                  </a:lnTo>
                  <a:close/>
                </a:path>
                <a:path w="451484" h="3896995">
                  <a:moveTo>
                    <a:pt x="246888" y="3188208"/>
                  </a:moveTo>
                  <a:lnTo>
                    <a:pt x="15240" y="3188208"/>
                  </a:lnTo>
                  <a:lnTo>
                    <a:pt x="15240" y="3299460"/>
                  </a:lnTo>
                  <a:lnTo>
                    <a:pt x="246888" y="3299460"/>
                  </a:lnTo>
                  <a:lnTo>
                    <a:pt x="246888" y="3188208"/>
                  </a:lnTo>
                  <a:close/>
                </a:path>
                <a:path w="451484" h="3896995">
                  <a:moveTo>
                    <a:pt x="271272" y="3587496"/>
                  </a:moveTo>
                  <a:lnTo>
                    <a:pt x="15240" y="3587496"/>
                  </a:lnTo>
                  <a:lnTo>
                    <a:pt x="15240" y="3697224"/>
                  </a:lnTo>
                  <a:lnTo>
                    <a:pt x="271272" y="3697224"/>
                  </a:lnTo>
                  <a:lnTo>
                    <a:pt x="271272" y="3587496"/>
                  </a:lnTo>
                  <a:close/>
                </a:path>
                <a:path w="451484" h="3896995">
                  <a:moveTo>
                    <a:pt x="274320" y="2391156"/>
                  </a:moveTo>
                  <a:lnTo>
                    <a:pt x="15240" y="2391156"/>
                  </a:lnTo>
                  <a:lnTo>
                    <a:pt x="15240" y="2502408"/>
                  </a:lnTo>
                  <a:lnTo>
                    <a:pt x="274320" y="2502408"/>
                  </a:lnTo>
                  <a:lnTo>
                    <a:pt x="274320" y="2391156"/>
                  </a:lnTo>
                  <a:close/>
                </a:path>
                <a:path w="451484" h="3896995">
                  <a:moveTo>
                    <a:pt x="274320" y="2191512"/>
                  </a:moveTo>
                  <a:lnTo>
                    <a:pt x="15240" y="2191512"/>
                  </a:lnTo>
                  <a:lnTo>
                    <a:pt x="15240" y="2302764"/>
                  </a:lnTo>
                  <a:lnTo>
                    <a:pt x="274320" y="2302764"/>
                  </a:lnTo>
                  <a:lnTo>
                    <a:pt x="274320" y="2191512"/>
                  </a:lnTo>
                  <a:close/>
                </a:path>
                <a:path w="451484" h="3896995">
                  <a:moveTo>
                    <a:pt x="274320" y="1993392"/>
                  </a:moveTo>
                  <a:lnTo>
                    <a:pt x="15240" y="1993392"/>
                  </a:lnTo>
                  <a:lnTo>
                    <a:pt x="15240" y="2103120"/>
                  </a:lnTo>
                  <a:lnTo>
                    <a:pt x="274320" y="2103120"/>
                  </a:lnTo>
                  <a:lnTo>
                    <a:pt x="274320" y="1993392"/>
                  </a:lnTo>
                  <a:close/>
                </a:path>
                <a:path w="451484" h="3896995">
                  <a:moveTo>
                    <a:pt x="294132" y="3785616"/>
                  </a:moveTo>
                  <a:lnTo>
                    <a:pt x="15240" y="3785616"/>
                  </a:lnTo>
                  <a:lnTo>
                    <a:pt x="15240" y="3896868"/>
                  </a:lnTo>
                  <a:lnTo>
                    <a:pt x="294132" y="3896868"/>
                  </a:lnTo>
                  <a:lnTo>
                    <a:pt x="294132" y="3785616"/>
                  </a:lnTo>
                  <a:close/>
                </a:path>
                <a:path w="451484" h="3896995">
                  <a:moveTo>
                    <a:pt x="297180" y="2790444"/>
                  </a:moveTo>
                  <a:lnTo>
                    <a:pt x="15240" y="2790444"/>
                  </a:lnTo>
                  <a:lnTo>
                    <a:pt x="15240" y="2900172"/>
                  </a:lnTo>
                  <a:lnTo>
                    <a:pt x="297180" y="2900172"/>
                  </a:lnTo>
                  <a:lnTo>
                    <a:pt x="297180" y="2790444"/>
                  </a:lnTo>
                  <a:close/>
                </a:path>
                <a:path w="451484" h="3896995">
                  <a:moveTo>
                    <a:pt x="297180" y="2590800"/>
                  </a:moveTo>
                  <a:lnTo>
                    <a:pt x="15240" y="2590800"/>
                  </a:lnTo>
                  <a:lnTo>
                    <a:pt x="15240" y="2702052"/>
                  </a:lnTo>
                  <a:lnTo>
                    <a:pt x="297180" y="2702052"/>
                  </a:lnTo>
                  <a:lnTo>
                    <a:pt x="297180" y="2590800"/>
                  </a:lnTo>
                  <a:close/>
                </a:path>
                <a:path w="451484" h="3896995">
                  <a:moveTo>
                    <a:pt x="313944" y="597408"/>
                  </a:moveTo>
                  <a:lnTo>
                    <a:pt x="15240" y="597408"/>
                  </a:lnTo>
                  <a:lnTo>
                    <a:pt x="15240" y="708660"/>
                  </a:lnTo>
                  <a:lnTo>
                    <a:pt x="313944" y="708660"/>
                  </a:lnTo>
                  <a:lnTo>
                    <a:pt x="313944" y="597408"/>
                  </a:lnTo>
                  <a:close/>
                </a:path>
                <a:path w="451484" h="3896995">
                  <a:moveTo>
                    <a:pt x="345948" y="3387852"/>
                  </a:moveTo>
                  <a:lnTo>
                    <a:pt x="15240" y="3387852"/>
                  </a:lnTo>
                  <a:lnTo>
                    <a:pt x="15240" y="3499104"/>
                  </a:lnTo>
                  <a:lnTo>
                    <a:pt x="345948" y="3499104"/>
                  </a:lnTo>
                  <a:lnTo>
                    <a:pt x="345948" y="3387852"/>
                  </a:lnTo>
                  <a:close/>
                </a:path>
                <a:path w="451484" h="3896995">
                  <a:moveTo>
                    <a:pt x="348996" y="1793748"/>
                  </a:moveTo>
                  <a:lnTo>
                    <a:pt x="15240" y="1793748"/>
                  </a:lnTo>
                  <a:lnTo>
                    <a:pt x="15240" y="1905000"/>
                  </a:lnTo>
                  <a:lnTo>
                    <a:pt x="348996" y="1905000"/>
                  </a:lnTo>
                  <a:lnTo>
                    <a:pt x="348996" y="1793748"/>
                  </a:lnTo>
                  <a:close/>
                </a:path>
                <a:path w="451484" h="3896995">
                  <a:moveTo>
                    <a:pt x="451104" y="1196340"/>
                  </a:moveTo>
                  <a:lnTo>
                    <a:pt x="15240" y="1196340"/>
                  </a:lnTo>
                  <a:lnTo>
                    <a:pt x="15240" y="1306068"/>
                  </a:lnTo>
                  <a:lnTo>
                    <a:pt x="451104" y="1306068"/>
                  </a:lnTo>
                  <a:lnTo>
                    <a:pt x="451104" y="119634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135111" y="1764791"/>
              <a:ext cx="0" cy="4185285"/>
            </a:xfrm>
            <a:custGeom>
              <a:avLst/>
              <a:gdLst/>
              <a:ahLst/>
              <a:cxnLst/>
              <a:rect l="l" t="t" r="r" b="b"/>
              <a:pathLst>
                <a:path w="0" h="4185285">
                  <a:moveTo>
                    <a:pt x="0" y="0"/>
                  </a:moveTo>
                  <a:lnTo>
                    <a:pt x="0" y="4184904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0" y="0"/>
            <a:ext cx="3096895" cy="6858000"/>
            <a:chOff x="0" y="0"/>
            <a:chExt cx="3096895" cy="6858000"/>
          </a:xfrm>
        </p:grpSpPr>
        <p:sp>
          <p:nvSpPr>
            <p:cNvPr id="17" name="object 17"/>
            <p:cNvSpPr/>
            <p:nvPr/>
          </p:nvSpPr>
          <p:spPr>
            <a:xfrm>
              <a:off x="0" y="0"/>
              <a:ext cx="3096895" cy="6858000"/>
            </a:xfrm>
            <a:custGeom>
              <a:avLst/>
              <a:gdLst/>
              <a:ahLst/>
              <a:cxnLst/>
              <a:rect l="l" t="t" r="r" b="b"/>
              <a:pathLst>
                <a:path w="3096895" h="6858000">
                  <a:moveTo>
                    <a:pt x="309676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96768" y="6858000"/>
                  </a:lnTo>
                  <a:lnTo>
                    <a:pt x="3096768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Woman in a tracksuit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095243" cy="2200529"/>
            </a:xfrm>
            <a:prstGeom prst="rect">
              <a:avLst/>
            </a:prstGeom>
          </p:spPr>
        </p:pic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Product: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/>
              <a:t>value</a:t>
            </a:r>
            <a:r>
              <a:rPr dirty="0" spc="-50"/>
              <a:t> </a:t>
            </a:r>
            <a:r>
              <a:rPr dirty="0"/>
              <a:t>less</a:t>
            </a:r>
            <a:r>
              <a:rPr dirty="0" spc="-55"/>
              <a:t> </a:t>
            </a:r>
            <a:r>
              <a:rPr dirty="0"/>
              <a:t>important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 i="1">
                <a:latin typeface="Calibri"/>
                <a:cs typeface="Calibri"/>
              </a:rPr>
              <a:t>Premium</a:t>
            </a:r>
            <a:r>
              <a:rPr dirty="0" spc="-55" i="1">
                <a:latin typeface="Calibri"/>
                <a:cs typeface="Calibri"/>
              </a:rPr>
              <a:t> </a:t>
            </a:r>
            <a:r>
              <a:rPr dirty="0" spc="-40" i="1">
                <a:latin typeface="Calibri"/>
                <a:cs typeface="Calibri"/>
              </a:rPr>
              <a:t>Trend-</a:t>
            </a:r>
            <a:r>
              <a:rPr dirty="0" spc="-10" i="1">
                <a:latin typeface="Calibri"/>
                <a:cs typeface="Calibri"/>
              </a:rPr>
              <a:t>seekers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352038" y="6345428"/>
            <a:ext cx="549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consolidation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barriers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indicated by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respondents</a:t>
            </a:r>
            <a:r>
              <a:rPr dirty="0" sz="900" spc="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where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last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purchase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was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(K01,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K02,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K03)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8663" y="2313558"/>
            <a:ext cx="1993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FFFFFF"/>
                </a:solidFill>
                <a:latin typeface="Calibri"/>
                <a:cs typeface="Calibri"/>
              </a:rPr>
              <a:t>Premium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 b="1" i="1">
                <a:solidFill>
                  <a:srgbClr val="FFFFFF"/>
                </a:solidFill>
                <a:latin typeface="Calibri"/>
                <a:cs typeface="Calibri"/>
              </a:rPr>
              <a:t>Trend-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seekers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5318" y="2736850"/>
            <a:ext cx="2326640" cy="1076960"/>
            <a:chOff x="385318" y="2736850"/>
            <a:chExt cx="2326640" cy="1076960"/>
          </a:xfrm>
        </p:grpSpPr>
        <p:sp>
          <p:nvSpPr>
            <p:cNvPr id="23" name="object 23"/>
            <p:cNvSpPr/>
            <p:nvPr/>
          </p:nvSpPr>
          <p:spPr>
            <a:xfrm>
              <a:off x="1144523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44523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668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704088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704088" y="513588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1668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0" y="513588"/>
                  </a:moveTo>
                  <a:lnTo>
                    <a:pt x="704088" y="513588"/>
                  </a:lnTo>
                  <a:lnTo>
                    <a:pt x="704088" y="0"/>
                  </a:lnTo>
                  <a:lnTo>
                    <a:pt x="0" y="0"/>
                  </a:lnTo>
                  <a:lnTo>
                    <a:pt x="0" y="5135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043684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6614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61416" y="512063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43684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0" y="512063"/>
                  </a:moveTo>
                  <a:lnTo>
                    <a:pt x="661416" y="512063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562100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434339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4339" y="512063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562100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0" y="512063"/>
                  </a:moveTo>
                  <a:lnTo>
                    <a:pt x="434339" y="512063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77568" y="3296412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827532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827532" y="510539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77568" y="3296412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0" y="510539"/>
                  </a:moveTo>
                  <a:lnTo>
                    <a:pt x="827532" y="510539"/>
                  </a:lnTo>
                  <a:lnTo>
                    <a:pt x="827532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562100" y="3296412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2667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266700" y="51053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562100" y="3296412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0" y="510539"/>
                  </a:moveTo>
                  <a:lnTo>
                    <a:pt x="266700" y="510539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91668" y="3296412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458723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458723" y="510539"/>
                  </a:lnTo>
                  <a:lnTo>
                    <a:pt x="45872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91668" y="3296412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0" y="510539"/>
                  </a:moveTo>
                  <a:lnTo>
                    <a:pt x="458723" y="510539"/>
                  </a:lnTo>
                  <a:lnTo>
                    <a:pt x="458723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69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7636" y="3296412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615695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615695" y="510539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97636" y="3296412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0" y="510539"/>
                  </a:moveTo>
                  <a:lnTo>
                    <a:pt x="615695" y="510539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266" y="2914178"/>
              <a:ext cx="173591" cy="172451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398766" y="1755775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81467" y="1954529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48067" y="2154428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11718" y="2352802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94293" y="2514676"/>
            <a:ext cx="600075" cy="341312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4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3%</a:t>
            </a:r>
            <a:endParaRPr sz="105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  <a:p>
            <a:pPr marL="42164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1050">
              <a:latin typeface="Calibri"/>
              <a:cs typeface="Calibri"/>
            </a:endParaRPr>
          </a:p>
          <a:p>
            <a:pPr marL="125095">
              <a:lnSpc>
                <a:spcPct val="100000"/>
              </a:lnSpc>
              <a:spcBef>
                <a:spcPts val="32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  <a:p>
            <a:pPr marL="32004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32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26924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69240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19304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316865"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64809" y="148869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874389" y="1746885"/>
            <a:ext cx="3025775" cy="4002404"/>
            <a:chOff x="3874389" y="1746885"/>
            <a:chExt cx="3025775" cy="4002404"/>
          </a:xfrm>
        </p:grpSpPr>
        <p:sp>
          <p:nvSpPr>
            <p:cNvPr id="47" name="object 47"/>
            <p:cNvSpPr/>
            <p:nvPr/>
          </p:nvSpPr>
          <p:spPr>
            <a:xfrm>
              <a:off x="3880104" y="1955292"/>
              <a:ext cx="3006725" cy="3789045"/>
            </a:xfrm>
            <a:custGeom>
              <a:avLst/>
              <a:gdLst/>
              <a:ahLst/>
              <a:cxnLst/>
              <a:rect l="l" t="t" r="r" b="b"/>
              <a:pathLst>
                <a:path w="3006725" h="3789045">
                  <a:moveTo>
                    <a:pt x="0" y="0"/>
                  </a:moveTo>
                  <a:lnTo>
                    <a:pt x="3006725" y="0"/>
                  </a:lnTo>
                </a:path>
                <a:path w="3006725" h="3789045">
                  <a:moveTo>
                    <a:pt x="0" y="199644"/>
                  </a:moveTo>
                  <a:lnTo>
                    <a:pt x="3006725" y="199644"/>
                  </a:lnTo>
                </a:path>
                <a:path w="3006725" h="3789045">
                  <a:moveTo>
                    <a:pt x="0" y="397763"/>
                  </a:moveTo>
                  <a:lnTo>
                    <a:pt x="3006725" y="397763"/>
                  </a:lnTo>
                </a:path>
                <a:path w="3006725" h="3789045">
                  <a:moveTo>
                    <a:pt x="0" y="597408"/>
                  </a:moveTo>
                  <a:lnTo>
                    <a:pt x="3006725" y="597408"/>
                  </a:lnTo>
                </a:path>
                <a:path w="3006725" h="3789045">
                  <a:moveTo>
                    <a:pt x="0" y="798576"/>
                  </a:moveTo>
                  <a:lnTo>
                    <a:pt x="3006725" y="798576"/>
                  </a:lnTo>
                </a:path>
                <a:path w="3006725" h="3789045">
                  <a:moveTo>
                    <a:pt x="0" y="998220"/>
                  </a:moveTo>
                  <a:lnTo>
                    <a:pt x="3006725" y="998220"/>
                  </a:lnTo>
                </a:path>
                <a:path w="3006725" h="3789045">
                  <a:moveTo>
                    <a:pt x="0" y="1196340"/>
                  </a:moveTo>
                  <a:lnTo>
                    <a:pt x="3006725" y="1196340"/>
                  </a:lnTo>
                </a:path>
                <a:path w="3006725" h="3789045">
                  <a:moveTo>
                    <a:pt x="0" y="1395984"/>
                  </a:moveTo>
                  <a:lnTo>
                    <a:pt x="3006725" y="1395984"/>
                  </a:lnTo>
                </a:path>
                <a:path w="3006725" h="3789045">
                  <a:moveTo>
                    <a:pt x="0" y="1595628"/>
                  </a:moveTo>
                  <a:lnTo>
                    <a:pt x="3006725" y="1595628"/>
                  </a:lnTo>
                </a:path>
                <a:path w="3006725" h="3789045">
                  <a:moveTo>
                    <a:pt x="0" y="1795272"/>
                  </a:moveTo>
                  <a:lnTo>
                    <a:pt x="3006725" y="1795272"/>
                  </a:lnTo>
                </a:path>
                <a:path w="3006725" h="3789045">
                  <a:moveTo>
                    <a:pt x="0" y="1993392"/>
                  </a:moveTo>
                  <a:lnTo>
                    <a:pt x="3006725" y="1993392"/>
                  </a:lnTo>
                </a:path>
                <a:path w="3006725" h="3789045">
                  <a:moveTo>
                    <a:pt x="0" y="2193036"/>
                  </a:moveTo>
                  <a:lnTo>
                    <a:pt x="3006725" y="2193036"/>
                  </a:lnTo>
                </a:path>
                <a:path w="3006725" h="3789045">
                  <a:moveTo>
                    <a:pt x="0" y="2392680"/>
                  </a:moveTo>
                  <a:lnTo>
                    <a:pt x="3006725" y="2392680"/>
                  </a:lnTo>
                </a:path>
                <a:path w="3006725" h="3789045">
                  <a:moveTo>
                    <a:pt x="0" y="2592324"/>
                  </a:moveTo>
                  <a:lnTo>
                    <a:pt x="3006725" y="2592324"/>
                  </a:lnTo>
                </a:path>
                <a:path w="3006725" h="3789045">
                  <a:moveTo>
                    <a:pt x="0" y="2790444"/>
                  </a:moveTo>
                  <a:lnTo>
                    <a:pt x="3006725" y="2790444"/>
                  </a:lnTo>
                </a:path>
                <a:path w="3006725" h="3789045">
                  <a:moveTo>
                    <a:pt x="0" y="2990088"/>
                  </a:moveTo>
                  <a:lnTo>
                    <a:pt x="3006725" y="2990088"/>
                  </a:lnTo>
                </a:path>
                <a:path w="3006725" h="3789045">
                  <a:moveTo>
                    <a:pt x="0" y="3191256"/>
                  </a:moveTo>
                  <a:lnTo>
                    <a:pt x="3006725" y="3191256"/>
                  </a:lnTo>
                </a:path>
                <a:path w="3006725" h="3789045">
                  <a:moveTo>
                    <a:pt x="0" y="3390900"/>
                  </a:moveTo>
                  <a:lnTo>
                    <a:pt x="3006725" y="3390900"/>
                  </a:lnTo>
                </a:path>
                <a:path w="3006725" h="3789045">
                  <a:moveTo>
                    <a:pt x="0" y="3589020"/>
                  </a:moveTo>
                  <a:lnTo>
                    <a:pt x="3006725" y="3589020"/>
                  </a:lnTo>
                </a:path>
                <a:path w="3006725" h="3789045">
                  <a:moveTo>
                    <a:pt x="0" y="3788664"/>
                  </a:moveTo>
                  <a:lnTo>
                    <a:pt x="3006725" y="3788664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883914" y="1756410"/>
              <a:ext cx="3006725" cy="0"/>
            </a:xfrm>
            <a:custGeom>
              <a:avLst/>
              <a:gdLst/>
              <a:ahLst/>
              <a:cxnLst/>
              <a:rect l="l" t="t" r="r" b="b"/>
              <a:pathLst>
                <a:path w="3006725" h="0">
                  <a:moveTo>
                    <a:pt x="0" y="0"/>
                  </a:moveTo>
                  <a:lnTo>
                    <a:pt x="3006725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7828788" y="1488694"/>
            <a:ext cx="565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491484" y="1717548"/>
            <a:ext cx="182880" cy="4205605"/>
            <a:chOff x="3491484" y="1717548"/>
            <a:chExt cx="182880" cy="4205605"/>
          </a:xfrm>
        </p:grpSpPr>
        <p:sp>
          <p:nvSpPr>
            <p:cNvPr id="51" name="object 51"/>
            <p:cNvSpPr/>
            <p:nvPr/>
          </p:nvSpPr>
          <p:spPr>
            <a:xfrm>
              <a:off x="3544824" y="1717548"/>
              <a:ext cx="76200" cy="4205605"/>
            </a:xfrm>
            <a:custGeom>
              <a:avLst/>
              <a:gdLst/>
              <a:ahLst/>
              <a:cxnLst/>
              <a:rect l="l" t="t" r="r" b="b"/>
              <a:pathLst>
                <a:path w="76200" h="4205605">
                  <a:moveTo>
                    <a:pt x="30099" y="4129087"/>
                  </a:moveTo>
                  <a:lnTo>
                    <a:pt x="0" y="4129087"/>
                  </a:lnTo>
                  <a:lnTo>
                    <a:pt x="38100" y="4205287"/>
                  </a:lnTo>
                  <a:lnTo>
                    <a:pt x="69850" y="4141787"/>
                  </a:lnTo>
                  <a:lnTo>
                    <a:pt x="30099" y="4141787"/>
                  </a:lnTo>
                  <a:lnTo>
                    <a:pt x="30099" y="4129087"/>
                  </a:lnTo>
                  <a:close/>
                </a:path>
                <a:path w="76200" h="420560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4141787"/>
                  </a:lnTo>
                  <a:lnTo>
                    <a:pt x="45974" y="41417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4205605">
                  <a:moveTo>
                    <a:pt x="76200" y="4129087"/>
                  </a:moveTo>
                  <a:lnTo>
                    <a:pt x="45974" y="4129087"/>
                  </a:lnTo>
                  <a:lnTo>
                    <a:pt x="45974" y="4141787"/>
                  </a:lnTo>
                  <a:lnTo>
                    <a:pt x="69850" y="4141787"/>
                  </a:lnTo>
                  <a:lnTo>
                    <a:pt x="76200" y="4129087"/>
                  </a:lnTo>
                  <a:close/>
                </a:path>
                <a:path w="76200" h="420560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420560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420560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91484" y="2933700"/>
              <a:ext cx="182880" cy="1812289"/>
            </a:xfrm>
            <a:custGeom>
              <a:avLst/>
              <a:gdLst/>
              <a:ahLst/>
              <a:cxnLst/>
              <a:rect l="l" t="t" r="r" b="b"/>
              <a:pathLst>
                <a:path w="182879" h="1812289">
                  <a:moveTo>
                    <a:pt x="182879" y="0"/>
                  </a:moveTo>
                  <a:lnTo>
                    <a:pt x="0" y="0"/>
                  </a:lnTo>
                  <a:lnTo>
                    <a:pt x="0" y="1812036"/>
                  </a:lnTo>
                  <a:lnTo>
                    <a:pt x="182879" y="181203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508375" y="3006800"/>
            <a:ext cx="177800" cy="16675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1200" spc="-3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r>
              <a:rPr dirty="0" sz="1200" spc="-5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481637" y="1746885"/>
            <a:ext cx="3468370" cy="4208145"/>
            <a:chOff x="5481637" y="1746885"/>
            <a:chExt cx="3468370" cy="4208145"/>
          </a:xfrm>
        </p:grpSpPr>
        <p:sp>
          <p:nvSpPr>
            <p:cNvPr id="55" name="object 55"/>
            <p:cNvSpPr/>
            <p:nvPr/>
          </p:nvSpPr>
          <p:spPr>
            <a:xfrm>
              <a:off x="7271004" y="1955292"/>
              <a:ext cx="1666875" cy="3789045"/>
            </a:xfrm>
            <a:custGeom>
              <a:avLst/>
              <a:gdLst/>
              <a:ahLst/>
              <a:cxnLst/>
              <a:rect l="l" t="t" r="r" b="b"/>
              <a:pathLst>
                <a:path w="1666875" h="3789045">
                  <a:moveTo>
                    <a:pt x="0" y="0"/>
                  </a:moveTo>
                  <a:lnTo>
                    <a:pt x="1666875" y="0"/>
                  </a:lnTo>
                </a:path>
                <a:path w="1666875" h="3789045">
                  <a:moveTo>
                    <a:pt x="0" y="199644"/>
                  </a:moveTo>
                  <a:lnTo>
                    <a:pt x="1666875" y="199644"/>
                  </a:lnTo>
                </a:path>
                <a:path w="1666875" h="3789045">
                  <a:moveTo>
                    <a:pt x="0" y="397763"/>
                  </a:moveTo>
                  <a:lnTo>
                    <a:pt x="1666875" y="397763"/>
                  </a:lnTo>
                </a:path>
                <a:path w="1666875" h="3789045">
                  <a:moveTo>
                    <a:pt x="0" y="597408"/>
                  </a:moveTo>
                  <a:lnTo>
                    <a:pt x="1666875" y="597408"/>
                  </a:lnTo>
                </a:path>
                <a:path w="1666875" h="3789045">
                  <a:moveTo>
                    <a:pt x="0" y="798576"/>
                  </a:moveTo>
                  <a:lnTo>
                    <a:pt x="1666875" y="798576"/>
                  </a:lnTo>
                </a:path>
                <a:path w="1666875" h="3789045">
                  <a:moveTo>
                    <a:pt x="0" y="998220"/>
                  </a:moveTo>
                  <a:lnTo>
                    <a:pt x="1666875" y="998220"/>
                  </a:lnTo>
                </a:path>
                <a:path w="1666875" h="3789045">
                  <a:moveTo>
                    <a:pt x="0" y="1196340"/>
                  </a:moveTo>
                  <a:lnTo>
                    <a:pt x="1666875" y="1196340"/>
                  </a:lnTo>
                </a:path>
                <a:path w="1666875" h="3789045">
                  <a:moveTo>
                    <a:pt x="0" y="1395984"/>
                  </a:moveTo>
                  <a:lnTo>
                    <a:pt x="1666875" y="1395984"/>
                  </a:lnTo>
                </a:path>
                <a:path w="1666875" h="3789045">
                  <a:moveTo>
                    <a:pt x="0" y="1595628"/>
                  </a:moveTo>
                  <a:lnTo>
                    <a:pt x="1666875" y="1595628"/>
                  </a:lnTo>
                </a:path>
                <a:path w="1666875" h="3789045">
                  <a:moveTo>
                    <a:pt x="0" y="1795272"/>
                  </a:moveTo>
                  <a:lnTo>
                    <a:pt x="1666875" y="1795272"/>
                  </a:lnTo>
                </a:path>
                <a:path w="1666875" h="3789045">
                  <a:moveTo>
                    <a:pt x="0" y="1993392"/>
                  </a:moveTo>
                  <a:lnTo>
                    <a:pt x="1666875" y="1993392"/>
                  </a:lnTo>
                </a:path>
                <a:path w="1666875" h="3789045">
                  <a:moveTo>
                    <a:pt x="0" y="2193036"/>
                  </a:moveTo>
                  <a:lnTo>
                    <a:pt x="1666875" y="2193036"/>
                  </a:lnTo>
                </a:path>
                <a:path w="1666875" h="3789045">
                  <a:moveTo>
                    <a:pt x="0" y="2392680"/>
                  </a:moveTo>
                  <a:lnTo>
                    <a:pt x="1666875" y="2392680"/>
                  </a:lnTo>
                </a:path>
                <a:path w="1666875" h="3789045">
                  <a:moveTo>
                    <a:pt x="0" y="2592324"/>
                  </a:moveTo>
                  <a:lnTo>
                    <a:pt x="1666875" y="2592324"/>
                  </a:lnTo>
                </a:path>
                <a:path w="1666875" h="3789045">
                  <a:moveTo>
                    <a:pt x="0" y="2790444"/>
                  </a:moveTo>
                  <a:lnTo>
                    <a:pt x="1666875" y="2790444"/>
                  </a:lnTo>
                </a:path>
                <a:path w="1666875" h="3789045">
                  <a:moveTo>
                    <a:pt x="0" y="2990088"/>
                  </a:moveTo>
                  <a:lnTo>
                    <a:pt x="1666875" y="2990088"/>
                  </a:lnTo>
                </a:path>
                <a:path w="1666875" h="3789045">
                  <a:moveTo>
                    <a:pt x="0" y="3191256"/>
                  </a:moveTo>
                  <a:lnTo>
                    <a:pt x="1666875" y="3191256"/>
                  </a:lnTo>
                </a:path>
                <a:path w="1666875" h="3789045">
                  <a:moveTo>
                    <a:pt x="0" y="3390900"/>
                  </a:moveTo>
                  <a:lnTo>
                    <a:pt x="1666875" y="3390900"/>
                  </a:lnTo>
                </a:path>
                <a:path w="1666875" h="3789045">
                  <a:moveTo>
                    <a:pt x="0" y="3589020"/>
                  </a:moveTo>
                  <a:lnTo>
                    <a:pt x="1666875" y="3589020"/>
                  </a:lnTo>
                </a:path>
                <a:path w="1666875" h="3789045">
                  <a:moveTo>
                    <a:pt x="0" y="3788664"/>
                  </a:moveTo>
                  <a:lnTo>
                    <a:pt x="1666875" y="3788664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273289" y="1756410"/>
              <a:ext cx="1666875" cy="0"/>
            </a:xfrm>
            <a:custGeom>
              <a:avLst/>
              <a:gdLst/>
              <a:ahLst/>
              <a:cxnLst/>
              <a:rect l="l" t="t" r="r" b="b"/>
              <a:pathLst>
                <a:path w="1666875" h="0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486400" y="1808987"/>
              <a:ext cx="1030605" cy="4097020"/>
            </a:xfrm>
            <a:custGeom>
              <a:avLst/>
              <a:gdLst/>
              <a:ahLst/>
              <a:cxnLst/>
              <a:rect l="l" t="t" r="r" b="b"/>
              <a:pathLst>
                <a:path w="1030604" h="4097020">
                  <a:moveTo>
                    <a:pt x="132588" y="3985260"/>
                  </a:moveTo>
                  <a:lnTo>
                    <a:pt x="0" y="3985260"/>
                  </a:lnTo>
                  <a:lnTo>
                    <a:pt x="0" y="4096512"/>
                  </a:lnTo>
                  <a:lnTo>
                    <a:pt x="132588" y="4096512"/>
                  </a:lnTo>
                  <a:lnTo>
                    <a:pt x="132588" y="3985260"/>
                  </a:lnTo>
                  <a:close/>
                </a:path>
                <a:path w="1030604" h="4097020">
                  <a:moveTo>
                    <a:pt x="147828" y="3787140"/>
                  </a:moveTo>
                  <a:lnTo>
                    <a:pt x="0" y="3787140"/>
                  </a:lnTo>
                  <a:lnTo>
                    <a:pt x="0" y="3896868"/>
                  </a:lnTo>
                  <a:lnTo>
                    <a:pt x="147828" y="3896868"/>
                  </a:lnTo>
                  <a:lnTo>
                    <a:pt x="147828" y="3787140"/>
                  </a:lnTo>
                  <a:close/>
                </a:path>
                <a:path w="1030604" h="4097020">
                  <a:moveTo>
                    <a:pt x="161544" y="3587496"/>
                  </a:moveTo>
                  <a:lnTo>
                    <a:pt x="0" y="3587496"/>
                  </a:lnTo>
                  <a:lnTo>
                    <a:pt x="0" y="3698748"/>
                  </a:lnTo>
                  <a:lnTo>
                    <a:pt x="161544" y="3698748"/>
                  </a:lnTo>
                  <a:lnTo>
                    <a:pt x="161544" y="3587496"/>
                  </a:lnTo>
                  <a:close/>
                </a:path>
                <a:path w="1030604" h="4097020">
                  <a:moveTo>
                    <a:pt x="161544" y="3387852"/>
                  </a:moveTo>
                  <a:lnTo>
                    <a:pt x="0" y="3387852"/>
                  </a:lnTo>
                  <a:lnTo>
                    <a:pt x="0" y="3499104"/>
                  </a:lnTo>
                  <a:lnTo>
                    <a:pt x="161544" y="3499104"/>
                  </a:lnTo>
                  <a:lnTo>
                    <a:pt x="161544" y="3387852"/>
                  </a:lnTo>
                  <a:close/>
                </a:path>
                <a:path w="1030604" h="4097020">
                  <a:moveTo>
                    <a:pt x="176784" y="3188208"/>
                  </a:moveTo>
                  <a:lnTo>
                    <a:pt x="0" y="3188208"/>
                  </a:lnTo>
                  <a:lnTo>
                    <a:pt x="0" y="3299460"/>
                  </a:lnTo>
                  <a:lnTo>
                    <a:pt x="176784" y="3299460"/>
                  </a:lnTo>
                  <a:lnTo>
                    <a:pt x="176784" y="3188208"/>
                  </a:lnTo>
                  <a:close/>
                </a:path>
                <a:path w="1030604" h="4097020">
                  <a:moveTo>
                    <a:pt x="192024" y="2990088"/>
                  </a:moveTo>
                  <a:lnTo>
                    <a:pt x="0" y="2990088"/>
                  </a:lnTo>
                  <a:lnTo>
                    <a:pt x="0" y="3099816"/>
                  </a:lnTo>
                  <a:lnTo>
                    <a:pt x="192024" y="3099816"/>
                  </a:lnTo>
                  <a:lnTo>
                    <a:pt x="192024" y="2990088"/>
                  </a:lnTo>
                  <a:close/>
                </a:path>
                <a:path w="1030604" h="4097020">
                  <a:moveTo>
                    <a:pt x="192024" y="2790444"/>
                  </a:moveTo>
                  <a:lnTo>
                    <a:pt x="0" y="2790444"/>
                  </a:lnTo>
                  <a:lnTo>
                    <a:pt x="0" y="2901696"/>
                  </a:lnTo>
                  <a:lnTo>
                    <a:pt x="192024" y="2901696"/>
                  </a:lnTo>
                  <a:lnTo>
                    <a:pt x="192024" y="2790444"/>
                  </a:lnTo>
                  <a:close/>
                </a:path>
                <a:path w="1030604" h="4097020">
                  <a:moveTo>
                    <a:pt x="205740" y="2590800"/>
                  </a:moveTo>
                  <a:lnTo>
                    <a:pt x="0" y="2590800"/>
                  </a:lnTo>
                  <a:lnTo>
                    <a:pt x="0" y="2702052"/>
                  </a:lnTo>
                  <a:lnTo>
                    <a:pt x="205740" y="2702052"/>
                  </a:lnTo>
                  <a:lnTo>
                    <a:pt x="205740" y="2590800"/>
                  </a:lnTo>
                  <a:close/>
                </a:path>
                <a:path w="1030604" h="4097020">
                  <a:moveTo>
                    <a:pt x="205740" y="2391156"/>
                  </a:moveTo>
                  <a:lnTo>
                    <a:pt x="0" y="2391156"/>
                  </a:lnTo>
                  <a:lnTo>
                    <a:pt x="0" y="2502408"/>
                  </a:lnTo>
                  <a:lnTo>
                    <a:pt x="205740" y="2502408"/>
                  </a:lnTo>
                  <a:lnTo>
                    <a:pt x="205740" y="2391156"/>
                  </a:lnTo>
                  <a:close/>
                </a:path>
                <a:path w="1030604" h="4097020">
                  <a:moveTo>
                    <a:pt x="205740" y="2193036"/>
                  </a:moveTo>
                  <a:lnTo>
                    <a:pt x="0" y="2193036"/>
                  </a:lnTo>
                  <a:lnTo>
                    <a:pt x="0" y="2302764"/>
                  </a:lnTo>
                  <a:lnTo>
                    <a:pt x="205740" y="2302764"/>
                  </a:lnTo>
                  <a:lnTo>
                    <a:pt x="205740" y="2193036"/>
                  </a:lnTo>
                  <a:close/>
                </a:path>
                <a:path w="1030604" h="4097020">
                  <a:moveTo>
                    <a:pt x="220980" y="1993392"/>
                  </a:moveTo>
                  <a:lnTo>
                    <a:pt x="0" y="1993392"/>
                  </a:lnTo>
                  <a:lnTo>
                    <a:pt x="0" y="2104644"/>
                  </a:lnTo>
                  <a:lnTo>
                    <a:pt x="220980" y="2104644"/>
                  </a:lnTo>
                  <a:lnTo>
                    <a:pt x="220980" y="1993392"/>
                  </a:lnTo>
                  <a:close/>
                </a:path>
                <a:path w="1030604" h="4097020">
                  <a:moveTo>
                    <a:pt x="236220" y="1793748"/>
                  </a:moveTo>
                  <a:lnTo>
                    <a:pt x="0" y="1793748"/>
                  </a:lnTo>
                  <a:lnTo>
                    <a:pt x="0" y="1905000"/>
                  </a:lnTo>
                  <a:lnTo>
                    <a:pt x="236220" y="1905000"/>
                  </a:lnTo>
                  <a:lnTo>
                    <a:pt x="236220" y="1793748"/>
                  </a:lnTo>
                  <a:close/>
                </a:path>
                <a:path w="1030604" h="4097020">
                  <a:moveTo>
                    <a:pt x="278892" y="1594104"/>
                  </a:moveTo>
                  <a:lnTo>
                    <a:pt x="0" y="1594104"/>
                  </a:lnTo>
                  <a:lnTo>
                    <a:pt x="0" y="1705356"/>
                  </a:lnTo>
                  <a:lnTo>
                    <a:pt x="278892" y="1705356"/>
                  </a:lnTo>
                  <a:lnTo>
                    <a:pt x="278892" y="1594104"/>
                  </a:lnTo>
                  <a:close/>
                </a:path>
                <a:path w="1030604" h="4097020">
                  <a:moveTo>
                    <a:pt x="278892" y="1395984"/>
                  </a:moveTo>
                  <a:lnTo>
                    <a:pt x="0" y="1395984"/>
                  </a:lnTo>
                  <a:lnTo>
                    <a:pt x="0" y="1505712"/>
                  </a:lnTo>
                  <a:lnTo>
                    <a:pt x="278892" y="1505712"/>
                  </a:lnTo>
                  <a:lnTo>
                    <a:pt x="278892" y="1395984"/>
                  </a:lnTo>
                  <a:close/>
                </a:path>
                <a:path w="1030604" h="4097020">
                  <a:moveTo>
                    <a:pt x="353568" y="1196340"/>
                  </a:moveTo>
                  <a:lnTo>
                    <a:pt x="0" y="1196340"/>
                  </a:lnTo>
                  <a:lnTo>
                    <a:pt x="0" y="1307592"/>
                  </a:lnTo>
                  <a:lnTo>
                    <a:pt x="353568" y="1307592"/>
                  </a:lnTo>
                  <a:lnTo>
                    <a:pt x="353568" y="1196340"/>
                  </a:lnTo>
                  <a:close/>
                </a:path>
                <a:path w="1030604" h="4097020">
                  <a:moveTo>
                    <a:pt x="382524" y="996696"/>
                  </a:moveTo>
                  <a:lnTo>
                    <a:pt x="0" y="996696"/>
                  </a:lnTo>
                  <a:lnTo>
                    <a:pt x="0" y="1107948"/>
                  </a:lnTo>
                  <a:lnTo>
                    <a:pt x="382524" y="1107948"/>
                  </a:lnTo>
                  <a:lnTo>
                    <a:pt x="382524" y="996696"/>
                  </a:lnTo>
                  <a:close/>
                </a:path>
                <a:path w="1030604" h="4097020">
                  <a:moveTo>
                    <a:pt x="486156" y="797052"/>
                  </a:moveTo>
                  <a:lnTo>
                    <a:pt x="0" y="797052"/>
                  </a:lnTo>
                  <a:lnTo>
                    <a:pt x="0" y="908304"/>
                  </a:lnTo>
                  <a:lnTo>
                    <a:pt x="486156" y="908304"/>
                  </a:lnTo>
                  <a:lnTo>
                    <a:pt x="486156" y="797052"/>
                  </a:lnTo>
                  <a:close/>
                </a:path>
                <a:path w="1030604" h="4097020">
                  <a:moveTo>
                    <a:pt x="618744" y="598932"/>
                  </a:moveTo>
                  <a:lnTo>
                    <a:pt x="0" y="598932"/>
                  </a:lnTo>
                  <a:lnTo>
                    <a:pt x="0" y="708660"/>
                  </a:lnTo>
                  <a:lnTo>
                    <a:pt x="618744" y="708660"/>
                  </a:lnTo>
                  <a:lnTo>
                    <a:pt x="618744" y="598932"/>
                  </a:lnTo>
                  <a:close/>
                </a:path>
                <a:path w="1030604" h="4097020">
                  <a:moveTo>
                    <a:pt x="632460" y="399288"/>
                  </a:moveTo>
                  <a:lnTo>
                    <a:pt x="0" y="399288"/>
                  </a:lnTo>
                  <a:lnTo>
                    <a:pt x="0" y="510540"/>
                  </a:lnTo>
                  <a:lnTo>
                    <a:pt x="632460" y="510540"/>
                  </a:lnTo>
                  <a:lnTo>
                    <a:pt x="632460" y="399288"/>
                  </a:lnTo>
                  <a:close/>
                </a:path>
                <a:path w="1030604" h="4097020">
                  <a:moveTo>
                    <a:pt x="912876" y="199644"/>
                  </a:moveTo>
                  <a:lnTo>
                    <a:pt x="0" y="199644"/>
                  </a:lnTo>
                  <a:lnTo>
                    <a:pt x="0" y="310896"/>
                  </a:lnTo>
                  <a:lnTo>
                    <a:pt x="912876" y="310896"/>
                  </a:lnTo>
                  <a:lnTo>
                    <a:pt x="912876" y="199644"/>
                  </a:lnTo>
                  <a:close/>
                </a:path>
                <a:path w="1030604" h="4097020">
                  <a:moveTo>
                    <a:pt x="1030224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030224" y="111252"/>
                  </a:lnTo>
                  <a:lnTo>
                    <a:pt x="1030224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486400" y="1764792"/>
              <a:ext cx="0" cy="4185285"/>
            </a:xfrm>
            <a:custGeom>
              <a:avLst/>
              <a:gdLst/>
              <a:ahLst/>
              <a:cxnLst/>
              <a:rect l="l" t="t" r="r" b="b"/>
              <a:pathLst>
                <a:path w="0" h="4185285">
                  <a:moveTo>
                    <a:pt x="0" y="0"/>
                  </a:moveTo>
                  <a:lnTo>
                    <a:pt x="0" y="4184904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444360" y="1717954"/>
            <a:ext cx="364490" cy="42290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29%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56558" y="1485976"/>
            <a:ext cx="1456690" cy="4450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endParaRPr sz="1200">
              <a:latin typeface="Calibri"/>
              <a:cs typeface="Calibri"/>
            </a:endParaRPr>
          </a:p>
          <a:p>
            <a:pPr marR="214629">
              <a:lnSpc>
                <a:spcPct val="124500"/>
              </a:lnSpc>
              <a:spcBef>
                <a:spcPts val="450"/>
              </a:spcBef>
            </a:pP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1050" spc="-1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value</a:t>
            </a:r>
            <a:r>
              <a:rPr dirty="0" sz="1050" spc="-4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for</a:t>
            </a:r>
            <a:r>
              <a:rPr dirty="0" sz="1050" spc="-1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1B1C1B"/>
                </a:solidFill>
                <a:latin typeface="Calibri"/>
                <a:cs typeface="Calibri"/>
              </a:rPr>
              <a:t>money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Better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suited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choices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Not</a:t>
            </a:r>
            <a:r>
              <a:rPr dirty="0" sz="1050" spc="-2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on </a:t>
            </a:r>
            <a:r>
              <a:rPr dirty="0" sz="1050" spc="-10" b="1">
                <a:solidFill>
                  <a:srgbClr val="1B1C1B"/>
                </a:solidFill>
                <a:latin typeface="Calibri"/>
                <a:cs typeface="Calibri"/>
              </a:rPr>
              <a:t>discount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access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find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Unaware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product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Lack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specific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benefit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Tried</a:t>
            </a:r>
            <a:r>
              <a:rPr dirty="0" sz="1050" spc="-2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and</a:t>
            </a:r>
            <a:r>
              <a:rPr dirty="0" sz="1050" spc="-1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2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5" b="1">
                <a:solidFill>
                  <a:srgbClr val="1B1C1B"/>
                </a:solidFill>
                <a:latin typeface="Calibri"/>
                <a:cs typeface="Calibri"/>
              </a:rPr>
              <a:t> 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portion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size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quality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Recommended</a:t>
            </a:r>
            <a:r>
              <a:rPr dirty="0" sz="1050" spc="-5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against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5" b="1">
                <a:solidFill>
                  <a:srgbClr val="1B1C1B"/>
                </a:solidFill>
                <a:latin typeface="Calibri"/>
                <a:cs typeface="Calibri"/>
              </a:rPr>
              <a:t>it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packaging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trust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brand</a:t>
            </a:r>
            <a:endParaRPr sz="1050">
              <a:latin typeface="Calibri"/>
              <a:cs typeface="Calibri"/>
            </a:endParaRPr>
          </a:p>
          <a:p>
            <a:pPr marR="86360">
              <a:lnSpc>
                <a:spcPts val="1580"/>
              </a:lnSpc>
              <a:spcBef>
                <a:spcPts val="9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product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unique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come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with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extras</a:t>
            </a:r>
            <a:endParaRPr sz="1050">
              <a:latin typeface="Calibri"/>
              <a:cs typeface="Calibri"/>
            </a:endParaRPr>
          </a:p>
          <a:p>
            <a:pPr marR="287020">
              <a:lnSpc>
                <a:spcPct val="124500"/>
              </a:lnSpc>
              <a:spcBef>
                <a:spcPts val="1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include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gift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reviews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customizable</a:t>
            </a:r>
            <a:endParaRPr sz="1050">
              <a:latin typeface="Calibri"/>
              <a:cs typeface="Calibri"/>
            </a:endParaRPr>
          </a:p>
          <a:p>
            <a:pPr marR="5080">
              <a:lnSpc>
                <a:spcPts val="1580"/>
              </a:lnSpc>
              <a:spcBef>
                <a:spcPts val="8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brand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part</a:t>
            </a:r>
            <a:r>
              <a:rPr dirty="0" sz="105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combo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deal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663438" y="2116988"/>
            <a:ext cx="748665" cy="38112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501650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18%</a:t>
            </a:r>
            <a:endParaRPr sz="105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105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1050">
              <a:latin typeface="Calibri"/>
              <a:cs typeface="Calibri"/>
            </a:endParaRPr>
          </a:p>
          <a:p>
            <a:pPr marL="25082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1050">
              <a:latin typeface="Calibri"/>
              <a:cs typeface="Calibri"/>
            </a:endParaRPr>
          </a:p>
          <a:p>
            <a:pPr marL="22225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10%</a:t>
            </a:r>
            <a:endParaRPr sz="1050">
              <a:latin typeface="Calibri"/>
              <a:cs typeface="Calibri"/>
            </a:endParaRPr>
          </a:p>
          <a:p>
            <a:pPr marL="14732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  <a:p>
            <a:pPr marL="147320">
              <a:lnSpc>
                <a:spcPct val="100000"/>
              </a:lnSpc>
              <a:spcBef>
                <a:spcPts val="32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  <a:p>
            <a:pPr marL="10287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105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575672" y="1856613"/>
            <a:ext cx="2044700" cy="1587500"/>
            <a:chOff x="9575672" y="1856613"/>
            <a:chExt cx="2044700" cy="1587500"/>
          </a:xfrm>
        </p:grpSpPr>
        <p:sp>
          <p:nvSpPr>
            <p:cNvPr id="63" name="object 63"/>
            <p:cNvSpPr/>
            <p:nvPr/>
          </p:nvSpPr>
          <p:spPr>
            <a:xfrm>
              <a:off x="9585197" y="1866138"/>
              <a:ext cx="2025650" cy="1568450"/>
            </a:xfrm>
            <a:custGeom>
              <a:avLst/>
              <a:gdLst/>
              <a:ahLst/>
              <a:cxnLst/>
              <a:rect l="l" t="t" r="r" b="b"/>
              <a:pathLst>
                <a:path w="2025650" h="1568450">
                  <a:moveTo>
                    <a:pt x="2025396" y="0"/>
                  </a:moveTo>
                  <a:lnTo>
                    <a:pt x="0" y="0"/>
                  </a:lnTo>
                  <a:lnTo>
                    <a:pt x="0" y="1568196"/>
                  </a:lnTo>
                  <a:lnTo>
                    <a:pt x="2025396" y="1568196"/>
                  </a:lnTo>
                  <a:lnTo>
                    <a:pt x="202539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585197" y="1866138"/>
              <a:ext cx="2025650" cy="1568450"/>
            </a:xfrm>
            <a:custGeom>
              <a:avLst/>
              <a:gdLst/>
              <a:ahLst/>
              <a:cxnLst/>
              <a:rect l="l" t="t" r="r" b="b"/>
              <a:pathLst>
                <a:path w="2025650" h="1568450">
                  <a:moveTo>
                    <a:pt x="0" y="1568196"/>
                  </a:moveTo>
                  <a:lnTo>
                    <a:pt x="2025396" y="1568196"/>
                  </a:lnTo>
                  <a:lnTo>
                    <a:pt x="2025396" y="0"/>
                  </a:lnTo>
                  <a:lnTo>
                    <a:pt x="0" y="0"/>
                  </a:lnTo>
                  <a:lnTo>
                    <a:pt x="0" y="1568196"/>
                  </a:lnTo>
                  <a:close/>
                </a:path>
              </a:pathLst>
            </a:custGeom>
            <a:ln w="19050">
              <a:solidFill>
                <a:srgbClr val="1B1C1B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9761473" y="2148027"/>
            <a:ext cx="1684020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 indent="1905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Despite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value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10">
                <a:latin typeface="Calibri"/>
                <a:cs typeface="Calibri"/>
              </a:rPr>
              <a:t> price-driven </a:t>
            </a:r>
            <a:r>
              <a:rPr dirty="0" sz="1050">
                <a:latin typeface="Calibri"/>
                <a:cs typeface="Calibri"/>
              </a:rPr>
              <a:t>barriers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holding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significant </a:t>
            </a:r>
            <a:r>
              <a:rPr dirty="0" sz="1050">
                <a:latin typeface="Calibri"/>
                <a:cs typeface="Calibri"/>
              </a:rPr>
              <a:t>importance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across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broader </a:t>
            </a:r>
            <a:r>
              <a:rPr dirty="0" sz="1050">
                <a:latin typeface="Calibri"/>
                <a:cs typeface="Calibri"/>
              </a:rPr>
              <a:t>sample;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these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are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far</a:t>
            </a:r>
            <a:r>
              <a:rPr dirty="0" sz="1050" spc="-20">
                <a:latin typeface="Calibri"/>
                <a:cs typeface="Calibri"/>
              </a:rPr>
              <a:t> less </a:t>
            </a:r>
            <a:r>
              <a:rPr dirty="0" sz="1050">
                <a:latin typeface="Calibri"/>
                <a:cs typeface="Calibri"/>
              </a:rPr>
              <a:t>important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 </a:t>
            </a:r>
            <a:r>
              <a:rPr dirty="0" sz="1050" spc="-10" i="1">
                <a:latin typeface="Calibri"/>
                <a:cs typeface="Calibri"/>
              </a:rPr>
              <a:t>Premium</a:t>
            </a:r>
            <a:r>
              <a:rPr dirty="0" sz="1050" spc="-10" i="1">
                <a:latin typeface="Calibri"/>
                <a:cs typeface="Calibri"/>
              </a:rPr>
              <a:t> Trend-seeker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9575672" y="3906392"/>
            <a:ext cx="2044700" cy="2026285"/>
            <a:chOff x="9575672" y="3906392"/>
            <a:chExt cx="2044700" cy="2026285"/>
          </a:xfrm>
        </p:grpSpPr>
        <p:sp>
          <p:nvSpPr>
            <p:cNvPr id="67" name="object 67"/>
            <p:cNvSpPr/>
            <p:nvPr/>
          </p:nvSpPr>
          <p:spPr>
            <a:xfrm>
              <a:off x="9585197" y="3915917"/>
              <a:ext cx="2025650" cy="2007235"/>
            </a:xfrm>
            <a:custGeom>
              <a:avLst/>
              <a:gdLst/>
              <a:ahLst/>
              <a:cxnLst/>
              <a:rect l="l" t="t" r="r" b="b"/>
              <a:pathLst>
                <a:path w="2025650" h="2007235">
                  <a:moveTo>
                    <a:pt x="2025396" y="0"/>
                  </a:moveTo>
                  <a:lnTo>
                    <a:pt x="0" y="0"/>
                  </a:lnTo>
                  <a:lnTo>
                    <a:pt x="0" y="2007107"/>
                  </a:lnTo>
                  <a:lnTo>
                    <a:pt x="2025396" y="2007107"/>
                  </a:lnTo>
                  <a:lnTo>
                    <a:pt x="202539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585197" y="3915917"/>
              <a:ext cx="2025650" cy="2007235"/>
            </a:xfrm>
            <a:custGeom>
              <a:avLst/>
              <a:gdLst/>
              <a:ahLst/>
              <a:cxnLst/>
              <a:rect l="l" t="t" r="r" b="b"/>
              <a:pathLst>
                <a:path w="2025650" h="2007235">
                  <a:moveTo>
                    <a:pt x="0" y="2007107"/>
                  </a:moveTo>
                  <a:lnTo>
                    <a:pt x="2025396" y="2007107"/>
                  </a:lnTo>
                  <a:lnTo>
                    <a:pt x="2025396" y="0"/>
                  </a:lnTo>
                  <a:lnTo>
                    <a:pt x="0" y="0"/>
                  </a:lnTo>
                  <a:lnTo>
                    <a:pt x="0" y="2007107"/>
                  </a:lnTo>
                  <a:close/>
                </a:path>
              </a:pathLst>
            </a:custGeom>
            <a:ln w="19050">
              <a:solidFill>
                <a:srgbClr val="1B1C1B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9767569" y="4418457"/>
            <a:ext cx="1673225" cy="986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Barriers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higher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importance </a:t>
            </a:r>
            <a:r>
              <a:rPr dirty="0" sz="1050">
                <a:latin typeface="Calibri"/>
                <a:cs typeface="Calibri"/>
              </a:rPr>
              <a:t>include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respondents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that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were </a:t>
            </a:r>
            <a:r>
              <a:rPr dirty="0" sz="1050" spc="-10">
                <a:latin typeface="Calibri"/>
                <a:cs typeface="Calibri"/>
              </a:rPr>
              <a:t>unsatisfied</a:t>
            </a:r>
            <a:r>
              <a:rPr dirty="0" sz="1050">
                <a:latin typeface="Calibri"/>
                <a:cs typeface="Calibri"/>
              </a:rPr>
              <a:t> having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tried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>
                <a:latin typeface="Calibri"/>
                <a:cs typeface="Calibri"/>
              </a:rPr>
              <a:t>product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alongside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those </a:t>
            </a:r>
            <a:r>
              <a:rPr dirty="0" sz="1050">
                <a:latin typeface="Calibri"/>
                <a:cs typeface="Calibri"/>
              </a:rPr>
              <a:t>receiving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recommendation</a:t>
            </a:r>
            <a:r>
              <a:rPr dirty="0" sz="1050" spc="-1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against</a:t>
            </a:r>
            <a:r>
              <a:rPr dirty="0" sz="1050" spc="-35" i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KoRo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products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929496" y="1745360"/>
            <a:ext cx="2777490" cy="3184525"/>
            <a:chOff x="8929496" y="1745360"/>
            <a:chExt cx="2777490" cy="3184525"/>
          </a:xfrm>
        </p:grpSpPr>
        <p:sp>
          <p:nvSpPr>
            <p:cNvPr id="71" name="object 71"/>
            <p:cNvSpPr/>
            <p:nvPr/>
          </p:nvSpPr>
          <p:spPr>
            <a:xfrm>
              <a:off x="9495281" y="1754885"/>
              <a:ext cx="2202180" cy="0"/>
            </a:xfrm>
            <a:custGeom>
              <a:avLst/>
              <a:gdLst/>
              <a:ahLst/>
              <a:cxnLst/>
              <a:rect l="l" t="t" r="r" b="b"/>
              <a:pathLst>
                <a:path w="2202179" h="0">
                  <a:moveTo>
                    <a:pt x="0" y="0"/>
                  </a:moveTo>
                  <a:lnTo>
                    <a:pt x="2201926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939021" y="2058161"/>
              <a:ext cx="646430" cy="2862580"/>
            </a:xfrm>
            <a:custGeom>
              <a:avLst/>
              <a:gdLst/>
              <a:ahLst/>
              <a:cxnLst/>
              <a:rect l="l" t="t" r="r" b="b"/>
              <a:pathLst>
                <a:path w="646429" h="2862579">
                  <a:moveTo>
                    <a:pt x="0" y="0"/>
                  </a:moveTo>
                  <a:lnTo>
                    <a:pt x="323087" y="0"/>
                  </a:lnTo>
                  <a:lnTo>
                    <a:pt x="323087" y="593216"/>
                  </a:lnTo>
                  <a:lnTo>
                    <a:pt x="646049" y="593216"/>
                  </a:lnTo>
                </a:path>
                <a:path w="646429" h="2862579">
                  <a:moveTo>
                    <a:pt x="0" y="1499615"/>
                  </a:moveTo>
                  <a:lnTo>
                    <a:pt x="323087" y="1499615"/>
                  </a:lnTo>
                  <a:lnTo>
                    <a:pt x="323087" y="2862199"/>
                  </a:lnTo>
                  <a:lnTo>
                    <a:pt x="646049" y="2862199"/>
                  </a:lnTo>
                </a:path>
              </a:pathLst>
            </a:custGeom>
            <a:ln w="19050">
              <a:solidFill>
                <a:srgbClr val="041F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10281793" y="1481150"/>
            <a:ext cx="6432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Highlights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78663" y="3965194"/>
            <a:ext cx="938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barriers: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91668" y="4209097"/>
            <a:ext cx="2313940" cy="1781810"/>
            <a:chOff x="391668" y="4209097"/>
            <a:chExt cx="2313940" cy="1781810"/>
          </a:xfrm>
        </p:grpSpPr>
        <p:sp>
          <p:nvSpPr>
            <p:cNvPr id="76" name="object 76"/>
            <p:cNvSpPr/>
            <p:nvPr/>
          </p:nvSpPr>
          <p:spPr>
            <a:xfrm>
              <a:off x="391668" y="4213859"/>
              <a:ext cx="2313940" cy="0"/>
            </a:xfrm>
            <a:custGeom>
              <a:avLst/>
              <a:gdLst/>
              <a:ahLst/>
              <a:cxnLst/>
              <a:rect l="l" t="t" r="r" b="b"/>
              <a:pathLst>
                <a:path w="2313940" h="0">
                  <a:moveTo>
                    <a:pt x="2313813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86" y="5758850"/>
              <a:ext cx="252437" cy="232028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8285" y="5146805"/>
              <a:ext cx="260350" cy="223520"/>
            </a:xfrm>
            <a:custGeom>
              <a:avLst/>
              <a:gdLst/>
              <a:ahLst/>
              <a:cxnLst/>
              <a:rect l="l" t="t" r="r" b="b"/>
              <a:pathLst>
                <a:path w="260350" h="223520">
                  <a:moveTo>
                    <a:pt x="105437" y="186690"/>
                  </a:moveTo>
                  <a:lnTo>
                    <a:pt x="86576" y="186689"/>
                  </a:lnTo>
                  <a:lnTo>
                    <a:pt x="88711" y="196849"/>
                  </a:lnTo>
                  <a:lnTo>
                    <a:pt x="95079" y="205740"/>
                  </a:lnTo>
                  <a:lnTo>
                    <a:pt x="131889" y="220980"/>
                  </a:lnTo>
                  <a:lnTo>
                    <a:pt x="197637" y="223520"/>
                  </a:lnTo>
                  <a:lnTo>
                    <a:pt x="226181" y="218440"/>
                  </a:lnTo>
                  <a:lnTo>
                    <a:pt x="249854" y="207010"/>
                  </a:lnTo>
                  <a:lnTo>
                    <a:pt x="250471" y="205740"/>
                  </a:lnTo>
                  <a:lnTo>
                    <a:pt x="162949" y="205740"/>
                  </a:lnTo>
                  <a:lnTo>
                    <a:pt x="154910" y="204470"/>
                  </a:lnTo>
                  <a:lnTo>
                    <a:pt x="154910" y="203200"/>
                  </a:lnTo>
                  <a:lnTo>
                    <a:pt x="142542" y="203200"/>
                  </a:lnTo>
                  <a:lnTo>
                    <a:pt x="133884" y="201930"/>
                  </a:lnTo>
                  <a:lnTo>
                    <a:pt x="130173" y="200660"/>
                  </a:lnTo>
                  <a:lnTo>
                    <a:pt x="130173" y="196850"/>
                  </a:lnTo>
                  <a:lnTo>
                    <a:pt x="117805" y="196850"/>
                  </a:lnTo>
                  <a:lnTo>
                    <a:pt x="110075" y="194310"/>
                  </a:lnTo>
                  <a:lnTo>
                    <a:pt x="105437" y="190500"/>
                  </a:lnTo>
                  <a:lnTo>
                    <a:pt x="105437" y="186690"/>
                  </a:lnTo>
                  <a:close/>
                </a:path>
                <a:path w="260350" h="223520">
                  <a:moveTo>
                    <a:pt x="179646" y="193040"/>
                  </a:moveTo>
                  <a:lnTo>
                    <a:pt x="167278" y="193040"/>
                  </a:lnTo>
                  <a:lnTo>
                    <a:pt x="167278" y="205740"/>
                  </a:lnTo>
                  <a:lnTo>
                    <a:pt x="179646" y="205740"/>
                  </a:lnTo>
                  <a:lnTo>
                    <a:pt x="179646" y="193040"/>
                  </a:lnTo>
                  <a:close/>
                </a:path>
                <a:path w="260350" h="223520">
                  <a:moveTo>
                    <a:pt x="204382" y="193040"/>
                  </a:moveTo>
                  <a:lnTo>
                    <a:pt x="192014" y="193040"/>
                  </a:lnTo>
                  <a:lnTo>
                    <a:pt x="192014" y="204470"/>
                  </a:lnTo>
                  <a:lnTo>
                    <a:pt x="183975" y="205740"/>
                  </a:lnTo>
                  <a:lnTo>
                    <a:pt x="250471" y="205740"/>
                  </a:lnTo>
                  <a:lnTo>
                    <a:pt x="251705" y="203200"/>
                  </a:lnTo>
                  <a:lnTo>
                    <a:pt x="204382" y="203200"/>
                  </a:lnTo>
                  <a:lnTo>
                    <a:pt x="204382" y="193040"/>
                  </a:lnTo>
                  <a:close/>
                </a:path>
                <a:path w="260350" h="223520">
                  <a:moveTo>
                    <a:pt x="204382" y="191770"/>
                  </a:moveTo>
                  <a:lnTo>
                    <a:pt x="134193" y="191770"/>
                  </a:lnTo>
                  <a:lnTo>
                    <a:pt x="142542" y="193040"/>
                  </a:lnTo>
                  <a:lnTo>
                    <a:pt x="142542" y="203200"/>
                  </a:lnTo>
                  <a:lnTo>
                    <a:pt x="154910" y="203200"/>
                  </a:lnTo>
                  <a:lnTo>
                    <a:pt x="154910" y="193040"/>
                  </a:lnTo>
                  <a:lnTo>
                    <a:pt x="204382" y="193040"/>
                  </a:lnTo>
                  <a:lnTo>
                    <a:pt x="204382" y="191770"/>
                  </a:lnTo>
                  <a:close/>
                </a:path>
                <a:path w="260350" h="223520">
                  <a:moveTo>
                    <a:pt x="229118" y="189230"/>
                  </a:moveTo>
                  <a:lnTo>
                    <a:pt x="216750" y="189230"/>
                  </a:lnTo>
                  <a:lnTo>
                    <a:pt x="216750" y="200660"/>
                  </a:lnTo>
                  <a:lnTo>
                    <a:pt x="213039" y="201930"/>
                  </a:lnTo>
                  <a:lnTo>
                    <a:pt x="204382" y="203200"/>
                  </a:lnTo>
                  <a:lnTo>
                    <a:pt x="251705" y="203200"/>
                  </a:lnTo>
                  <a:lnTo>
                    <a:pt x="254791" y="196850"/>
                  </a:lnTo>
                  <a:lnTo>
                    <a:pt x="229118" y="196850"/>
                  </a:lnTo>
                  <a:lnTo>
                    <a:pt x="229118" y="189230"/>
                  </a:lnTo>
                  <a:close/>
                </a:path>
                <a:path w="260350" h="223520">
                  <a:moveTo>
                    <a:pt x="86576" y="0"/>
                  </a:moveTo>
                  <a:lnTo>
                    <a:pt x="62091" y="1269"/>
                  </a:lnTo>
                  <a:lnTo>
                    <a:pt x="33548" y="6349"/>
                  </a:lnTo>
                  <a:lnTo>
                    <a:pt x="9875" y="17779"/>
                  </a:lnTo>
                  <a:lnTo>
                    <a:pt x="0" y="38099"/>
                  </a:lnTo>
                  <a:lnTo>
                    <a:pt x="0" y="77469"/>
                  </a:lnTo>
                  <a:lnTo>
                    <a:pt x="4019" y="85089"/>
                  </a:lnTo>
                  <a:lnTo>
                    <a:pt x="12368" y="90169"/>
                  </a:lnTo>
                  <a:lnTo>
                    <a:pt x="12368" y="96519"/>
                  </a:lnTo>
                  <a:lnTo>
                    <a:pt x="4947" y="101599"/>
                  </a:lnTo>
                  <a:lnTo>
                    <a:pt x="0" y="109219"/>
                  </a:lnTo>
                  <a:lnTo>
                    <a:pt x="0" y="149859"/>
                  </a:lnTo>
                  <a:lnTo>
                    <a:pt x="33703" y="180339"/>
                  </a:lnTo>
                  <a:lnTo>
                    <a:pt x="72010" y="186689"/>
                  </a:lnTo>
                  <a:lnTo>
                    <a:pt x="108220" y="186690"/>
                  </a:lnTo>
                  <a:lnTo>
                    <a:pt x="111312" y="187960"/>
                  </a:lnTo>
                  <a:lnTo>
                    <a:pt x="114404" y="187960"/>
                  </a:lnTo>
                  <a:lnTo>
                    <a:pt x="117805" y="189230"/>
                  </a:lnTo>
                  <a:lnTo>
                    <a:pt x="117805" y="196850"/>
                  </a:lnTo>
                  <a:lnTo>
                    <a:pt x="130173" y="196850"/>
                  </a:lnTo>
                  <a:lnTo>
                    <a:pt x="130173" y="191770"/>
                  </a:lnTo>
                  <a:lnTo>
                    <a:pt x="204382" y="191770"/>
                  </a:lnTo>
                  <a:lnTo>
                    <a:pt x="208401" y="190500"/>
                  </a:lnTo>
                  <a:lnTo>
                    <a:pt x="212730" y="190500"/>
                  </a:lnTo>
                  <a:lnTo>
                    <a:pt x="216750" y="189230"/>
                  </a:lnTo>
                  <a:lnTo>
                    <a:pt x="229118" y="189230"/>
                  </a:lnTo>
                  <a:lnTo>
                    <a:pt x="229118" y="186690"/>
                  </a:lnTo>
                  <a:lnTo>
                    <a:pt x="233447" y="185420"/>
                  </a:lnTo>
                  <a:lnTo>
                    <a:pt x="237776" y="182880"/>
                  </a:lnTo>
                  <a:lnTo>
                    <a:pt x="241486" y="181610"/>
                  </a:lnTo>
                  <a:lnTo>
                    <a:pt x="259729" y="181610"/>
                  </a:lnTo>
                  <a:lnTo>
                    <a:pt x="259729" y="173990"/>
                  </a:lnTo>
                  <a:lnTo>
                    <a:pt x="142541" y="173990"/>
                  </a:lnTo>
                  <a:lnTo>
                    <a:pt x="142541" y="172720"/>
                  </a:lnTo>
                  <a:lnTo>
                    <a:pt x="130173" y="172720"/>
                  </a:lnTo>
                  <a:lnTo>
                    <a:pt x="121516" y="171450"/>
                  </a:lnTo>
                  <a:lnTo>
                    <a:pt x="117805" y="170180"/>
                  </a:lnTo>
                  <a:lnTo>
                    <a:pt x="117805" y="167640"/>
                  </a:lnTo>
                  <a:lnTo>
                    <a:pt x="68333" y="167639"/>
                  </a:lnTo>
                  <a:lnTo>
                    <a:pt x="68333" y="166369"/>
                  </a:lnTo>
                  <a:lnTo>
                    <a:pt x="55965" y="166369"/>
                  </a:lnTo>
                  <a:lnTo>
                    <a:pt x="47307" y="165099"/>
                  </a:lnTo>
                  <a:lnTo>
                    <a:pt x="43597" y="163829"/>
                  </a:lnTo>
                  <a:lnTo>
                    <a:pt x="43597" y="160019"/>
                  </a:lnTo>
                  <a:lnTo>
                    <a:pt x="31229" y="160019"/>
                  </a:lnTo>
                  <a:lnTo>
                    <a:pt x="23499" y="157479"/>
                  </a:lnTo>
                  <a:lnTo>
                    <a:pt x="18861" y="153669"/>
                  </a:lnTo>
                  <a:lnTo>
                    <a:pt x="18861" y="143509"/>
                  </a:lnTo>
                  <a:lnTo>
                    <a:pt x="161094" y="143510"/>
                  </a:lnTo>
                  <a:lnTo>
                    <a:pt x="134551" y="142240"/>
                  </a:lnTo>
                  <a:lnTo>
                    <a:pt x="112935" y="138430"/>
                  </a:lnTo>
                  <a:lnTo>
                    <a:pt x="98393" y="132080"/>
                  </a:lnTo>
                  <a:lnTo>
                    <a:pt x="68333" y="132079"/>
                  </a:lnTo>
                  <a:lnTo>
                    <a:pt x="59675" y="130809"/>
                  </a:lnTo>
                  <a:lnTo>
                    <a:pt x="55965" y="129539"/>
                  </a:lnTo>
                  <a:lnTo>
                    <a:pt x="55965" y="125729"/>
                  </a:lnTo>
                  <a:lnTo>
                    <a:pt x="43597" y="125729"/>
                  </a:lnTo>
                  <a:lnTo>
                    <a:pt x="35867" y="123189"/>
                  </a:lnTo>
                  <a:lnTo>
                    <a:pt x="31229" y="119379"/>
                  </a:lnTo>
                  <a:lnTo>
                    <a:pt x="31229" y="109219"/>
                  </a:lnTo>
                  <a:lnTo>
                    <a:pt x="127346" y="109220"/>
                  </a:lnTo>
                  <a:lnTo>
                    <a:pt x="134551" y="107950"/>
                  </a:lnTo>
                  <a:lnTo>
                    <a:pt x="161094" y="105410"/>
                  </a:lnTo>
                  <a:lnTo>
                    <a:pt x="239167" y="105410"/>
                  </a:lnTo>
                  <a:lnTo>
                    <a:pt x="228625" y="99060"/>
                  </a:lnTo>
                  <a:lnTo>
                    <a:pt x="213967" y="93980"/>
                  </a:lnTo>
                  <a:lnTo>
                    <a:pt x="207474" y="91440"/>
                  </a:lnTo>
                  <a:lnTo>
                    <a:pt x="200517" y="90170"/>
                  </a:lnTo>
                  <a:lnTo>
                    <a:pt x="193096" y="88900"/>
                  </a:lnTo>
                  <a:lnTo>
                    <a:pt x="185211" y="88900"/>
                  </a:lnTo>
                  <a:lnTo>
                    <a:pt x="185521" y="87630"/>
                  </a:lnTo>
                  <a:lnTo>
                    <a:pt x="72353" y="87629"/>
                  </a:lnTo>
                  <a:lnTo>
                    <a:pt x="68333" y="86359"/>
                  </a:lnTo>
                  <a:lnTo>
                    <a:pt x="68333" y="85089"/>
                  </a:lnTo>
                  <a:lnTo>
                    <a:pt x="55965" y="85089"/>
                  </a:lnTo>
                  <a:lnTo>
                    <a:pt x="47307" y="83819"/>
                  </a:lnTo>
                  <a:lnTo>
                    <a:pt x="43597" y="83819"/>
                  </a:lnTo>
                  <a:lnTo>
                    <a:pt x="43597" y="78739"/>
                  </a:lnTo>
                  <a:lnTo>
                    <a:pt x="31229" y="78739"/>
                  </a:lnTo>
                  <a:lnTo>
                    <a:pt x="23499" y="76199"/>
                  </a:lnTo>
                  <a:lnTo>
                    <a:pt x="18861" y="72389"/>
                  </a:lnTo>
                  <a:lnTo>
                    <a:pt x="18861" y="63499"/>
                  </a:lnTo>
                  <a:lnTo>
                    <a:pt x="174822" y="63500"/>
                  </a:lnTo>
                  <a:lnTo>
                    <a:pt x="173152" y="62230"/>
                  </a:lnTo>
                  <a:lnTo>
                    <a:pt x="173152" y="55880"/>
                  </a:lnTo>
                  <a:lnTo>
                    <a:pt x="86885" y="55879"/>
                  </a:lnTo>
                  <a:lnTo>
                    <a:pt x="60342" y="54609"/>
                  </a:lnTo>
                  <a:lnTo>
                    <a:pt x="38727" y="50799"/>
                  </a:lnTo>
                  <a:lnTo>
                    <a:pt x="24185" y="44449"/>
                  </a:lnTo>
                  <a:lnTo>
                    <a:pt x="18861" y="38099"/>
                  </a:lnTo>
                  <a:lnTo>
                    <a:pt x="24185" y="30479"/>
                  </a:lnTo>
                  <a:lnTo>
                    <a:pt x="38727" y="24129"/>
                  </a:lnTo>
                  <a:lnTo>
                    <a:pt x="60342" y="20319"/>
                  </a:lnTo>
                  <a:lnTo>
                    <a:pt x="86885" y="19049"/>
                  </a:lnTo>
                  <a:lnTo>
                    <a:pt x="164649" y="19050"/>
                  </a:lnTo>
                  <a:lnTo>
                    <a:pt x="154108" y="11430"/>
                  </a:lnTo>
                  <a:lnTo>
                    <a:pt x="139449" y="6350"/>
                  </a:lnTo>
                  <a:lnTo>
                    <a:pt x="127840" y="3810"/>
                  </a:lnTo>
                  <a:lnTo>
                    <a:pt x="114984" y="1270"/>
                  </a:lnTo>
                  <a:lnTo>
                    <a:pt x="101142" y="1270"/>
                  </a:lnTo>
                  <a:lnTo>
                    <a:pt x="86576" y="0"/>
                  </a:lnTo>
                  <a:close/>
                </a:path>
                <a:path w="260350" h="223520">
                  <a:moveTo>
                    <a:pt x="259729" y="181610"/>
                  </a:moveTo>
                  <a:lnTo>
                    <a:pt x="241486" y="181610"/>
                  </a:lnTo>
                  <a:lnTo>
                    <a:pt x="241486" y="190500"/>
                  </a:lnTo>
                  <a:lnTo>
                    <a:pt x="236848" y="194310"/>
                  </a:lnTo>
                  <a:lnTo>
                    <a:pt x="229118" y="196850"/>
                  </a:lnTo>
                  <a:lnTo>
                    <a:pt x="254791" y="196850"/>
                  </a:lnTo>
                  <a:lnTo>
                    <a:pt x="259729" y="186690"/>
                  </a:lnTo>
                  <a:lnTo>
                    <a:pt x="259729" y="181610"/>
                  </a:lnTo>
                  <a:close/>
                </a:path>
                <a:path w="260350" h="223520">
                  <a:moveTo>
                    <a:pt x="167278" y="162560"/>
                  </a:moveTo>
                  <a:lnTo>
                    <a:pt x="154910" y="162560"/>
                  </a:lnTo>
                  <a:lnTo>
                    <a:pt x="154910" y="173990"/>
                  </a:lnTo>
                  <a:lnTo>
                    <a:pt x="167278" y="173990"/>
                  </a:lnTo>
                  <a:lnTo>
                    <a:pt x="167278" y="162560"/>
                  </a:lnTo>
                  <a:close/>
                </a:path>
                <a:path w="260350" h="223520">
                  <a:moveTo>
                    <a:pt x="192014" y="161290"/>
                  </a:moveTo>
                  <a:lnTo>
                    <a:pt x="179646" y="161290"/>
                  </a:lnTo>
                  <a:lnTo>
                    <a:pt x="179646" y="173990"/>
                  </a:lnTo>
                  <a:lnTo>
                    <a:pt x="259729" y="173990"/>
                  </a:lnTo>
                  <a:lnTo>
                    <a:pt x="259729" y="172720"/>
                  </a:lnTo>
                  <a:lnTo>
                    <a:pt x="192014" y="172720"/>
                  </a:lnTo>
                  <a:lnTo>
                    <a:pt x="192014" y="161290"/>
                  </a:lnTo>
                  <a:close/>
                </a:path>
                <a:path w="260350" h="223520">
                  <a:moveTo>
                    <a:pt x="192014" y="160020"/>
                  </a:moveTo>
                  <a:lnTo>
                    <a:pt x="130173" y="160020"/>
                  </a:lnTo>
                  <a:lnTo>
                    <a:pt x="130173" y="172720"/>
                  </a:lnTo>
                  <a:lnTo>
                    <a:pt x="142541" y="172720"/>
                  </a:lnTo>
                  <a:lnTo>
                    <a:pt x="142541" y="161290"/>
                  </a:lnTo>
                  <a:lnTo>
                    <a:pt x="192014" y="161290"/>
                  </a:lnTo>
                  <a:lnTo>
                    <a:pt x="192014" y="160020"/>
                  </a:lnTo>
                  <a:close/>
                </a:path>
                <a:path w="260350" h="223520">
                  <a:moveTo>
                    <a:pt x="216750" y="158750"/>
                  </a:moveTo>
                  <a:lnTo>
                    <a:pt x="204382" y="158750"/>
                  </a:lnTo>
                  <a:lnTo>
                    <a:pt x="204382" y="170180"/>
                  </a:lnTo>
                  <a:lnTo>
                    <a:pt x="200671" y="171450"/>
                  </a:lnTo>
                  <a:lnTo>
                    <a:pt x="192014" y="172720"/>
                  </a:lnTo>
                  <a:lnTo>
                    <a:pt x="259729" y="172720"/>
                  </a:lnTo>
                  <a:lnTo>
                    <a:pt x="259729" y="166370"/>
                  </a:lnTo>
                  <a:lnTo>
                    <a:pt x="216750" y="166370"/>
                  </a:lnTo>
                  <a:lnTo>
                    <a:pt x="216750" y="158750"/>
                  </a:lnTo>
                  <a:close/>
                </a:path>
                <a:path w="260350" h="223520">
                  <a:moveTo>
                    <a:pt x="93069" y="154940"/>
                  </a:moveTo>
                  <a:lnTo>
                    <a:pt x="74517" y="154939"/>
                  </a:lnTo>
                  <a:lnTo>
                    <a:pt x="74517" y="160019"/>
                  </a:lnTo>
                  <a:lnTo>
                    <a:pt x="75445" y="163829"/>
                  </a:lnTo>
                  <a:lnTo>
                    <a:pt x="77609" y="167639"/>
                  </a:lnTo>
                  <a:lnTo>
                    <a:pt x="117805" y="167640"/>
                  </a:lnTo>
                  <a:lnTo>
                    <a:pt x="117805" y="166370"/>
                  </a:lnTo>
                  <a:lnTo>
                    <a:pt x="105437" y="166370"/>
                  </a:lnTo>
                  <a:lnTo>
                    <a:pt x="97707" y="163830"/>
                  </a:lnTo>
                  <a:lnTo>
                    <a:pt x="93069" y="160020"/>
                  </a:lnTo>
                  <a:lnTo>
                    <a:pt x="93069" y="154940"/>
                  </a:lnTo>
                  <a:close/>
                </a:path>
                <a:path w="260350" h="223520">
                  <a:moveTo>
                    <a:pt x="93069" y="151130"/>
                  </a:moveTo>
                  <a:lnTo>
                    <a:pt x="43597" y="151129"/>
                  </a:lnTo>
                  <a:lnTo>
                    <a:pt x="51636" y="153669"/>
                  </a:lnTo>
                  <a:lnTo>
                    <a:pt x="55965" y="153669"/>
                  </a:lnTo>
                  <a:lnTo>
                    <a:pt x="55965" y="166369"/>
                  </a:lnTo>
                  <a:lnTo>
                    <a:pt x="68333" y="166369"/>
                  </a:lnTo>
                  <a:lnTo>
                    <a:pt x="68333" y="154939"/>
                  </a:lnTo>
                  <a:lnTo>
                    <a:pt x="93069" y="154940"/>
                  </a:lnTo>
                  <a:lnTo>
                    <a:pt x="93069" y="151130"/>
                  </a:lnTo>
                  <a:close/>
                </a:path>
                <a:path w="260350" h="223520">
                  <a:moveTo>
                    <a:pt x="229118" y="149860"/>
                  </a:moveTo>
                  <a:lnTo>
                    <a:pt x="93069" y="149860"/>
                  </a:lnTo>
                  <a:lnTo>
                    <a:pt x="96780" y="152400"/>
                  </a:lnTo>
                  <a:lnTo>
                    <a:pt x="100799" y="153670"/>
                  </a:lnTo>
                  <a:lnTo>
                    <a:pt x="105437" y="154940"/>
                  </a:lnTo>
                  <a:lnTo>
                    <a:pt x="105437" y="166370"/>
                  </a:lnTo>
                  <a:lnTo>
                    <a:pt x="117805" y="166370"/>
                  </a:lnTo>
                  <a:lnTo>
                    <a:pt x="117805" y="157480"/>
                  </a:lnTo>
                  <a:lnTo>
                    <a:pt x="216750" y="157480"/>
                  </a:lnTo>
                  <a:lnTo>
                    <a:pt x="216750" y="154940"/>
                  </a:lnTo>
                  <a:lnTo>
                    <a:pt x="225408" y="152400"/>
                  </a:lnTo>
                  <a:lnTo>
                    <a:pt x="229118" y="149860"/>
                  </a:lnTo>
                  <a:close/>
                </a:path>
                <a:path w="260350" h="223520">
                  <a:moveTo>
                    <a:pt x="259950" y="149860"/>
                  </a:moveTo>
                  <a:lnTo>
                    <a:pt x="229118" y="149860"/>
                  </a:lnTo>
                  <a:lnTo>
                    <a:pt x="229118" y="160020"/>
                  </a:lnTo>
                  <a:lnTo>
                    <a:pt x="224480" y="163830"/>
                  </a:lnTo>
                  <a:lnTo>
                    <a:pt x="216750" y="166370"/>
                  </a:lnTo>
                  <a:lnTo>
                    <a:pt x="259729" y="166370"/>
                  </a:lnTo>
                  <a:lnTo>
                    <a:pt x="259817" y="153670"/>
                  </a:lnTo>
                  <a:lnTo>
                    <a:pt x="259906" y="151130"/>
                  </a:lnTo>
                  <a:lnTo>
                    <a:pt x="259950" y="149860"/>
                  </a:lnTo>
                  <a:close/>
                </a:path>
                <a:path w="260350" h="223520">
                  <a:moveTo>
                    <a:pt x="179646" y="161290"/>
                  </a:moveTo>
                  <a:lnTo>
                    <a:pt x="142541" y="161290"/>
                  </a:lnTo>
                  <a:lnTo>
                    <a:pt x="150581" y="162560"/>
                  </a:lnTo>
                  <a:lnTo>
                    <a:pt x="170988" y="162560"/>
                  </a:lnTo>
                  <a:lnTo>
                    <a:pt x="179646" y="161290"/>
                  </a:lnTo>
                  <a:close/>
                </a:path>
                <a:path w="260350" h="223520">
                  <a:moveTo>
                    <a:pt x="239167" y="105410"/>
                  </a:moveTo>
                  <a:lnTo>
                    <a:pt x="161094" y="105410"/>
                  </a:lnTo>
                  <a:lnTo>
                    <a:pt x="187637" y="107950"/>
                  </a:lnTo>
                  <a:lnTo>
                    <a:pt x="209252" y="111760"/>
                  </a:lnTo>
                  <a:lnTo>
                    <a:pt x="223794" y="116840"/>
                  </a:lnTo>
                  <a:lnTo>
                    <a:pt x="229118" y="124460"/>
                  </a:lnTo>
                  <a:lnTo>
                    <a:pt x="223794" y="132080"/>
                  </a:lnTo>
                  <a:lnTo>
                    <a:pt x="209252" y="138430"/>
                  </a:lnTo>
                  <a:lnTo>
                    <a:pt x="187637" y="142240"/>
                  </a:lnTo>
                  <a:lnTo>
                    <a:pt x="161094" y="143510"/>
                  </a:lnTo>
                  <a:lnTo>
                    <a:pt x="18861" y="143509"/>
                  </a:lnTo>
                  <a:lnTo>
                    <a:pt x="22571" y="146049"/>
                  </a:lnTo>
                  <a:lnTo>
                    <a:pt x="26591" y="147319"/>
                  </a:lnTo>
                  <a:lnTo>
                    <a:pt x="31229" y="148589"/>
                  </a:lnTo>
                  <a:lnTo>
                    <a:pt x="31229" y="160019"/>
                  </a:lnTo>
                  <a:lnTo>
                    <a:pt x="43597" y="160019"/>
                  </a:lnTo>
                  <a:lnTo>
                    <a:pt x="43597" y="151129"/>
                  </a:lnTo>
                  <a:lnTo>
                    <a:pt x="93069" y="151130"/>
                  </a:lnTo>
                  <a:lnTo>
                    <a:pt x="93069" y="149860"/>
                  </a:lnTo>
                  <a:lnTo>
                    <a:pt x="259950" y="149860"/>
                  </a:lnTo>
                  <a:lnTo>
                    <a:pt x="260038" y="147320"/>
                  </a:lnTo>
                  <a:lnTo>
                    <a:pt x="256019" y="139700"/>
                  </a:lnTo>
                  <a:lnTo>
                    <a:pt x="247670" y="133350"/>
                  </a:lnTo>
                  <a:lnTo>
                    <a:pt x="247670" y="124460"/>
                  </a:lnTo>
                  <a:lnTo>
                    <a:pt x="245535" y="114300"/>
                  </a:lnTo>
                  <a:lnTo>
                    <a:pt x="239167" y="105410"/>
                  </a:lnTo>
                  <a:close/>
                </a:path>
                <a:path w="260350" h="223520">
                  <a:moveTo>
                    <a:pt x="216750" y="157480"/>
                  </a:moveTo>
                  <a:lnTo>
                    <a:pt x="117805" y="157480"/>
                  </a:lnTo>
                  <a:lnTo>
                    <a:pt x="125845" y="160020"/>
                  </a:lnTo>
                  <a:lnTo>
                    <a:pt x="196033" y="160020"/>
                  </a:lnTo>
                  <a:lnTo>
                    <a:pt x="200362" y="158750"/>
                  </a:lnTo>
                  <a:lnTo>
                    <a:pt x="216750" y="158750"/>
                  </a:lnTo>
                  <a:lnTo>
                    <a:pt x="216750" y="157480"/>
                  </a:lnTo>
                  <a:close/>
                </a:path>
                <a:path w="260350" h="223520">
                  <a:moveTo>
                    <a:pt x="97506" y="118110"/>
                  </a:moveTo>
                  <a:lnTo>
                    <a:pt x="59985" y="118109"/>
                  </a:lnTo>
                  <a:lnTo>
                    <a:pt x="64004" y="119379"/>
                  </a:lnTo>
                  <a:lnTo>
                    <a:pt x="68333" y="119379"/>
                  </a:lnTo>
                  <a:lnTo>
                    <a:pt x="68333" y="132079"/>
                  </a:lnTo>
                  <a:lnTo>
                    <a:pt x="98393" y="132080"/>
                  </a:lnTo>
                  <a:lnTo>
                    <a:pt x="93069" y="124460"/>
                  </a:lnTo>
                  <a:lnTo>
                    <a:pt x="97506" y="118110"/>
                  </a:lnTo>
                  <a:close/>
                </a:path>
                <a:path w="260350" h="223520">
                  <a:moveTo>
                    <a:pt x="127346" y="109220"/>
                  </a:moveTo>
                  <a:lnTo>
                    <a:pt x="31229" y="109219"/>
                  </a:lnTo>
                  <a:lnTo>
                    <a:pt x="34939" y="111759"/>
                  </a:lnTo>
                  <a:lnTo>
                    <a:pt x="38959" y="113029"/>
                  </a:lnTo>
                  <a:lnTo>
                    <a:pt x="43597" y="114299"/>
                  </a:lnTo>
                  <a:lnTo>
                    <a:pt x="43597" y="125729"/>
                  </a:lnTo>
                  <a:lnTo>
                    <a:pt x="55965" y="125729"/>
                  </a:lnTo>
                  <a:lnTo>
                    <a:pt x="55965" y="118109"/>
                  </a:lnTo>
                  <a:lnTo>
                    <a:pt x="97506" y="118110"/>
                  </a:lnTo>
                  <a:lnTo>
                    <a:pt x="98393" y="116840"/>
                  </a:lnTo>
                  <a:lnTo>
                    <a:pt x="112935" y="111760"/>
                  </a:lnTo>
                  <a:lnTo>
                    <a:pt x="127346" y="109220"/>
                  </a:lnTo>
                  <a:close/>
                </a:path>
                <a:path w="260350" h="223520">
                  <a:moveTo>
                    <a:pt x="93069" y="74930"/>
                  </a:moveTo>
                  <a:lnTo>
                    <a:pt x="80701" y="74929"/>
                  </a:lnTo>
                  <a:lnTo>
                    <a:pt x="80701" y="87629"/>
                  </a:lnTo>
                  <a:lnTo>
                    <a:pt x="93069" y="87630"/>
                  </a:lnTo>
                  <a:lnTo>
                    <a:pt x="93069" y="74930"/>
                  </a:lnTo>
                  <a:close/>
                </a:path>
                <a:path w="260350" h="223520">
                  <a:moveTo>
                    <a:pt x="117805" y="73660"/>
                  </a:moveTo>
                  <a:lnTo>
                    <a:pt x="105437" y="73660"/>
                  </a:lnTo>
                  <a:lnTo>
                    <a:pt x="105437" y="86360"/>
                  </a:lnTo>
                  <a:lnTo>
                    <a:pt x="101418" y="87630"/>
                  </a:lnTo>
                  <a:lnTo>
                    <a:pt x="185521" y="87630"/>
                  </a:lnTo>
                  <a:lnTo>
                    <a:pt x="185521" y="85090"/>
                  </a:lnTo>
                  <a:lnTo>
                    <a:pt x="117805" y="85090"/>
                  </a:lnTo>
                  <a:lnTo>
                    <a:pt x="117805" y="73660"/>
                  </a:lnTo>
                  <a:close/>
                </a:path>
                <a:path w="260350" h="223520">
                  <a:moveTo>
                    <a:pt x="130173" y="71120"/>
                  </a:moveTo>
                  <a:lnTo>
                    <a:pt x="43597" y="71119"/>
                  </a:lnTo>
                  <a:lnTo>
                    <a:pt x="51636" y="72389"/>
                  </a:lnTo>
                  <a:lnTo>
                    <a:pt x="55965" y="73659"/>
                  </a:lnTo>
                  <a:lnTo>
                    <a:pt x="55965" y="85089"/>
                  </a:lnTo>
                  <a:lnTo>
                    <a:pt x="68333" y="85089"/>
                  </a:lnTo>
                  <a:lnTo>
                    <a:pt x="68333" y="73659"/>
                  </a:lnTo>
                  <a:lnTo>
                    <a:pt x="117805" y="73660"/>
                  </a:lnTo>
                  <a:lnTo>
                    <a:pt x="121825" y="72390"/>
                  </a:lnTo>
                  <a:lnTo>
                    <a:pt x="126154" y="72390"/>
                  </a:lnTo>
                  <a:lnTo>
                    <a:pt x="130173" y="71120"/>
                  </a:lnTo>
                  <a:close/>
                </a:path>
                <a:path w="260350" h="223520">
                  <a:moveTo>
                    <a:pt x="142541" y="71120"/>
                  </a:moveTo>
                  <a:lnTo>
                    <a:pt x="130173" y="71120"/>
                  </a:lnTo>
                  <a:lnTo>
                    <a:pt x="130173" y="82550"/>
                  </a:lnTo>
                  <a:lnTo>
                    <a:pt x="126463" y="83820"/>
                  </a:lnTo>
                  <a:lnTo>
                    <a:pt x="117805" y="85090"/>
                  </a:lnTo>
                  <a:lnTo>
                    <a:pt x="185521" y="85090"/>
                  </a:lnTo>
                  <a:lnTo>
                    <a:pt x="185521" y="78740"/>
                  </a:lnTo>
                  <a:lnTo>
                    <a:pt x="142541" y="78740"/>
                  </a:lnTo>
                  <a:lnTo>
                    <a:pt x="142541" y="71120"/>
                  </a:lnTo>
                  <a:close/>
                </a:path>
                <a:path w="260350" h="223520">
                  <a:moveTo>
                    <a:pt x="154910" y="63500"/>
                  </a:moveTo>
                  <a:lnTo>
                    <a:pt x="18861" y="63499"/>
                  </a:lnTo>
                  <a:lnTo>
                    <a:pt x="22571" y="64769"/>
                  </a:lnTo>
                  <a:lnTo>
                    <a:pt x="26591" y="66039"/>
                  </a:lnTo>
                  <a:lnTo>
                    <a:pt x="31229" y="67309"/>
                  </a:lnTo>
                  <a:lnTo>
                    <a:pt x="31229" y="78739"/>
                  </a:lnTo>
                  <a:lnTo>
                    <a:pt x="43597" y="78739"/>
                  </a:lnTo>
                  <a:lnTo>
                    <a:pt x="43597" y="71119"/>
                  </a:lnTo>
                  <a:lnTo>
                    <a:pt x="142541" y="71120"/>
                  </a:lnTo>
                  <a:lnTo>
                    <a:pt x="142541" y="68580"/>
                  </a:lnTo>
                  <a:lnTo>
                    <a:pt x="146870" y="67310"/>
                  </a:lnTo>
                  <a:lnTo>
                    <a:pt x="151199" y="64770"/>
                  </a:lnTo>
                  <a:lnTo>
                    <a:pt x="154910" y="63500"/>
                  </a:lnTo>
                  <a:close/>
                </a:path>
                <a:path w="260350" h="223520">
                  <a:moveTo>
                    <a:pt x="174822" y="63500"/>
                  </a:moveTo>
                  <a:lnTo>
                    <a:pt x="154910" y="63500"/>
                  </a:lnTo>
                  <a:lnTo>
                    <a:pt x="154910" y="72390"/>
                  </a:lnTo>
                  <a:lnTo>
                    <a:pt x="150272" y="76200"/>
                  </a:lnTo>
                  <a:lnTo>
                    <a:pt x="142541" y="78740"/>
                  </a:lnTo>
                  <a:lnTo>
                    <a:pt x="185521" y="78740"/>
                  </a:lnTo>
                  <a:lnTo>
                    <a:pt x="185521" y="74930"/>
                  </a:lnTo>
                  <a:lnTo>
                    <a:pt x="181501" y="68580"/>
                  </a:lnTo>
                  <a:lnTo>
                    <a:pt x="174822" y="63500"/>
                  </a:lnTo>
                  <a:close/>
                </a:path>
                <a:path w="260350" h="223520">
                  <a:moveTo>
                    <a:pt x="105437" y="73660"/>
                  </a:moveTo>
                  <a:lnTo>
                    <a:pt x="68333" y="73659"/>
                  </a:lnTo>
                  <a:lnTo>
                    <a:pt x="76372" y="74929"/>
                  </a:lnTo>
                  <a:lnTo>
                    <a:pt x="96780" y="74930"/>
                  </a:lnTo>
                  <a:lnTo>
                    <a:pt x="105437" y="73660"/>
                  </a:lnTo>
                  <a:close/>
                </a:path>
                <a:path w="260350" h="223520">
                  <a:moveTo>
                    <a:pt x="164649" y="19050"/>
                  </a:moveTo>
                  <a:lnTo>
                    <a:pt x="86885" y="19049"/>
                  </a:lnTo>
                  <a:lnTo>
                    <a:pt x="113428" y="20320"/>
                  </a:lnTo>
                  <a:lnTo>
                    <a:pt x="135043" y="24130"/>
                  </a:lnTo>
                  <a:lnTo>
                    <a:pt x="149585" y="30480"/>
                  </a:lnTo>
                  <a:lnTo>
                    <a:pt x="154910" y="38100"/>
                  </a:lnTo>
                  <a:lnTo>
                    <a:pt x="149585" y="44450"/>
                  </a:lnTo>
                  <a:lnTo>
                    <a:pt x="135043" y="50800"/>
                  </a:lnTo>
                  <a:lnTo>
                    <a:pt x="113428" y="54610"/>
                  </a:lnTo>
                  <a:lnTo>
                    <a:pt x="86885" y="55879"/>
                  </a:lnTo>
                  <a:lnTo>
                    <a:pt x="173152" y="55880"/>
                  </a:lnTo>
                  <a:lnTo>
                    <a:pt x="173152" y="38100"/>
                  </a:lnTo>
                  <a:lnTo>
                    <a:pt x="171017" y="27940"/>
                  </a:lnTo>
                  <a:lnTo>
                    <a:pt x="164649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91668" y="4951475"/>
              <a:ext cx="2313940" cy="614680"/>
            </a:xfrm>
            <a:custGeom>
              <a:avLst/>
              <a:gdLst/>
              <a:ahLst/>
              <a:cxnLst/>
              <a:rect l="l" t="t" r="r" b="b"/>
              <a:pathLst>
                <a:path w="2313940" h="614679">
                  <a:moveTo>
                    <a:pt x="2313813" y="0"/>
                  </a:moveTo>
                  <a:lnTo>
                    <a:pt x="0" y="0"/>
                  </a:lnTo>
                </a:path>
                <a:path w="2313940" h="614679">
                  <a:moveTo>
                    <a:pt x="2313813" y="614172"/>
                  </a:moveTo>
                  <a:lnTo>
                    <a:pt x="0" y="614172"/>
                  </a:lnTo>
                </a:path>
              </a:pathLst>
            </a:custGeom>
            <a:ln w="9525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343" y="4519835"/>
              <a:ext cx="223862" cy="248756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905052" y="5153659"/>
            <a:ext cx="12706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Not good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(20%)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91336" y="5768441"/>
            <a:ext cx="12579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100" spc="-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dirty="0" sz="1100" spc="-1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(19%)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94689" y="4538852"/>
            <a:ext cx="1584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suited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choices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(25%)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3364229" y="1386077"/>
            <a:ext cx="8437245" cy="4762500"/>
          </a:xfrm>
          <a:custGeom>
            <a:avLst/>
            <a:gdLst/>
            <a:ahLst/>
            <a:cxnLst/>
            <a:rect l="l" t="t" r="r" b="b"/>
            <a:pathLst>
              <a:path w="8437245" h="4762500">
                <a:moveTo>
                  <a:pt x="0" y="4762500"/>
                </a:moveTo>
                <a:lnTo>
                  <a:pt x="8436864" y="4762500"/>
                </a:lnTo>
                <a:lnTo>
                  <a:pt x="8436864" y="0"/>
                </a:lnTo>
                <a:lnTo>
                  <a:pt x="0" y="0"/>
                </a:lnTo>
                <a:lnTo>
                  <a:pt x="0" y="4762500"/>
                </a:lnTo>
                <a:close/>
              </a:path>
            </a:pathLst>
          </a:custGeom>
          <a:ln w="19050">
            <a:solidFill>
              <a:srgbClr val="0317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10342244" y="1126997"/>
            <a:ext cx="14706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CC0000"/>
                </a:solidFill>
                <a:latin typeface="Calibri"/>
                <a:cs typeface="Calibri"/>
              </a:rPr>
              <a:t>Directional:</a:t>
            </a:r>
            <a:r>
              <a:rPr dirty="0" sz="1100" spc="-35" b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CC0000"/>
                </a:solidFill>
                <a:latin typeface="Calibri"/>
                <a:cs typeface="Calibri"/>
              </a:rPr>
              <a:t>low</a:t>
            </a:r>
            <a:r>
              <a:rPr dirty="0" sz="1100" spc="-25" i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CC0000"/>
                </a:solidFill>
                <a:latin typeface="Calibri"/>
                <a:cs typeface="Calibri"/>
              </a:rPr>
              <a:t>base</a:t>
            </a:r>
            <a:r>
              <a:rPr dirty="0" sz="1100" spc="-35" i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CC0000"/>
                </a:solidFill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4438" y="407328"/>
              <a:ext cx="75810" cy="758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0603" y="250206"/>
              <a:ext cx="151620" cy="232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595702" y="217698"/>
              <a:ext cx="303530" cy="227965"/>
            </a:xfrm>
            <a:custGeom>
              <a:avLst/>
              <a:gdLst/>
              <a:ahLst/>
              <a:cxnLst/>
              <a:rect l="l" t="t" r="r" b="b"/>
              <a:pathLst>
                <a:path w="303529" h="227965">
                  <a:moveTo>
                    <a:pt x="303240" y="0"/>
                  </a:moveTo>
                  <a:lnTo>
                    <a:pt x="0" y="0"/>
                  </a:lnTo>
                  <a:lnTo>
                    <a:pt x="0" y="227555"/>
                  </a:lnTo>
                  <a:lnTo>
                    <a:pt x="32490" y="227555"/>
                  </a:lnTo>
                  <a:lnTo>
                    <a:pt x="36746" y="206467"/>
                  </a:lnTo>
                  <a:lnTo>
                    <a:pt x="48351" y="189245"/>
                  </a:lnTo>
                  <a:lnTo>
                    <a:pt x="65563" y="177633"/>
                  </a:lnTo>
                  <a:lnTo>
                    <a:pt x="86640" y="173375"/>
                  </a:lnTo>
                  <a:lnTo>
                    <a:pt x="303240" y="173375"/>
                  </a:lnTo>
                  <a:lnTo>
                    <a:pt x="303240" y="147129"/>
                  </a:lnTo>
                  <a:lnTo>
                    <a:pt x="107055" y="147129"/>
                  </a:lnTo>
                  <a:lnTo>
                    <a:pt x="100778" y="140840"/>
                  </a:lnTo>
                  <a:lnTo>
                    <a:pt x="100787" y="135788"/>
                  </a:lnTo>
                  <a:lnTo>
                    <a:pt x="103905" y="132632"/>
                  </a:lnTo>
                  <a:lnTo>
                    <a:pt x="147965" y="91491"/>
                  </a:lnTo>
                  <a:lnTo>
                    <a:pt x="150009" y="89446"/>
                  </a:lnTo>
                  <a:lnTo>
                    <a:pt x="130795" y="89446"/>
                  </a:lnTo>
                  <a:lnTo>
                    <a:pt x="123615" y="86407"/>
                  </a:lnTo>
                  <a:lnTo>
                    <a:pt x="118931" y="80709"/>
                  </a:lnTo>
                  <a:lnTo>
                    <a:pt x="113183" y="74158"/>
                  </a:lnTo>
                  <a:lnTo>
                    <a:pt x="107686" y="67398"/>
                  </a:lnTo>
                  <a:lnTo>
                    <a:pt x="102446" y="60436"/>
                  </a:lnTo>
                  <a:lnTo>
                    <a:pt x="97470" y="53281"/>
                  </a:lnTo>
                  <a:lnTo>
                    <a:pt x="99830" y="50929"/>
                  </a:lnTo>
                  <a:lnTo>
                    <a:pt x="105489" y="50929"/>
                  </a:lnTo>
                  <a:lnTo>
                    <a:pt x="102646" y="48084"/>
                  </a:lnTo>
                  <a:lnTo>
                    <a:pt x="106436" y="44292"/>
                  </a:lnTo>
                  <a:lnTo>
                    <a:pt x="112095" y="44292"/>
                  </a:lnTo>
                  <a:lnTo>
                    <a:pt x="109270" y="41465"/>
                  </a:lnTo>
                  <a:lnTo>
                    <a:pt x="113060" y="37673"/>
                  </a:lnTo>
                  <a:lnTo>
                    <a:pt x="118687" y="37673"/>
                  </a:lnTo>
                  <a:lnTo>
                    <a:pt x="115881" y="34869"/>
                  </a:lnTo>
                  <a:lnTo>
                    <a:pt x="118232" y="32507"/>
                  </a:lnTo>
                  <a:lnTo>
                    <a:pt x="303240" y="32507"/>
                  </a:lnTo>
                  <a:lnTo>
                    <a:pt x="303240" y="0"/>
                  </a:lnTo>
                  <a:close/>
                </a:path>
                <a:path w="303529" h="227965">
                  <a:moveTo>
                    <a:pt x="303240" y="173375"/>
                  </a:moveTo>
                  <a:lnTo>
                    <a:pt x="86640" y="173375"/>
                  </a:lnTo>
                  <a:lnTo>
                    <a:pt x="107717" y="177633"/>
                  </a:lnTo>
                  <a:lnTo>
                    <a:pt x="124929" y="189245"/>
                  </a:lnTo>
                  <a:lnTo>
                    <a:pt x="136535" y="206467"/>
                  </a:lnTo>
                  <a:lnTo>
                    <a:pt x="140790" y="227555"/>
                  </a:lnTo>
                  <a:lnTo>
                    <a:pt x="303241" y="227555"/>
                  </a:lnTo>
                  <a:lnTo>
                    <a:pt x="303240" y="173375"/>
                  </a:lnTo>
                  <a:close/>
                </a:path>
                <a:path w="303529" h="227965">
                  <a:moveTo>
                    <a:pt x="155466" y="99930"/>
                  </a:moveTo>
                  <a:lnTo>
                    <a:pt x="154594" y="100855"/>
                  </a:lnTo>
                  <a:lnTo>
                    <a:pt x="115267" y="143992"/>
                  </a:lnTo>
                  <a:lnTo>
                    <a:pt x="112131" y="147129"/>
                  </a:lnTo>
                  <a:lnTo>
                    <a:pt x="200614" y="147129"/>
                  </a:lnTo>
                  <a:lnTo>
                    <a:pt x="197404" y="143992"/>
                  </a:lnTo>
                  <a:lnTo>
                    <a:pt x="165455" y="110075"/>
                  </a:lnTo>
                  <a:lnTo>
                    <a:pt x="167360" y="109610"/>
                  </a:lnTo>
                  <a:lnTo>
                    <a:pt x="169083" y="108599"/>
                  </a:lnTo>
                  <a:lnTo>
                    <a:pt x="170419" y="107163"/>
                  </a:lnTo>
                  <a:lnTo>
                    <a:pt x="173695" y="103483"/>
                  </a:lnTo>
                  <a:lnTo>
                    <a:pt x="162730" y="103483"/>
                  </a:lnTo>
                  <a:lnTo>
                    <a:pt x="157437" y="100855"/>
                  </a:lnTo>
                  <a:lnTo>
                    <a:pt x="155466" y="99930"/>
                  </a:lnTo>
                  <a:close/>
                </a:path>
                <a:path w="303529" h="227965">
                  <a:moveTo>
                    <a:pt x="303240" y="101343"/>
                  </a:moveTo>
                  <a:lnTo>
                    <a:pt x="175599" y="101343"/>
                  </a:lnTo>
                  <a:lnTo>
                    <a:pt x="208748" y="132632"/>
                  </a:lnTo>
                  <a:lnTo>
                    <a:pt x="211826" y="135788"/>
                  </a:lnTo>
                  <a:lnTo>
                    <a:pt x="211813" y="140840"/>
                  </a:lnTo>
                  <a:lnTo>
                    <a:pt x="208748" y="143992"/>
                  </a:lnTo>
                  <a:lnTo>
                    <a:pt x="205539" y="147129"/>
                  </a:lnTo>
                  <a:lnTo>
                    <a:pt x="303240" y="147129"/>
                  </a:lnTo>
                  <a:lnTo>
                    <a:pt x="303240" y="101343"/>
                  </a:lnTo>
                  <a:close/>
                </a:path>
                <a:path w="303529" h="227965">
                  <a:moveTo>
                    <a:pt x="303240" y="38797"/>
                  </a:moveTo>
                  <a:lnTo>
                    <a:pt x="204001" y="38797"/>
                  </a:lnTo>
                  <a:lnTo>
                    <a:pt x="206091" y="40887"/>
                  </a:lnTo>
                  <a:lnTo>
                    <a:pt x="206839" y="42253"/>
                  </a:lnTo>
                  <a:lnTo>
                    <a:pt x="164336" y="101754"/>
                  </a:lnTo>
                  <a:lnTo>
                    <a:pt x="162730" y="103483"/>
                  </a:lnTo>
                  <a:lnTo>
                    <a:pt x="173695" y="103483"/>
                  </a:lnTo>
                  <a:lnTo>
                    <a:pt x="175599" y="101343"/>
                  </a:lnTo>
                  <a:lnTo>
                    <a:pt x="303240" y="101343"/>
                  </a:lnTo>
                  <a:lnTo>
                    <a:pt x="303240" y="38797"/>
                  </a:lnTo>
                  <a:close/>
                </a:path>
                <a:path w="303529" h="227965">
                  <a:moveTo>
                    <a:pt x="303240" y="32507"/>
                  </a:moveTo>
                  <a:lnTo>
                    <a:pt x="118232" y="32507"/>
                  </a:lnTo>
                  <a:lnTo>
                    <a:pt x="125403" y="37453"/>
                  </a:lnTo>
                  <a:lnTo>
                    <a:pt x="132345" y="42710"/>
                  </a:lnTo>
                  <a:lnTo>
                    <a:pt x="139046" y="48270"/>
                  </a:lnTo>
                  <a:lnTo>
                    <a:pt x="145496" y="54125"/>
                  </a:lnTo>
                  <a:lnTo>
                    <a:pt x="151191" y="58812"/>
                  </a:lnTo>
                  <a:lnTo>
                    <a:pt x="154224" y="65995"/>
                  </a:lnTo>
                  <a:lnTo>
                    <a:pt x="153731" y="71982"/>
                  </a:lnTo>
                  <a:lnTo>
                    <a:pt x="153619" y="73350"/>
                  </a:lnTo>
                  <a:lnTo>
                    <a:pt x="153524" y="73842"/>
                  </a:lnTo>
                  <a:lnTo>
                    <a:pt x="153438" y="74524"/>
                  </a:lnTo>
                  <a:lnTo>
                    <a:pt x="142414" y="85568"/>
                  </a:lnTo>
                  <a:lnTo>
                    <a:pt x="138907" y="88836"/>
                  </a:lnTo>
                  <a:lnTo>
                    <a:pt x="138141" y="88836"/>
                  </a:lnTo>
                  <a:lnTo>
                    <a:pt x="130795" y="89446"/>
                  </a:lnTo>
                  <a:lnTo>
                    <a:pt x="150009" y="89446"/>
                  </a:lnTo>
                  <a:lnTo>
                    <a:pt x="198541" y="40887"/>
                  </a:lnTo>
                  <a:lnTo>
                    <a:pt x="200599" y="38797"/>
                  </a:lnTo>
                  <a:lnTo>
                    <a:pt x="303240" y="38797"/>
                  </a:lnTo>
                  <a:lnTo>
                    <a:pt x="303240" y="32507"/>
                  </a:lnTo>
                  <a:close/>
                </a:path>
                <a:path w="303529" h="227965">
                  <a:moveTo>
                    <a:pt x="105489" y="50929"/>
                  </a:moveTo>
                  <a:lnTo>
                    <a:pt x="99830" y="50929"/>
                  </a:lnTo>
                  <a:lnTo>
                    <a:pt x="127492" y="78605"/>
                  </a:lnTo>
                  <a:lnTo>
                    <a:pt x="128760" y="78605"/>
                  </a:lnTo>
                  <a:lnTo>
                    <a:pt x="130321" y="77048"/>
                  </a:lnTo>
                  <a:lnTo>
                    <a:pt x="130325" y="75779"/>
                  </a:lnTo>
                  <a:lnTo>
                    <a:pt x="105489" y="50929"/>
                  </a:lnTo>
                  <a:close/>
                </a:path>
                <a:path w="303529" h="227965">
                  <a:moveTo>
                    <a:pt x="112095" y="44292"/>
                  </a:moveTo>
                  <a:lnTo>
                    <a:pt x="106436" y="44292"/>
                  </a:lnTo>
                  <a:lnTo>
                    <a:pt x="134116" y="71982"/>
                  </a:lnTo>
                  <a:lnTo>
                    <a:pt x="135384" y="71982"/>
                  </a:lnTo>
                  <a:lnTo>
                    <a:pt x="136945" y="70420"/>
                  </a:lnTo>
                  <a:lnTo>
                    <a:pt x="136941" y="69151"/>
                  </a:lnTo>
                  <a:lnTo>
                    <a:pt x="112095" y="44292"/>
                  </a:lnTo>
                  <a:close/>
                </a:path>
                <a:path w="303529" h="227965">
                  <a:moveTo>
                    <a:pt x="118687" y="37673"/>
                  </a:moveTo>
                  <a:lnTo>
                    <a:pt x="113060" y="37673"/>
                  </a:lnTo>
                  <a:lnTo>
                    <a:pt x="140736" y="65363"/>
                  </a:lnTo>
                  <a:lnTo>
                    <a:pt x="142004" y="65363"/>
                  </a:lnTo>
                  <a:lnTo>
                    <a:pt x="143565" y="63796"/>
                  </a:lnTo>
                  <a:lnTo>
                    <a:pt x="143565" y="62528"/>
                  </a:lnTo>
                  <a:lnTo>
                    <a:pt x="118687" y="37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0" y="0"/>
            <a:ext cx="3096895" cy="6858000"/>
            <a:chOff x="0" y="0"/>
            <a:chExt cx="3096895" cy="6858000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3096895" cy="6858000"/>
            </a:xfrm>
            <a:custGeom>
              <a:avLst/>
              <a:gdLst/>
              <a:ahLst/>
              <a:cxnLst/>
              <a:rect l="l" t="t" r="r" b="b"/>
              <a:pathLst>
                <a:path w="3096895" h="6858000">
                  <a:moveTo>
                    <a:pt x="309676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96768" y="6858000"/>
                  </a:lnTo>
                  <a:lnTo>
                    <a:pt x="3096768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Woman in a tracksuit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095243" cy="2200529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Channel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&amp;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Brand: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/>
              <a:t>focus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purchase</a:t>
            </a:r>
            <a:r>
              <a:rPr dirty="0" spc="-55"/>
              <a:t> </a:t>
            </a:r>
            <a:r>
              <a:rPr dirty="0"/>
              <a:t>frequency</a:t>
            </a:r>
            <a:r>
              <a:rPr dirty="0" spc="-60"/>
              <a:t> </a:t>
            </a:r>
            <a:r>
              <a:rPr dirty="0"/>
              <a:t>due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 spc="-25"/>
              <a:t>WTP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352038" y="6345428"/>
            <a:ext cx="5633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1.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Ordered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overall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importance;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2.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Percentages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channel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format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(i.e.,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online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sales)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8663" y="2313558"/>
            <a:ext cx="1993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FFFFFF"/>
                </a:solidFill>
                <a:latin typeface="Calibri"/>
                <a:cs typeface="Calibri"/>
              </a:rPr>
              <a:t>Premium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 b="1" i="1">
                <a:solidFill>
                  <a:srgbClr val="FFFFFF"/>
                </a:solidFill>
                <a:latin typeface="Calibri"/>
                <a:cs typeface="Calibri"/>
              </a:rPr>
              <a:t>Trend-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seekers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5318" y="2736850"/>
            <a:ext cx="2326640" cy="1076960"/>
            <a:chOff x="385318" y="2736850"/>
            <a:chExt cx="2326640" cy="1076960"/>
          </a:xfrm>
        </p:grpSpPr>
        <p:sp>
          <p:nvSpPr>
            <p:cNvPr id="17" name="object 17"/>
            <p:cNvSpPr/>
            <p:nvPr/>
          </p:nvSpPr>
          <p:spPr>
            <a:xfrm>
              <a:off x="1144523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44523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1668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704088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704088" y="513588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1668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0" y="513588"/>
                  </a:moveTo>
                  <a:lnTo>
                    <a:pt x="704088" y="513588"/>
                  </a:lnTo>
                  <a:lnTo>
                    <a:pt x="704088" y="0"/>
                  </a:lnTo>
                  <a:lnTo>
                    <a:pt x="0" y="0"/>
                  </a:lnTo>
                  <a:lnTo>
                    <a:pt x="0" y="5135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43684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6614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61416" y="512063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43684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0" y="512063"/>
                  </a:moveTo>
                  <a:lnTo>
                    <a:pt x="661416" y="512063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62100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434339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4339" y="512063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62100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0" y="512063"/>
                  </a:moveTo>
                  <a:lnTo>
                    <a:pt x="434339" y="512063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77568" y="3296412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827532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827532" y="510539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77568" y="3296412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0" y="510539"/>
                  </a:moveTo>
                  <a:lnTo>
                    <a:pt x="827532" y="510539"/>
                  </a:lnTo>
                  <a:lnTo>
                    <a:pt x="827532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562100" y="3296412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2667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266700" y="51053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562100" y="3296412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0" y="510539"/>
                  </a:moveTo>
                  <a:lnTo>
                    <a:pt x="266700" y="510539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91668" y="3296412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458723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458723" y="510539"/>
                  </a:lnTo>
                  <a:lnTo>
                    <a:pt x="45872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91668" y="3296412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0" y="510539"/>
                  </a:moveTo>
                  <a:lnTo>
                    <a:pt x="458723" y="510539"/>
                  </a:lnTo>
                  <a:lnTo>
                    <a:pt x="458723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69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97636" y="3296412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615695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615695" y="510539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97636" y="3296412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0" y="510539"/>
                  </a:moveTo>
                  <a:lnTo>
                    <a:pt x="615695" y="510539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266" y="2914178"/>
              <a:ext cx="173591" cy="17245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78663" y="3965194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highlights: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1668" y="4213859"/>
            <a:ext cx="2313940" cy="0"/>
          </a:xfrm>
          <a:custGeom>
            <a:avLst/>
            <a:gdLst/>
            <a:ahLst/>
            <a:cxnLst/>
            <a:rect l="l" t="t" r="r" b="b"/>
            <a:pathLst>
              <a:path w="2313940" h="0">
                <a:moveTo>
                  <a:pt x="231381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78663" y="4365497"/>
            <a:ext cx="2254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Perceptions: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closely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aligned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brand,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tablestake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663" y="4887214"/>
            <a:ext cx="21120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Performance: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overperformance</a:t>
            </a:r>
            <a:r>
              <a:rPr dirty="0" sz="9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discount,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specialty,</a:t>
            </a:r>
            <a:r>
              <a:rPr dirty="0" sz="9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marketplace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retailers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8663" y="5409057"/>
            <a:ext cx="220472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behavior: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Overperformance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metrics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indicating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preference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toward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purchases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8663" y="5930900"/>
            <a:ext cx="20980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dirty="0" sz="9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considerations: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Higher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willingness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overspend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purchases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474333" y="1235963"/>
            <a:ext cx="5520690" cy="1732914"/>
            <a:chOff x="6474333" y="1235963"/>
            <a:chExt cx="5520690" cy="1732914"/>
          </a:xfrm>
        </p:grpSpPr>
        <p:sp>
          <p:nvSpPr>
            <p:cNvPr id="41" name="object 41"/>
            <p:cNvSpPr/>
            <p:nvPr/>
          </p:nvSpPr>
          <p:spPr>
            <a:xfrm>
              <a:off x="6483858" y="1309877"/>
              <a:ext cx="5501640" cy="1649095"/>
            </a:xfrm>
            <a:custGeom>
              <a:avLst/>
              <a:gdLst/>
              <a:ahLst/>
              <a:cxnLst/>
              <a:rect l="l" t="t" r="r" b="b"/>
              <a:pathLst>
                <a:path w="5501640" h="1649095">
                  <a:moveTo>
                    <a:pt x="0" y="1648968"/>
                  </a:moveTo>
                  <a:lnTo>
                    <a:pt x="5501640" y="1648968"/>
                  </a:lnTo>
                  <a:lnTo>
                    <a:pt x="5501640" y="0"/>
                  </a:lnTo>
                  <a:lnTo>
                    <a:pt x="0" y="0"/>
                  </a:lnTo>
                  <a:lnTo>
                    <a:pt x="0" y="1648968"/>
                  </a:lnTo>
                  <a:close/>
                </a:path>
              </a:pathLst>
            </a:custGeom>
            <a:ln w="1904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648700" y="1235963"/>
              <a:ext cx="1169035" cy="140335"/>
            </a:xfrm>
            <a:custGeom>
              <a:avLst/>
              <a:gdLst/>
              <a:ahLst/>
              <a:cxnLst/>
              <a:rect l="l" t="t" r="r" b="b"/>
              <a:pathLst>
                <a:path w="1169034" h="140334">
                  <a:moveTo>
                    <a:pt x="1168907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1168907" y="14020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3354704" y="1300352"/>
            <a:ext cx="2985135" cy="4669155"/>
            <a:chOff x="3354704" y="1300352"/>
            <a:chExt cx="2985135" cy="4669155"/>
          </a:xfrm>
        </p:grpSpPr>
        <p:sp>
          <p:nvSpPr>
            <p:cNvPr id="44" name="object 44"/>
            <p:cNvSpPr/>
            <p:nvPr/>
          </p:nvSpPr>
          <p:spPr>
            <a:xfrm>
              <a:off x="3364229" y="1309877"/>
              <a:ext cx="2966085" cy="4650105"/>
            </a:xfrm>
            <a:custGeom>
              <a:avLst/>
              <a:gdLst/>
              <a:ahLst/>
              <a:cxnLst/>
              <a:rect l="l" t="t" r="r" b="b"/>
              <a:pathLst>
                <a:path w="2966085" h="4650105">
                  <a:moveTo>
                    <a:pt x="0" y="4649724"/>
                  </a:moveTo>
                  <a:lnTo>
                    <a:pt x="2965704" y="4649724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84631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20445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84631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0445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84631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20445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84631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20445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846320" y="23827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204459" y="25199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6320" y="26570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84631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20445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846320" y="30685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84631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846320" y="320573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846320" y="348005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84631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20445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846320" y="37543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846320" y="389153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846320" y="40286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204459" y="416585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84631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20445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846320" y="44401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19118" y="457733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84631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20445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562600" y="457733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84631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20445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846320" y="4851654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619118" y="5125974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1227226" y="137159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846320" y="51259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562600" y="5125974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705281" y="137159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846320" y="526313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84631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20445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619118" y="5537517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84631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20445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19119" y="5537517"/>
              <a:ext cx="2649220" cy="274320"/>
            </a:xfrm>
            <a:custGeom>
              <a:avLst/>
              <a:gdLst/>
              <a:ahLst/>
              <a:cxnLst/>
              <a:rect l="l" t="t" r="r" b="b"/>
              <a:pathLst>
                <a:path w="2649220" h="274320">
                  <a:moveTo>
                    <a:pt x="1227226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1227226" y="274320"/>
                  </a:lnTo>
                  <a:lnTo>
                    <a:pt x="1227226" y="137160"/>
                  </a:lnTo>
                  <a:close/>
                </a:path>
                <a:path w="2649220" h="274320">
                  <a:moveTo>
                    <a:pt x="2648762" y="0"/>
                  </a:moveTo>
                  <a:lnTo>
                    <a:pt x="1943481" y="0"/>
                  </a:lnTo>
                  <a:lnTo>
                    <a:pt x="1943481" y="137160"/>
                  </a:lnTo>
                  <a:lnTo>
                    <a:pt x="2648762" y="137160"/>
                  </a:lnTo>
                  <a:lnTo>
                    <a:pt x="2648762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846320" y="5674677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5562600" y="5674677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612768" y="1701800"/>
              <a:ext cx="2661920" cy="4116704"/>
            </a:xfrm>
            <a:custGeom>
              <a:avLst/>
              <a:gdLst/>
              <a:ahLst/>
              <a:cxnLst/>
              <a:rect l="l" t="t" r="r" b="b"/>
              <a:pathLst>
                <a:path w="2661920" h="4116704">
                  <a:moveTo>
                    <a:pt x="1233551" y="0"/>
                  </a:moveTo>
                  <a:lnTo>
                    <a:pt x="1233551" y="4116387"/>
                  </a:lnTo>
                </a:path>
                <a:path w="2661920" h="4116704">
                  <a:moveTo>
                    <a:pt x="1591690" y="0"/>
                  </a:moveTo>
                  <a:lnTo>
                    <a:pt x="1591690" y="4116387"/>
                  </a:lnTo>
                </a:path>
                <a:path w="2661920" h="4116704">
                  <a:moveTo>
                    <a:pt x="1949830" y="0"/>
                  </a:moveTo>
                  <a:lnTo>
                    <a:pt x="1949830" y="4116387"/>
                  </a:lnTo>
                </a:path>
                <a:path w="2661920" h="4116704">
                  <a:moveTo>
                    <a:pt x="0" y="132207"/>
                  </a:moveTo>
                  <a:lnTo>
                    <a:pt x="2661411" y="132207"/>
                  </a:lnTo>
                </a:path>
                <a:path w="2661920" h="4116704">
                  <a:moveTo>
                    <a:pt x="0" y="269366"/>
                  </a:moveTo>
                  <a:lnTo>
                    <a:pt x="2661411" y="269366"/>
                  </a:lnTo>
                </a:path>
                <a:path w="2661920" h="4116704">
                  <a:moveTo>
                    <a:pt x="0" y="406526"/>
                  </a:moveTo>
                  <a:lnTo>
                    <a:pt x="2661411" y="406526"/>
                  </a:lnTo>
                </a:path>
                <a:path w="2661920" h="4116704">
                  <a:moveTo>
                    <a:pt x="0" y="543687"/>
                  </a:moveTo>
                  <a:lnTo>
                    <a:pt x="2661411" y="543687"/>
                  </a:lnTo>
                </a:path>
                <a:path w="2661920" h="4116704">
                  <a:moveTo>
                    <a:pt x="0" y="680974"/>
                  </a:moveTo>
                  <a:lnTo>
                    <a:pt x="2661411" y="680974"/>
                  </a:lnTo>
                </a:path>
                <a:path w="2661920" h="4116704">
                  <a:moveTo>
                    <a:pt x="0" y="818134"/>
                  </a:moveTo>
                  <a:lnTo>
                    <a:pt x="2661411" y="818134"/>
                  </a:lnTo>
                </a:path>
                <a:path w="2661920" h="4116704">
                  <a:moveTo>
                    <a:pt x="0" y="955294"/>
                  </a:moveTo>
                  <a:lnTo>
                    <a:pt x="2661411" y="955294"/>
                  </a:lnTo>
                </a:path>
                <a:path w="2661920" h="4116704">
                  <a:moveTo>
                    <a:pt x="0" y="1092453"/>
                  </a:moveTo>
                  <a:lnTo>
                    <a:pt x="2661411" y="1092453"/>
                  </a:lnTo>
                </a:path>
                <a:path w="2661920" h="4116704">
                  <a:moveTo>
                    <a:pt x="0" y="1229614"/>
                  </a:moveTo>
                  <a:lnTo>
                    <a:pt x="2661411" y="1229614"/>
                  </a:lnTo>
                </a:path>
                <a:path w="2661920" h="4116704">
                  <a:moveTo>
                    <a:pt x="0" y="1366774"/>
                  </a:moveTo>
                  <a:lnTo>
                    <a:pt x="2661411" y="1366774"/>
                  </a:lnTo>
                </a:path>
                <a:path w="2661920" h="4116704">
                  <a:moveTo>
                    <a:pt x="0" y="1503934"/>
                  </a:moveTo>
                  <a:lnTo>
                    <a:pt x="2661411" y="1503934"/>
                  </a:lnTo>
                </a:path>
                <a:path w="2661920" h="4116704">
                  <a:moveTo>
                    <a:pt x="0" y="1641094"/>
                  </a:moveTo>
                  <a:lnTo>
                    <a:pt x="2661411" y="1641094"/>
                  </a:lnTo>
                </a:path>
                <a:path w="2661920" h="4116704">
                  <a:moveTo>
                    <a:pt x="0" y="1778253"/>
                  </a:moveTo>
                  <a:lnTo>
                    <a:pt x="2661411" y="1778253"/>
                  </a:lnTo>
                </a:path>
                <a:path w="2661920" h="4116704">
                  <a:moveTo>
                    <a:pt x="0" y="1915414"/>
                  </a:moveTo>
                  <a:lnTo>
                    <a:pt x="2661411" y="1915414"/>
                  </a:lnTo>
                </a:path>
                <a:path w="2661920" h="4116704">
                  <a:moveTo>
                    <a:pt x="0" y="2052574"/>
                  </a:moveTo>
                  <a:lnTo>
                    <a:pt x="2661411" y="2052574"/>
                  </a:lnTo>
                </a:path>
                <a:path w="2661920" h="4116704">
                  <a:moveTo>
                    <a:pt x="0" y="2189734"/>
                  </a:moveTo>
                  <a:lnTo>
                    <a:pt x="2661411" y="2189734"/>
                  </a:lnTo>
                </a:path>
                <a:path w="2661920" h="4116704">
                  <a:moveTo>
                    <a:pt x="0" y="2326894"/>
                  </a:moveTo>
                  <a:lnTo>
                    <a:pt x="2661411" y="2326894"/>
                  </a:lnTo>
                </a:path>
                <a:path w="2661920" h="4116704">
                  <a:moveTo>
                    <a:pt x="0" y="2464054"/>
                  </a:moveTo>
                  <a:lnTo>
                    <a:pt x="2661411" y="2464054"/>
                  </a:lnTo>
                </a:path>
                <a:path w="2661920" h="4116704">
                  <a:moveTo>
                    <a:pt x="0" y="2601214"/>
                  </a:moveTo>
                  <a:lnTo>
                    <a:pt x="2661411" y="2601214"/>
                  </a:lnTo>
                </a:path>
                <a:path w="2661920" h="4116704">
                  <a:moveTo>
                    <a:pt x="0" y="2738374"/>
                  </a:moveTo>
                  <a:lnTo>
                    <a:pt x="2661411" y="2738374"/>
                  </a:lnTo>
                </a:path>
                <a:path w="2661920" h="4116704">
                  <a:moveTo>
                    <a:pt x="0" y="2875534"/>
                  </a:moveTo>
                  <a:lnTo>
                    <a:pt x="2661411" y="2875534"/>
                  </a:lnTo>
                </a:path>
                <a:path w="2661920" h="4116704">
                  <a:moveTo>
                    <a:pt x="0" y="3012694"/>
                  </a:moveTo>
                  <a:lnTo>
                    <a:pt x="2661411" y="3012694"/>
                  </a:lnTo>
                </a:path>
                <a:path w="2661920" h="4116704">
                  <a:moveTo>
                    <a:pt x="0" y="3149854"/>
                  </a:moveTo>
                  <a:lnTo>
                    <a:pt x="2661411" y="3149854"/>
                  </a:lnTo>
                </a:path>
                <a:path w="2661920" h="4116704">
                  <a:moveTo>
                    <a:pt x="0" y="3287014"/>
                  </a:moveTo>
                  <a:lnTo>
                    <a:pt x="2661411" y="3287014"/>
                  </a:lnTo>
                </a:path>
                <a:path w="2661920" h="4116704">
                  <a:moveTo>
                    <a:pt x="0" y="3424174"/>
                  </a:moveTo>
                  <a:lnTo>
                    <a:pt x="2661411" y="3424174"/>
                  </a:lnTo>
                </a:path>
                <a:path w="2661920" h="4116704">
                  <a:moveTo>
                    <a:pt x="0" y="3561334"/>
                  </a:moveTo>
                  <a:lnTo>
                    <a:pt x="2661411" y="3561334"/>
                  </a:lnTo>
                </a:path>
                <a:path w="2661920" h="4116704">
                  <a:moveTo>
                    <a:pt x="0" y="3698494"/>
                  </a:moveTo>
                  <a:lnTo>
                    <a:pt x="2661411" y="3698494"/>
                  </a:lnTo>
                </a:path>
                <a:path w="2661920" h="4116704">
                  <a:moveTo>
                    <a:pt x="0" y="3835654"/>
                  </a:moveTo>
                  <a:lnTo>
                    <a:pt x="2661411" y="3835654"/>
                  </a:lnTo>
                </a:path>
                <a:path w="2661920" h="4116704">
                  <a:moveTo>
                    <a:pt x="0" y="3972877"/>
                  </a:moveTo>
                  <a:lnTo>
                    <a:pt x="2661411" y="3972877"/>
                  </a:lnTo>
                </a:path>
                <a:path w="2661920" h="4116704">
                  <a:moveTo>
                    <a:pt x="6350" y="0"/>
                  </a:moveTo>
                  <a:lnTo>
                    <a:pt x="6350" y="4116387"/>
                  </a:lnTo>
                </a:path>
                <a:path w="2661920" h="4116704">
                  <a:moveTo>
                    <a:pt x="2655061" y="0"/>
                  </a:moveTo>
                  <a:lnTo>
                    <a:pt x="2655061" y="4116387"/>
                  </a:lnTo>
                </a:path>
                <a:path w="2661920" h="4116704">
                  <a:moveTo>
                    <a:pt x="0" y="6350"/>
                  </a:moveTo>
                  <a:lnTo>
                    <a:pt x="2661411" y="6350"/>
                  </a:lnTo>
                </a:path>
                <a:path w="2661920" h="4116704">
                  <a:moveTo>
                    <a:pt x="0" y="4110037"/>
                  </a:moveTo>
                  <a:lnTo>
                    <a:pt x="2661411" y="41100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1" name="object 9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00543" y="1874520"/>
            <a:ext cx="135635" cy="164591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8035" y="1905000"/>
            <a:ext cx="297179" cy="103632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48139" y="1894332"/>
            <a:ext cx="193501" cy="124967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58500" y="1886711"/>
            <a:ext cx="283464" cy="14020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34318" y="1931077"/>
            <a:ext cx="402243" cy="51477"/>
          </a:xfrm>
          <a:prstGeom prst="rect">
            <a:avLst/>
          </a:prstGeom>
        </p:spPr>
      </p:pic>
      <p:grpSp>
        <p:nvGrpSpPr>
          <p:cNvPr id="96" name="object 96"/>
          <p:cNvGrpSpPr/>
          <p:nvPr/>
        </p:nvGrpSpPr>
        <p:grpSpPr>
          <a:xfrm>
            <a:off x="9700259" y="1894332"/>
            <a:ext cx="243840" cy="123825"/>
            <a:chOff x="9700259" y="1894332"/>
            <a:chExt cx="243840" cy="123825"/>
          </a:xfrm>
        </p:grpSpPr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00259" y="1894332"/>
              <a:ext cx="117346" cy="12344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40467" y="1894332"/>
              <a:ext cx="103630" cy="123444"/>
            </a:xfrm>
            <a:prstGeom prst="rect">
              <a:avLst/>
            </a:prstGeom>
          </p:spPr>
        </p:pic>
      </p:grpSp>
      <p:pic>
        <p:nvPicPr>
          <p:cNvPr id="99" name="object 99" descr="Lidl - Wikipedia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38816" y="1883664"/>
            <a:ext cx="144779" cy="144779"/>
          </a:xfrm>
          <a:prstGeom prst="rect">
            <a:avLst/>
          </a:prstGeom>
        </p:spPr>
      </p:pic>
      <p:pic>
        <p:nvPicPr>
          <p:cNvPr id="100" name="object 100" descr="Koro_logo_Vektor | KoRo Handels GmbH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13474" y="1894322"/>
            <a:ext cx="139680" cy="127903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11297411" y="1688592"/>
            <a:ext cx="582295" cy="1135380"/>
            <a:chOff x="11297411" y="1688592"/>
            <a:chExt cx="582295" cy="1135380"/>
          </a:xfrm>
        </p:grpSpPr>
        <p:sp>
          <p:nvSpPr>
            <p:cNvPr id="102" name="object 102"/>
            <p:cNvSpPr/>
            <p:nvPr/>
          </p:nvSpPr>
          <p:spPr>
            <a:xfrm>
              <a:off x="11297411" y="1688592"/>
              <a:ext cx="582295" cy="1135380"/>
            </a:xfrm>
            <a:custGeom>
              <a:avLst/>
              <a:gdLst/>
              <a:ahLst/>
              <a:cxnLst/>
              <a:rect l="l" t="t" r="r" b="b"/>
              <a:pathLst>
                <a:path w="582295" h="1135380">
                  <a:moveTo>
                    <a:pt x="582168" y="0"/>
                  </a:moveTo>
                  <a:lnTo>
                    <a:pt x="0" y="0"/>
                  </a:lnTo>
                  <a:lnTo>
                    <a:pt x="0" y="1135379"/>
                  </a:lnTo>
                  <a:lnTo>
                    <a:pt x="582168" y="1135379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FFCC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The Amazon Logo: Inspiring Insights for Business Owners and Marketers -  crowdspring Blog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43715" y="1912620"/>
              <a:ext cx="289559" cy="88391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3606800" y="1699386"/>
            <a:ext cx="7620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Functional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attribute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901946" y="1699386"/>
            <a:ext cx="2470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Brand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221985" y="1699386"/>
            <a:ext cx="324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613272" y="1699386"/>
            <a:ext cx="606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Scores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606800" y="1807311"/>
            <a:ext cx="82676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Tastes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Healthy</a:t>
            </a:r>
            <a:r>
              <a:rPr dirty="0" sz="800" spc="-4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ingredients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quality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606800" y="2233422"/>
            <a:ext cx="9740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All-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natural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organic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606800" y="2370582"/>
            <a:ext cx="10693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for</a:t>
            </a:r>
            <a:r>
              <a:rPr dirty="0" sz="800" spc="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everyday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eating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606800" y="2507742"/>
            <a:ext cx="8985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No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artificial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additives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606800" y="2630271"/>
            <a:ext cx="7404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Great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value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Affordably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priced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Premium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606800" y="3056077"/>
            <a:ext cx="6019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606800" y="3193795"/>
            <a:ext cx="6343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protein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606800" y="3330955"/>
            <a:ext cx="10210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Provide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energy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boost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606800" y="3468115"/>
            <a:ext cx="4978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Sustainable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606800" y="3605276"/>
            <a:ext cx="6540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Locally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sourced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06800" y="3742435"/>
            <a:ext cx="11823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Fair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ethnical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production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06800" y="3879596"/>
            <a:ext cx="6629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Vegan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kind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606800" y="4016755"/>
            <a:ext cx="1125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Many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products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flavors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606800" y="4153915"/>
            <a:ext cx="657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Low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calories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606800" y="4291076"/>
            <a:ext cx="11017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Versatility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cook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606800" y="4428490"/>
            <a:ext cx="911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Available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everywhere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06800" y="4565650"/>
            <a:ext cx="8578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Unique</a:t>
            </a:r>
            <a:r>
              <a:rPr dirty="0" sz="800" spc="-2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4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original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06800" y="4702809"/>
            <a:ext cx="8026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Easily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recognizable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606800" y="4839970"/>
            <a:ext cx="8242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Socially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responsible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06800" y="4977129"/>
            <a:ext cx="10604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Transparent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supply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606800" y="5114290"/>
            <a:ext cx="3448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606800" y="5251450"/>
            <a:ext cx="6870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Popular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606800" y="5388609"/>
            <a:ext cx="10744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Availability</a:t>
            </a:r>
            <a:r>
              <a:rPr dirty="0" sz="800" spc="6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mass-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prod.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606800" y="5525820"/>
            <a:ext cx="50863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Gluten-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free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606800" y="5662676"/>
            <a:ext cx="74803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Modern</a:t>
            </a:r>
            <a:r>
              <a:rPr dirty="0" sz="800" spc="-4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5" b="1" i="1">
                <a:solidFill>
                  <a:srgbClr val="4D4D4D"/>
                </a:solidFill>
                <a:latin typeface="Calibri"/>
                <a:cs typeface="Calibri"/>
              </a:rPr>
              <a:t>new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3463734" y="1443037"/>
            <a:ext cx="2099310" cy="4373880"/>
            <a:chOff x="3463734" y="1443037"/>
            <a:chExt cx="2099310" cy="4373880"/>
          </a:xfrm>
        </p:grpSpPr>
        <p:pic>
          <p:nvPicPr>
            <p:cNvPr id="134" name="object 134" descr="Koro_logo_Vektor | KoRo Handels GmbH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4121" y="1469042"/>
              <a:ext cx="198054" cy="181758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4849367" y="1447800"/>
              <a:ext cx="708660" cy="4364355"/>
            </a:xfrm>
            <a:custGeom>
              <a:avLst/>
              <a:gdLst/>
              <a:ahLst/>
              <a:cxnLst/>
              <a:rect l="l" t="t" r="r" b="b"/>
              <a:pathLst>
                <a:path w="708660" h="4364355">
                  <a:moveTo>
                    <a:pt x="0" y="0"/>
                  </a:moveTo>
                  <a:lnTo>
                    <a:pt x="0" y="4364037"/>
                  </a:lnTo>
                </a:path>
                <a:path w="708660" h="4364355">
                  <a:moveTo>
                    <a:pt x="708660" y="0"/>
                  </a:moveTo>
                  <a:lnTo>
                    <a:pt x="708660" y="4364037"/>
                  </a:lnTo>
                </a:path>
              </a:pathLst>
            </a:custGeom>
            <a:ln w="9525">
              <a:solidFill>
                <a:srgbClr val="30333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3471671" y="1816608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0"/>
                  </a:moveTo>
                  <a:lnTo>
                    <a:pt x="0" y="60960"/>
                  </a:lnTo>
                </a:path>
              </a:pathLst>
            </a:custGeom>
            <a:ln w="15875">
              <a:solidFill>
                <a:srgbClr val="2387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/>
          <p:cNvSpPr/>
          <p:nvPr/>
        </p:nvSpPr>
        <p:spPr>
          <a:xfrm>
            <a:off x="3471671" y="2438400"/>
            <a:ext cx="0" cy="62865"/>
          </a:xfrm>
          <a:custGeom>
            <a:avLst/>
            <a:gdLst/>
            <a:ahLst/>
            <a:cxnLst/>
            <a:rect l="l" t="t" r="r" b="b"/>
            <a:pathLst>
              <a:path w="0" h="62864">
                <a:moveTo>
                  <a:pt x="0" y="0"/>
                </a:moveTo>
                <a:lnTo>
                  <a:pt x="0" y="62357"/>
                </a:lnTo>
              </a:path>
            </a:pathLst>
          </a:custGeom>
          <a:ln w="15875">
            <a:solidFill>
              <a:srgbClr val="2387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3415665" y="1903936"/>
            <a:ext cx="127635" cy="509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2387D7"/>
                </a:solidFill>
                <a:latin typeface="Calibri"/>
                <a:cs typeface="Calibri"/>
              </a:rPr>
              <a:t>Tablestakes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4492752" y="1235963"/>
            <a:ext cx="707390" cy="140335"/>
          </a:xfrm>
          <a:custGeom>
            <a:avLst/>
            <a:gdLst/>
            <a:ahLst/>
            <a:cxnLst/>
            <a:rect l="l" t="t" r="r" b="b"/>
            <a:pathLst>
              <a:path w="707389" h="140334">
                <a:moveTo>
                  <a:pt x="707136" y="0"/>
                </a:moveTo>
                <a:lnTo>
                  <a:pt x="0" y="0"/>
                </a:lnTo>
                <a:lnTo>
                  <a:pt x="0" y="140208"/>
                </a:lnTo>
                <a:lnTo>
                  <a:pt x="707136" y="140208"/>
                </a:lnTo>
                <a:lnTo>
                  <a:pt x="7071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 txBox="1"/>
          <p:nvPr/>
        </p:nvSpPr>
        <p:spPr>
          <a:xfrm>
            <a:off x="4509770" y="1217803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1</a:t>
            </a:r>
            <a:endParaRPr baseline="27777" sz="900">
              <a:latin typeface="Calibri"/>
              <a:cs typeface="Calibr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8662669" y="1217803"/>
            <a:ext cx="1144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2</a:t>
            </a:r>
            <a:endParaRPr baseline="27777" sz="900">
              <a:latin typeface="Calibri"/>
              <a:cs typeface="Calibr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7133843" y="1478280"/>
            <a:ext cx="4197350" cy="123825"/>
            <a:chOff x="7133843" y="1478280"/>
            <a:chExt cx="4197350" cy="123825"/>
          </a:xfrm>
        </p:grpSpPr>
        <p:sp>
          <p:nvSpPr>
            <p:cNvPr id="143" name="object 143"/>
            <p:cNvSpPr/>
            <p:nvPr/>
          </p:nvSpPr>
          <p:spPr>
            <a:xfrm>
              <a:off x="7133843" y="1501140"/>
              <a:ext cx="4197350" cy="76200"/>
            </a:xfrm>
            <a:custGeom>
              <a:avLst/>
              <a:gdLst/>
              <a:ahLst/>
              <a:cxnLst/>
              <a:rect l="l" t="t" r="r" b="b"/>
              <a:pathLst>
                <a:path w="41973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0"/>
                  </a:lnTo>
                  <a:lnTo>
                    <a:pt x="38100" y="46100"/>
                  </a:lnTo>
                  <a:lnTo>
                    <a:pt x="38100" y="30225"/>
                  </a:lnTo>
                  <a:lnTo>
                    <a:pt x="74615" y="30225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197350" h="76200">
                  <a:moveTo>
                    <a:pt x="4159250" y="0"/>
                  </a:moveTo>
                  <a:lnTo>
                    <a:pt x="4144402" y="2988"/>
                  </a:lnTo>
                  <a:lnTo>
                    <a:pt x="4132294" y="11144"/>
                  </a:lnTo>
                  <a:lnTo>
                    <a:pt x="4124138" y="23252"/>
                  </a:lnTo>
                  <a:lnTo>
                    <a:pt x="4121150" y="38100"/>
                  </a:lnTo>
                  <a:lnTo>
                    <a:pt x="4124138" y="52947"/>
                  </a:lnTo>
                  <a:lnTo>
                    <a:pt x="4132294" y="65055"/>
                  </a:lnTo>
                  <a:lnTo>
                    <a:pt x="4144402" y="73211"/>
                  </a:lnTo>
                  <a:lnTo>
                    <a:pt x="4159250" y="76200"/>
                  </a:lnTo>
                  <a:lnTo>
                    <a:pt x="4174097" y="73211"/>
                  </a:lnTo>
                  <a:lnTo>
                    <a:pt x="4186205" y="65055"/>
                  </a:lnTo>
                  <a:lnTo>
                    <a:pt x="4194361" y="52947"/>
                  </a:lnTo>
                  <a:lnTo>
                    <a:pt x="4195739" y="46100"/>
                  </a:lnTo>
                  <a:lnTo>
                    <a:pt x="4159250" y="46100"/>
                  </a:lnTo>
                  <a:lnTo>
                    <a:pt x="4159250" y="30225"/>
                  </a:lnTo>
                  <a:lnTo>
                    <a:pt x="4195765" y="30225"/>
                  </a:lnTo>
                  <a:lnTo>
                    <a:pt x="4194361" y="23252"/>
                  </a:lnTo>
                  <a:lnTo>
                    <a:pt x="4186205" y="11144"/>
                  </a:lnTo>
                  <a:lnTo>
                    <a:pt x="4174097" y="2988"/>
                  </a:lnTo>
                  <a:lnTo>
                    <a:pt x="4159250" y="0"/>
                  </a:lnTo>
                  <a:close/>
                </a:path>
                <a:path w="4197350" h="76200">
                  <a:moveTo>
                    <a:pt x="74615" y="30225"/>
                  </a:moveTo>
                  <a:lnTo>
                    <a:pt x="38100" y="30225"/>
                  </a:lnTo>
                  <a:lnTo>
                    <a:pt x="38100" y="46100"/>
                  </a:lnTo>
                  <a:lnTo>
                    <a:pt x="74589" y="46100"/>
                  </a:lnTo>
                  <a:lnTo>
                    <a:pt x="76200" y="38100"/>
                  </a:lnTo>
                  <a:lnTo>
                    <a:pt x="74615" y="30225"/>
                  </a:lnTo>
                  <a:close/>
                </a:path>
                <a:path w="4197350" h="76200">
                  <a:moveTo>
                    <a:pt x="4122734" y="30225"/>
                  </a:moveTo>
                  <a:lnTo>
                    <a:pt x="74615" y="30225"/>
                  </a:lnTo>
                  <a:lnTo>
                    <a:pt x="76200" y="38100"/>
                  </a:lnTo>
                  <a:lnTo>
                    <a:pt x="74589" y="46100"/>
                  </a:lnTo>
                  <a:lnTo>
                    <a:pt x="4122760" y="46100"/>
                  </a:lnTo>
                  <a:lnTo>
                    <a:pt x="4121150" y="38100"/>
                  </a:lnTo>
                  <a:lnTo>
                    <a:pt x="4122734" y="30225"/>
                  </a:lnTo>
                  <a:close/>
                </a:path>
                <a:path w="4197350" h="76200">
                  <a:moveTo>
                    <a:pt x="4195765" y="30225"/>
                  </a:moveTo>
                  <a:lnTo>
                    <a:pt x="4159250" y="30225"/>
                  </a:lnTo>
                  <a:lnTo>
                    <a:pt x="4159250" y="46100"/>
                  </a:lnTo>
                  <a:lnTo>
                    <a:pt x="4195739" y="46100"/>
                  </a:lnTo>
                  <a:lnTo>
                    <a:pt x="4197350" y="38100"/>
                  </a:lnTo>
                  <a:lnTo>
                    <a:pt x="4195765" y="30225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8953499" y="1478280"/>
              <a:ext cx="866140" cy="123825"/>
            </a:xfrm>
            <a:custGeom>
              <a:avLst/>
              <a:gdLst/>
              <a:ahLst/>
              <a:cxnLst/>
              <a:rect l="l" t="t" r="r" b="b"/>
              <a:pathLst>
                <a:path w="866140" h="123825">
                  <a:moveTo>
                    <a:pt x="865631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865631" y="123444"/>
                  </a:lnTo>
                  <a:lnTo>
                    <a:pt x="86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5" name="object 145"/>
          <p:cNvSpPr txBox="1"/>
          <p:nvPr/>
        </p:nvSpPr>
        <p:spPr>
          <a:xfrm>
            <a:off x="9049639" y="1458213"/>
            <a:ext cx="6769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In-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8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specific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146" name="object 146"/>
          <p:cNvGraphicFramePr>
            <a:graphicFrameLocks noGrp="1"/>
          </p:cNvGraphicFramePr>
          <p:nvPr/>
        </p:nvGraphicFramePr>
        <p:xfrm>
          <a:off x="6576441" y="1679829"/>
          <a:ext cx="539305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/>
                <a:gridCol w="587375"/>
                <a:gridCol w="590550"/>
                <a:gridCol w="587375"/>
                <a:gridCol w="588644"/>
                <a:gridCol w="587374"/>
                <a:gridCol w="588645"/>
                <a:gridCol w="589279"/>
                <a:gridCol w="588010"/>
              </a:tblGrid>
              <a:tr h="194310">
                <a:tc row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Supermarkets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Drugstores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Discount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Specialty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BE9900"/>
                          </a:solidFill>
                          <a:latin typeface="Calibri"/>
                          <a:cs typeface="Calibri"/>
                        </a:rPr>
                        <a:t>Mktplace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2139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13%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23%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6%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26%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FFCC00">
                        <a:alpha val="10195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47" name="object 147"/>
          <p:cNvGrpSpPr/>
          <p:nvPr/>
        </p:nvGrpSpPr>
        <p:grpSpPr>
          <a:xfrm>
            <a:off x="6474333" y="3055620"/>
            <a:ext cx="2701290" cy="1368425"/>
            <a:chOff x="6474333" y="3055620"/>
            <a:chExt cx="2701290" cy="1368425"/>
          </a:xfrm>
        </p:grpSpPr>
        <p:sp>
          <p:nvSpPr>
            <p:cNvPr id="148" name="object 148"/>
            <p:cNvSpPr/>
            <p:nvPr/>
          </p:nvSpPr>
          <p:spPr>
            <a:xfrm>
              <a:off x="6483858" y="3120390"/>
              <a:ext cx="2682240" cy="1294130"/>
            </a:xfrm>
            <a:custGeom>
              <a:avLst/>
              <a:gdLst/>
              <a:ahLst/>
              <a:cxnLst/>
              <a:rect l="l" t="t" r="r" b="b"/>
              <a:pathLst>
                <a:path w="2682240" h="1294129">
                  <a:moveTo>
                    <a:pt x="0" y="1293875"/>
                  </a:moveTo>
                  <a:lnTo>
                    <a:pt x="2682240" y="1293875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293875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7353300" y="3055620"/>
              <a:ext cx="940435" cy="139065"/>
            </a:xfrm>
            <a:custGeom>
              <a:avLst/>
              <a:gdLst/>
              <a:ahLst/>
              <a:cxnLst/>
              <a:rect l="l" t="t" r="r" b="b"/>
              <a:pathLst>
                <a:path w="940434" h="139064">
                  <a:moveTo>
                    <a:pt x="940307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940307" y="138684"/>
                  </a:lnTo>
                  <a:lnTo>
                    <a:pt x="940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/>
          <p:cNvGrpSpPr/>
          <p:nvPr/>
        </p:nvGrpSpPr>
        <p:grpSpPr>
          <a:xfrm>
            <a:off x="6474333" y="4507991"/>
            <a:ext cx="2701290" cy="1473835"/>
            <a:chOff x="6474333" y="4507991"/>
            <a:chExt cx="2701290" cy="1473835"/>
          </a:xfrm>
        </p:grpSpPr>
        <p:sp>
          <p:nvSpPr>
            <p:cNvPr id="151" name="object 151"/>
            <p:cNvSpPr/>
            <p:nvPr/>
          </p:nvSpPr>
          <p:spPr>
            <a:xfrm>
              <a:off x="6483858" y="4586477"/>
              <a:ext cx="2682240" cy="1385570"/>
            </a:xfrm>
            <a:custGeom>
              <a:avLst/>
              <a:gdLst/>
              <a:ahLst/>
              <a:cxnLst/>
              <a:rect l="l" t="t" r="r" b="b"/>
              <a:pathLst>
                <a:path w="2682240" h="1385570">
                  <a:moveTo>
                    <a:pt x="0" y="1385316"/>
                  </a:moveTo>
                  <a:lnTo>
                    <a:pt x="2682240" y="1385316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385316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574280" y="4507991"/>
              <a:ext cx="498475" cy="140335"/>
            </a:xfrm>
            <a:custGeom>
              <a:avLst/>
              <a:gdLst/>
              <a:ahLst/>
              <a:cxnLst/>
              <a:rect l="l" t="t" r="r" b="b"/>
              <a:pathLst>
                <a:path w="498475" h="140335">
                  <a:moveTo>
                    <a:pt x="498348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498348" y="140207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3" name="object 15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17232" y="2240660"/>
            <a:ext cx="137922" cy="137922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03972" y="2240660"/>
            <a:ext cx="139446" cy="137922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92236" y="2240660"/>
            <a:ext cx="139446" cy="137922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80501" y="2240660"/>
            <a:ext cx="139446" cy="137922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932032" y="2240660"/>
            <a:ext cx="137922" cy="137922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68765" y="2240660"/>
            <a:ext cx="137921" cy="137922"/>
          </a:xfrm>
          <a:prstGeom prst="rect">
            <a:avLst/>
          </a:prstGeom>
        </p:spPr>
      </p:pic>
      <p:pic>
        <p:nvPicPr>
          <p:cNvPr id="159" name="object 15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755505" y="2240660"/>
            <a:ext cx="139446" cy="137922"/>
          </a:xfrm>
          <a:prstGeom prst="rect">
            <a:avLst/>
          </a:prstGeom>
        </p:spPr>
      </p:pic>
      <p:pic>
        <p:nvPicPr>
          <p:cNvPr id="160" name="object 16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43768" y="2240660"/>
            <a:ext cx="139446" cy="137922"/>
          </a:xfrm>
          <a:prstGeom prst="rect">
            <a:avLst/>
          </a:prstGeom>
        </p:spPr>
      </p:pic>
      <p:pic>
        <p:nvPicPr>
          <p:cNvPr id="161" name="object 16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18772" y="2240660"/>
            <a:ext cx="139446" cy="137922"/>
          </a:xfrm>
          <a:prstGeom prst="rect">
            <a:avLst/>
          </a:prstGeom>
        </p:spPr>
      </p:pic>
      <p:sp>
        <p:nvSpPr>
          <p:cNvPr id="162" name="object 162"/>
          <p:cNvSpPr txBox="1"/>
          <p:nvPr/>
        </p:nvSpPr>
        <p:spPr>
          <a:xfrm>
            <a:off x="7432040" y="3036823"/>
            <a:ext cx="784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7651242" y="4490466"/>
            <a:ext cx="344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9333356" y="3055620"/>
            <a:ext cx="2661920" cy="2926080"/>
            <a:chOff x="9333356" y="3055620"/>
            <a:chExt cx="2661920" cy="2926080"/>
          </a:xfrm>
        </p:grpSpPr>
        <p:sp>
          <p:nvSpPr>
            <p:cNvPr id="165" name="object 165"/>
            <p:cNvSpPr/>
            <p:nvPr/>
          </p:nvSpPr>
          <p:spPr>
            <a:xfrm>
              <a:off x="9342881" y="3118866"/>
              <a:ext cx="2642870" cy="2853055"/>
            </a:xfrm>
            <a:custGeom>
              <a:avLst/>
              <a:gdLst/>
              <a:ahLst/>
              <a:cxnLst/>
              <a:rect l="l" t="t" r="r" b="b"/>
              <a:pathLst>
                <a:path w="2642870" h="2853054">
                  <a:moveTo>
                    <a:pt x="0" y="2852927"/>
                  </a:moveTo>
                  <a:lnTo>
                    <a:pt x="2642616" y="2852927"/>
                  </a:lnTo>
                  <a:lnTo>
                    <a:pt x="2642616" y="0"/>
                  </a:lnTo>
                  <a:lnTo>
                    <a:pt x="0" y="0"/>
                  </a:lnTo>
                  <a:lnTo>
                    <a:pt x="0" y="2852927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067543" y="3055620"/>
              <a:ext cx="1193800" cy="139065"/>
            </a:xfrm>
            <a:custGeom>
              <a:avLst/>
              <a:gdLst/>
              <a:ahLst/>
              <a:cxnLst/>
              <a:rect l="l" t="t" r="r" b="b"/>
              <a:pathLst>
                <a:path w="1193800" h="139064">
                  <a:moveTo>
                    <a:pt x="1193292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1193292" y="138684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/>
          <p:cNvSpPr txBox="1"/>
          <p:nvPr/>
        </p:nvSpPr>
        <p:spPr>
          <a:xfrm>
            <a:off x="10171938" y="3036823"/>
            <a:ext cx="984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Sources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of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Influence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8938386" y="4744211"/>
            <a:ext cx="103505" cy="1075055"/>
            <a:chOff x="8938386" y="4744211"/>
            <a:chExt cx="103505" cy="1075055"/>
          </a:xfrm>
        </p:grpSpPr>
        <p:sp>
          <p:nvSpPr>
            <p:cNvPr id="169" name="object 169"/>
            <p:cNvSpPr/>
            <p:nvPr/>
          </p:nvSpPr>
          <p:spPr>
            <a:xfrm>
              <a:off x="8938386" y="4744211"/>
              <a:ext cx="103505" cy="1075055"/>
            </a:xfrm>
            <a:custGeom>
              <a:avLst/>
              <a:gdLst/>
              <a:ahLst/>
              <a:cxnLst/>
              <a:rect l="l" t="t" r="r" b="b"/>
              <a:pathLst>
                <a:path w="103504" h="1075054">
                  <a:moveTo>
                    <a:pt x="7112" y="978712"/>
                  </a:moveTo>
                  <a:lnTo>
                    <a:pt x="1016" y="982243"/>
                  </a:lnTo>
                  <a:lnTo>
                    <a:pt x="0" y="986129"/>
                  </a:lnTo>
                  <a:lnTo>
                    <a:pt x="51689" y="1074762"/>
                  </a:lnTo>
                  <a:lnTo>
                    <a:pt x="59034" y="1062164"/>
                  </a:lnTo>
                  <a:lnTo>
                    <a:pt x="45339" y="1062164"/>
                  </a:lnTo>
                  <a:lnTo>
                    <a:pt x="45339" y="1038719"/>
                  </a:lnTo>
                  <a:lnTo>
                    <a:pt x="10922" y="979728"/>
                  </a:lnTo>
                  <a:lnTo>
                    <a:pt x="7112" y="978712"/>
                  </a:lnTo>
                  <a:close/>
                </a:path>
                <a:path w="103504" h="1075054">
                  <a:moveTo>
                    <a:pt x="45339" y="1038719"/>
                  </a:moveTo>
                  <a:lnTo>
                    <a:pt x="45339" y="1062164"/>
                  </a:lnTo>
                  <a:lnTo>
                    <a:pt x="58039" y="1062164"/>
                  </a:lnTo>
                  <a:lnTo>
                    <a:pt x="58039" y="1058964"/>
                  </a:lnTo>
                  <a:lnTo>
                    <a:pt x="46228" y="1058964"/>
                  </a:lnTo>
                  <a:lnTo>
                    <a:pt x="51689" y="1049603"/>
                  </a:lnTo>
                  <a:lnTo>
                    <a:pt x="45339" y="1038719"/>
                  </a:lnTo>
                  <a:close/>
                </a:path>
                <a:path w="103504" h="1075054">
                  <a:moveTo>
                    <a:pt x="96266" y="978712"/>
                  </a:moveTo>
                  <a:lnTo>
                    <a:pt x="92456" y="979728"/>
                  </a:lnTo>
                  <a:lnTo>
                    <a:pt x="58039" y="1038719"/>
                  </a:lnTo>
                  <a:lnTo>
                    <a:pt x="58039" y="1062164"/>
                  </a:lnTo>
                  <a:lnTo>
                    <a:pt x="59034" y="1062164"/>
                  </a:lnTo>
                  <a:lnTo>
                    <a:pt x="103378" y="986129"/>
                  </a:lnTo>
                  <a:lnTo>
                    <a:pt x="102362" y="982243"/>
                  </a:lnTo>
                  <a:lnTo>
                    <a:pt x="96266" y="978712"/>
                  </a:lnTo>
                  <a:close/>
                </a:path>
                <a:path w="103504" h="1075054">
                  <a:moveTo>
                    <a:pt x="51689" y="1049603"/>
                  </a:moveTo>
                  <a:lnTo>
                    <a:pt x="46228" y="1058964"/>
                  </a:lnTo>
                  <a:lnTo>
                    <a:pt x="57150" y="1058964"/>
                  </a:lnTo>
                  <a:lnTo>
                    <a:pt x="51689" y="1049603"/>
                  </a:lnTo>
                  <a:close/>
                </a:path>
                <a:path w="103504" h="1075054">
                  <a:moveTo>
                    <a:pt x="58039" y="1038719"/>
                  </a:moveTo>
                  <a:lnTo>
                    <a:pt x="51689" y="1049603"/>
                  </a:lnTo>
                  <a:lnTo>
                    <a:pt x="57150" y="1058964"/>
                  </a:lnTo>
                  <a:lnTo>
                    <a:pt x="58039" y="1058964"/>
                  </a:lnTo>
                  <a:lnTo>
                    <a:pt x="58039" y="1038719"/>
                  </a:lnTo>
                  <a:close/>
                </a:path>
                <a:path w="103504" h="1075054">
                  <a:moveTo>
                    <a:pt x="58039" y="0"/>
                  </a:moveTo>
                  <a:lnTo>
                    <a:pt x="45339" y="0"/>
                  </a:lnTo>
                  <a:lnTo>
                    <a:pt x="45339" y="1038719"/>
                  </a:lnTo>
                  <a:lnTo>
                    <a:pt x="51689" y="1049603"/>
                  </a:lnTo>
                  <a:lnTo>
                    <a:pt x="58039" y="1038719"/>
                  </a:lnTo>
                  <a:lnTo>
                    <a:pt x="58039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8944355" y="4907279"/>
              <a:ext cx="91440" cy="673735"/>
            </a:xfrm>
            <a:custGeom>
              <a:avLst/>
              <a:gdLst/>
              <a:ahLst/>
              <a:cxnLst/>
              <a:rect l="l" t="t" r="r" b="b"/>
              <a:pathLst>
                <a:path w="91440" h="673735">
                  <a:moveTo>
                    <a:pt x="91440" y="0"/>
                  </a:moveTo>
                  <a:lnTo>
                    <a:pt x="0" y="0"/>
                  </a:lnTo>
                  <a:lnTo>
                    <a:pt x="0" y="673608"/>
                  </a:lnTo>
                  <a:lnTo>
                    <a:pt x="91440" y="67360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8947404" y="4910245"/>
            <a:ext cx="101600" cy="6711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6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8027934" y="4760236"/>
            <a:ext cx="161925" cy="1019175"/>
            <a:chOff x="8027934" y="4760236"/>
            <a:chExt cx="161925" cy="1019175"/>
          </a:xfrm>
        </p:grpSpPr>
        <p:pic>
          <p:nvPicPr>
            <p:cNvPr id="173" name="object 17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50463" y="4760236"/>
              <a:ext cx="117529" cy="118654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47360" y="4981332"/>
              <a:ext cx="127014" cy="13002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32492" y="5210011"/>
              <a:ext cx="153876" cy="136503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36169" y="5432779"/>
              <a:ext cx="143815" cy="147737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8027924" y="5691441"/>
              <a:ext cx="161925" cy="87630"/>
            </a:xfrm>
            <a:custGeom>
              <a:avLst/>
              <a:gdLst/>
              <a:ahLst/>
              <a:cxnLst/>
              <a:rect l="l" t="t" r="r" b="b"/>
              <a:pathLst>
                <a:path w="161925" h="87629">
                  <a:moveTo>
                    <a:pt x="33058" y="18224"/>
                  </a:moveTo>
                  <a:lnTo>
                    <a:pt x="18364" y="18224"/>
                  </a:lnTo>
                  <a:lnTo>
                    <a:pt x="18364" y="69227"/>
                  </a:lnTo>
                  <a:lnTo>
                    <a:pt x="33058" y="69227"/>
                  </a:lnTo>
                  <a:lnTo>
                    <a:pt x="33058" y="18224"/>
                  </a:lnTo>
                  <a:close/>
                </a:path>
                <a:path w="161925" h="87629">
                  <a:moveTo>
                    <a:pt x="161607" y="30607"/>
                  </a:moveTo>
                  <a:lnTo>
                    <a:pt x="158305" y="27330"/>
                  </a:lnTo>
                  <a:lnTo>
                    <a:pt x="146913" y="27330"/>
                  </a:lnTo>
                  <a:lnTo>
                    <a:pt x="146913" y="10934"/>
                  </a:lnTo>
                  <a:lnTo>
                    <a:pt x="146913" y="3276"/>
                  </a:lnTo>
                  <a:lnTo>
                    <a:pt x="143611" y="0"/>
                  </a:lnTo>
                  <a:lnTo>
                    <a:pt x="135902" y="0"/>
                  </a:lnTo>
                  <a:lnTo>
                    <a:pt x="135902" y="10934"/>
                  </a:lnTo>
                  <a:lnTo>
                    <a:pt x="135902" y="76517"/>
                  </a:lnTo>
                  <a:lnTo>
                    <a:pt x="11023" y="76517"/>
                  </a:lnTo>
                  <a:lnTo>
                    <a:pt x="11023" y="10934"/>
                  </a:lnTo>
                  <a:lnTo>
                    <a:pt x="135902" y="10934"/>
                  </a:lnTo>
                  <a:lnTo>
                    <a:pt x="135902" y="0"/>
                  </a:lnTo>
                  <a:lnTo>
                    <a:pt x="3314" y="0"/>
                  </a:lnTo>
                  <a:lnTo>
                    <a:pt x="0" y="3276"/>
                  </a:lnTo>
                  <a:lnTo>
                    <a:pt x="0" y="84162"/>
                  </a:lnTo>
                  <a:lnTo>
                    <a:pt x="3314" y="87439"/>
                  </a:lnTo>
                  <a:lnTo>
                    <a:pt x="143611" y="87439"/>
                  </a:lnTo>
                  <a:lnTo>
                    <a:pt x="146913" y="84162"/>
                  </a:lnTo>
                  <a:lnTo>
                    <a:pt x="146913" y="76517"/>
                  </a:lnTo>
                  <a:lnTo>
                    <a:pt x="146913" y="60121"/>
                  </a:lnTo>
                  <a:lnTo>
                    <a:pt x="158305" y="60121"/>
                  </a:lnTo>
                  <a:lnTo>
                    <a:pt x="161607" y="56832"/>
                  </a:lnTo>
                  <a:lnTo>
                    <a:pt x="161607" y="30607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8" name="object 178"/>
          <p:cNvSpPr txBox="1"/>
          <p:nvPr/>
        </p:nvSpPr>
        <p:spPr>
          <a:xfrm>
            <a:off x="8321040" y="4744211"/>
            <a:ext cx="500380" cy="15430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00853C"/>
                </a:solidFill>
                <a:latin typeface="Calibri"/>
                <a:cs typeface="Calibri"/>
              </a:rPr>
              <a:t>€4.84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8321040" y="4972811"/>
            <a:ext cx="500380" cy="15430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00853C"/>
                </a:solidFill>
                <a:latin typeface="Calibri"/>
                <a:cs typeface="Calibri"/>
              </a:rPr>
              <a:t>€3.17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8321040" y="5201411"/>
            <a:ext cx="500380" cy="15430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00853C"/>
                </a:solidFill>
                <a:latin typeface="Calibri"/>
                <a:cs typeface="Calibri"/>
              </a:rPr>
              <a:t>€9.26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8321040" y="54300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€5.12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8321040" y="5658611"/>
            <a:ext cx="500380" cy="15430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00853C"/>
                </a:solidFill>
                <a:latin typeface="Calibri"/>
                <a:cs typeface="Calibri"/>
              </a:rPr>
              <a:t>€3.21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3" name="object 183"/>
          <p:cNvSpPr/>
          <p:nvPr/>
        </p:nvSpPr>
        <p:spPr>
          <a:xfrm>
            <a:off x="7836407" y="5029200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8475"/>
                </a:moveTo>
                <a:lnTo>
                  <a:pt x="0" y="0"/>
                </a:lnTo>
              </a:path>
            </a:pathLst>
          </a:custGeom>
          <a:ln w="9525">
            <a:solidFill>
              <a:srgbClr val="4D4D4D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 txBox="1"/>
          <p:nvPr/>
        </p:nvSpPr>
        <p:spPr>
          <a:xfrm>
            <a:off x="6714870" y="5572455"/>
            <a:ext cx="8280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Value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against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Volume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6670547" y="5388864"/>
            <a:ext cx="916305" cy="15557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1155"/>
              </a:lnSpc>
            </a:pPr>
            <a:r>
              <a:rPr dirty="0" sz="1000" spc="-25" b="1">
                <a:solidFill>
                  <a:srgbClr val="00853C"/>
                </a:solidFill>
                <a:latin typeface="Calibri"/>
                <a:cs typeface="Calibri"/>
              </a:rPr>
              <a:t>+3%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6663055" y="5043678"/>
            <a:ext cx="932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Average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Purchase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Spend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6670547" y="4863084"/>
            <a:ext cx="916305" cy="152400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40"/>
              </a:lnSpc>
            </a:pPr>
            <a:r>
              <a:rPr dirty="0" sz="1000" spc="-50" b="1">
                <a:solidFill>
                  <a:srgbClr val="00853C"/>
                </a:solidFill>
                <a:latin typeface="Calibri"/>
                <a:cs typeface="Calibri"/>
              </a:rPr>
              <a:t>+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7436929" y="3322129"/>
            <a:ext cx="680085" cy="992505"/>
            <a:chOff x="7436929" y="3322129"/>
            <a:chExt cx="680085" cy="992505"/>
          </a:xfrm>
        </p:grpSpPr>
        <p:sp>
          <p:nvSpPr>
            <p:cNvPr id="189" name="object 189"/>
            <p:cNvSpPr/>
            <p:nvPr/>
          </p:nvSpPr>
          <p:spPr>
            <a:xfrm>
              <a:off x="7441692" y="3381755"/>
              <a:ext cx="675640" cy="873760"/>
            </a:xfrm>
            <a:custGeom>
              <a:avLst/>
              <a:gdLst/>
              <a:ahLst/>
              <a:cxnLst/>
              <a:rect l="l" t="t" r="r" b="b"/>
              <a:pathLst>
                <a:path w="675640" h="873760">
                  <a:moveTo>
                    <a:pt x="20421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04216" y="137160"/>
                  </a:lnTo>
                  <a:lnTo>
                    <a:pt x="204216" y="0"/>
                  </a:lnTo>
                  <a:close/>
                </a:path>
                <a:path w="675640" h="873760">
                  <a:moveTo>
                    <a:pt x="225552" y="737616"/>
                  </a:moveTo>
                  <a:lnTo>
                    <a:pt x="0" y="737616"/>
                  </a:lnTo>
                  <a:lnTo>
                    <a:pt x="0" y="873252"/>
                  </a:lnTo>
                  <a:lnTo>
                    <a:pt x="225552" y="873252"/>
                  </a:lnTo>
                  <a:lnTo>
                    <a:pt x="225552" y="737616"/>
                  </a:lnTo>
                  <a:close/>
                </a:path>
                <a:path w="675640" h="873760">
                  <a:moveTo>
                    <a:pt x="617220" y="245364"/>
                  </a:moveTo>
                  <a:lnTo>
                    <a:pt x="0" y="245364"/>
                  </a:lnTo>
                  <a:lnTo>
                    <a:pt x="0" y="382524"/>
                  </a:lnTo>
                  <a:lnTo>
                    <a:pt x="617220" y="382524"/>
                  </a:lnTo>
                  <a:lnTo>
                    <a:pt x="617220" y="245364"/>
                  </a:lnTo>
                  <a:close/>
                </a:path>
                <a:path w="675640" h="873760">
                  <a:moveTo>
                    <a:pt x="675132" y="492252"/>
                  </a:moveTo>
                  <a:lnTo>
                    <a:pt x="0" y="492252"/>
                  </a:lnTo>
                  <a:lnTo>
                    <a:pt x="0" y="627888"/>
                  </a:lnTo>
                  <a:lnTo>
                    <a:pt x="675132" y="627888"/>
                  </a:lnTo>
                  <a:lnTo>
                    <a:pt x="675132" y="492252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7441692" y="3326891"/>
              <a:ext cx="0" cy="982980"/>
            </a:xfrm>
            <a:custGeom>
              <a:avLst/>
              <a:gdLst/>
              <a:ahLst/>
              <a:cxnLst/>
              <a:rect l="l" t="t" r="r" b="b"/>
              <a:pathLst>
                <a:path w="0" h="982979">
                  <a:moveTo>
                    <a:pt x="0" y="0"/>
                  </a:moveTo>
                  <a:lnTo>
                    <a:pt x="0" y="98298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7674991" y="3363848"/>
            <a:ext cx="2025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8087614" y="3609847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47%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8145018" y="3855542"/>
            <a:ext cx="20256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51%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7695692" y="4100576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6619747" y="3370834"/>
            <a:ext cx="5270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Last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 purchase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616065" y="3620261"/>
            <a:ext cx="6178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700" spc="-1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6616065" y="3870452"/>
            <a:ext cx="534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6616065" y="4119753"/>
            <a:ext cx="678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(preference)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99" name="object 199"/>
          <p:cNvGraphicFramePr>
            <a:graphicFrameLocks noGrp="1"/>
          </p:cNvGraphicFramePr>
          <p:nvPr/>
        </p:nvGraphicFramePr>
        <p:xfrm>
          <a:off x="8556625" y="3371850"/>
          <a:ext cx="567690" cy="87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168.74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185.96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222.01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210.93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</a:tbl>
          </a:graphicData>
        </a:graphic>
      </p:graphicFrame>
      <p:sp>
        <p:nvSpPr>
          <p:cNvPr id="200" name="object 200"/>
          <p:cNvSpPr/>
          <p:nvPr/>
        </p:nvSpPr>
        <p:spPr>
          <a:xfrm>
            <a:off x="6628638" y="3313938"/>
            <a:ext cx="2403475" cy="0"/>
          </a:xfrm>
          <a:custGeom>
            <a:avLst/>
            <a:gdLst/>
            <a:ahLst/>
            <a:cxnLst/>
            <a:rect l="l" t="t" r="r" b="b"/>
            <a:pathLst>
              <a:path w="2403475" h="0">
                <a:moveTo>
                  <a:pt x="0" y="0"/>
                </a:moveTo>
                <a:lnTo>
                  <a:pt x="2403093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 txBox="1"/>
          <p:nvPr/>
        </p:nvSpPr>
        <p:spPr>
          <a:xfrm>
            <a:off x="8688451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10573321" y="3322129"/>
            <a:ext cx="462280" cy="2504440"/>
            <a:chOff x="10573321" y="3322129"/>
            <a:chExt cx="462280" cy="2504440"/>
          </a:xfrm>
        </p:grpSpPr>
        <p:sp>
          <p:nvSpPr>
            <p:cNvPr id="203" name="object 203"/>
            <p:cNvSpPr/>
            <p:nvPr/>
          </p:nvSpPr>
          <p:spPr>
            <a:xfrm>
              <a:off x="10578084" y="3389375"/>
              <a:ext cx="457200" cy="2369820"/>
            </a:xfrm>
            <a:custGeom>
              <a:avLst/>
              <a:gdLst/>
              <a:ahLst/>
              <a:cxnLst/>
              <a:rect l="l" t="t" r="r" b="b"/>
              <a:pathLst>
                <a:path w="457200" h="2369820">
                  <a:moveTo>
                    <a:pt x="198120" y="1940052"/>
                  </a:moveTo>
                  <a:lnTo>
                    <a:pt x="0" y="1940052"/>
                  </a:lnTo>
                  <a:lnTo>
                    <a:pt x="0" y="2093976"/>
                  </a:lnTo>
                  <a:lnTo>
                    <a:pt x="198120" y="2093976"/>
                  </a:lnTo>
                  <a:lnTo>
                    <a:pt x="198120" y="1940052"/>
                  </a:lnTo>
                  <a:close/>
                </a:path>
                <a:path w="457200" h="2369820">
                  <a:moveTo>
                    <a:pt x="243840" y="2215896"/>
                  </a:moveTo>
                  <a:lnTo>
                    <a:pt x="0" y="2215896"/>
                  </a:lnTo>
                  <a:lnTo>
                    <a:pt x="0" y="2369820"/>
                  </a:lnTo>
                  <a:lnTo>
                    <a:pt x="243840" y="2369820"/>
                  </a:lnTo>
                  <a:lnTo>
                    <a:pt x="243840" y="2215896"/>
                  </a:lnTo>
                  <a:close/>
                </a:path>
                <a:path w="457200" h="2369820">
                  <a:moveTo>
                    <a:pt x="274320" y="830580"/>
                  </a:moveTo>
                  <a:lnTo>
                    <a:pt x="0" y="830580"/>
                  </a:lnTo>
                  <a:lnTo>
                    <a:pt x="0" y="984504"/>
                  </a:lnTo>
                  <a:lnTo>
                    <a:pt x="274320" y="984504"/>
                  </a:lnTo>
                  <a:lnTo>
                    <a:pt x="274320" y="830580"/>
                  </a:lnTo>
                  <a:close/>
                </a:path>
                <a:path w="457200" h="2369820">
                  <a:moveTo>
                    <a:pt x="320040" y="1107948"/>
                  </a:moveTo>
                  <a:lnTo>
                    <a:pt x="0" y="1107948"/>
                  </a:lnTo>
                  <a:lnTo>
                    <a:pt x="0" y="1261872"/>
                  </a:lnTo>
                  <a:lnTo>
                    <a:pt x="320040" y="1261872"/>
                  </a:lnTo>
                  <a:lnTo>
                    <a:pt x="320040" y="1107948"/>
                  </a:lnTo>
                  <a:close/>
                </a:path>
                <a:path w="457200" h="2369820">
                  <a:moveTo>
                    <a:pt x="329184" y="1662684"/>
                  </a:moveTo>
                  <a:lnTo>
                    <a:pt x="0" y="1662684"/>
                  </a:lnTo>
                  <a:lnTo>
                    <a:pt x="0" y="1816608"/>
                  </a:lnTo>
                  <a:lnTo>
                    <a:pt x="329184" y="1816608"/>
                  </a:lnTo>
                  <a:lnTo>
                    <a:pt x="329184" y="1662684"/>
                  </a:lnTo>
                  <a:close/>
                </a:path>
                <a:path w="457200" h="2369820">
                  <a:moveTo>
                    <a:pt x="370332" y="1385316"/>
                  </a:moveTo>
                  <a:lnTo>
                    <a:pt x="0" y="1385316"/>
                  </a:lnTo>
                  <a:lnTo>
                    <a:pt x="0" y="1539240"/>
                  </a:lnTo>
                  <a:lnTo>
                    <a:pt x="370332" y="1539240"/>
                  </a:lnTo>
                  <a:lnTo>
                    <a:pt x="370332" y="1385316"/>
                  </a:lnTo>
                  <a:close/>
                </a:path>
                <a:path w="457200" h="2369820">
                  <a:moveTo>
                    <a:pt x="40081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00812" y="153924"/>
                  </a:lnTo>
                  <a:lnTo>
                    <a:pt x="400812" y="0"/>
                  </a:lnTo>
                  <a:close/>
                </a:path>
                <a:path w="457200" h="2369820">
                  <a:moveTo>
                    <a:pt x="405384" y="277368"/>
                  </a:moveTo>
                  <a:lnTo>
                    <a:pt x="0" y="277368"/>
                  </a:lnTo>
                  <a:lnTo>
                    <a:pt x="0" y="431292"/>
                  </a:lnTo>
                  <a:lnTo>
                    <a:pt x="405384" y="431292"/>
                  </a:lnTo>
                  <a:lnTo>
                    <a:pt x="405384" y="277368"/>
                  </a:lnTo>
                  <a:close/>
                </a:path>
                <a:path w="457200" h="2369820">
                  <a:moveTo>
                    <a:pt x="457200" y="553212"/>
                  </a:moveTo>
                  <a:lnTo>
                    <a:pt x="0" y="553212"/>
                  </a:lnTo>
                  <a:lnTo>
                    <a:pt x="0" y="707136"/>
                  </a:lnTo>
                  <a:lnTo>
                    <a:pt x="457200" y="707136"/>
                  </a:lnTo>
                  <a:lnTo>
                    <a:pt x="457200" y="553212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0578083" y="3326891"/>
              <a:ext cx="0" cy="2494915"/>
            </a:xfrm>
            <a:custGeom>
              <a:avLst/>
              <a:gdLst/>
              <a:ahLst/>
              <a:cxnLst/>
              <a:rect l="l" t="t" r="r" b="b"/>
              <a:pathLst>
                <a:path w="0" h="2494915">
                  <a:moveTo>
                    <a:pt x="0" y="0"/>
                  </a:moveTo>
                  <a:lnTo>
                    <a:pt x="0" y="2494788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9645142" y="3396488"/>
            <a:ext cx="6305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Friends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or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family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9645142" y="3672585"/>
            <a:ext cx="608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Retailer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9645142" y="3950589"/>
            <a:ext cx="4787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Social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media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9645142" y="4226814"/>
            <a:ext cx="457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Salesperson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1004295" y="3398646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26%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11009121" y="3674440"/>
            <a:ext cx="156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1060048" y="395274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30%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10877550" y="422922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18%</a:t>
            </a:r>
            <a:endParaRPr sz="600">
              <a:latin typeface="Calibri"/>
              <a:cs typeface="Calibri"/>
            </a:endParaRPr>
          </a:p>
        </p:txBody>
      </p:sp>
      <p:graphicFrame>
        <p:nvGraphicFramePr>
          <p:cNvPr id="213" name="object 213"/>
          <p:cNvGraphicFramePr>
            <a:graphicFrameLocks noGrp="1"/>
          </p:cNvGraphicFramePr>
          <p:nvPr/>
        </p:nvGraphicFramePr>
        <p:xfrm>
          <a:off x="9626092" y="4497323"/>
          <a:ext cx="1598930" cy="1259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1865"/>
                <a:gridCol w="570229"/>
              </a:tblGrid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Brands’</a:t>
                      </a:r>
                      <a:r>
                        <a:rPr dirty="0" sz="700" spc="-3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websites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21%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2225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r>
                        <a:rPr dirty="0" sz="7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ads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24%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0955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TV</a:t>
                      </a: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2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news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6476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22%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1590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Newspapers/magazines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13%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0320"/>
                </a:tc>
              </a:tr>
              <a:tr h="121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r>
                        <a:rPr dirty="0" sz="7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blogs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16%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2225"/>
                </a:tc>
              </a:tr>
            </a:tbl>
          </a:graphicData>
        </a:graphic>
      </p:graphicFrame>
      <p:grpSp>
        <p:nvGrpSpPr>
          <p:cNvPr id="214" name="object 214"/>
          <p:cNvGrpSpPr/>
          <p:nvPr/>
        </p:nvGrpSpPr>
        <p:grpSpPr>
          <a:xfrm>
            <a:off x="5754623" y="1834895"/>
            <a:ext cx="358140" cy="3977640"/>
            <a:chOff x="5754623" y="1834895"/>
            <a:chExt cx="358140" cy="3977640"/>
          </a:xfrm>
        </p:grpSpPr>
        <p:sp>
          <p:nvSpPr>
            <p:cNvPr id="215" name="object 215"/>
            <p:cNvSpPr/>
            <p:nvPr/>
          </p:nvSpPr>
          <p:spPr>
            <a:xfrm>
              <a:off x="5754624" y="1865375"/>
              <a:ext cx="204470" cy="1310640"/>
            </a:xfrm>
            <a:custGeom>
              <a:avLst/>
              <a:gdLst/>
              <a:ahLst/>
              <a:cxnLst/>
              <a:rect l="l" t="t" r="r" b="b"/>
              <a:pathLst>
                <a:path w="204470" h="1310639">
                  <a:moveTo>
                    <a:pt x="204216" y="1234440"/>
                  </a:moveTo>
                  <a:lnTo>
                    <a:pt x="163068" y="1234440"/>
                  </a:lnTo>
                  <a:lnTo>
                    <a:pt x="163068" y="1310640"/>
                  </a:lnTo>
                  <a:lnTo>
                    <a:pt x="204216" y="1310640"/>
                  </a:lnTo>
                  <a:lnTo>
                    <a:pt x="204216" y="1234440"/>
                  </a:lnTo>
                  <a:close/>
                </a:path>
                <a:path w="204470" h="1310639">
                  <a:moveTo>
                    <a:pt x="204216" y="1097280"/>
                  </a:moveTo>
                  <a:lnTo>
                    <a:pt x="138684" y="1097280"/>
                  </a:lnTo>
                  <a:lnTo>
                    <a:pt x="138684" y="1173480"/>
                  </a:lnTo>
                  <a:lnTo>
                    <a:pt x="204216" y="1173480"/>
                  </a:lnTo>
                  <a:lnTo>
                    <a:pt x="204216" y="1097280"/>
                  </a:lnTo>
                  <a:close/>
                </a:path>
                <a:path w="204470" h="1310639">
                  <a:moveTo>
                    <a:pt x="204216" y="960120"/>
                  </a:moveTo>
                  <a:lnTo>
                    <a:pt x="45720" y="960120"/>
                  </a:lnTo>
                  <a:lnTo>
                    <a:pt x="45720" y="1036320"/>
                  </a:lnTo>
                  <a:lnTo>
                    <a:pt x="204216" y="1036320"/>
                  </a:lnTo>
                  <a:lnTo>
                    <a:pt x="204216" y="960120"/>
                  </a:lnTo>
                  <a:close/>
                </a:path>
                <a:path w="204470" h="1310639">
                  <a:moveTo>
                    <a:pt x="204216" y="822960"/>
                  </a:moveTo>
                  <a:lnTo>
                    <a:pt x="3048" y="822960"/>
                  </a:lnTo>
                  <a:lnTo>
                    <a:pt x="3048" y="899160"/>
                  </a:lnTo>
                  <a:lnTo>
                    <a:pt x="204216" y="899160"/>
                  </a:lnTo>
                  <a:lnTo>
                    <a:pt x="204216" y="822960"/>
                  </a:lnTo>
                  <a:close/>
                </a:path>
                <a:path w="204470" h="1310639">
                  <a:moveTo>
                    <a:pt x="204216" y="685800"/>
                  </a:moveTo>
                  <a:lnTo>
                    <a:pt x="30480" y="685800"/>
                  </a:lnTo>
                  <a:lnTo>
                    <a:pt x="30480" y="762000"/>
                  </a:lnTo>
                  <a:lnTo>
                    <a:pt x="204216" y="762000"/>
                  </a:lnTo>
                  <a:lnTo>
                    <a:pt x="204216" y="685800"/>
                  </a:lnTo>
                  <a:close/>
                </a:path>
                <a:path w="204470" h="1310639">
                  <a:moveTo>
                    <a:pt x="204216" y="548640"/>
                  </a:moveTo>
                  <a:lnTo>
                    <a:pt x="56388" y="548640"/>
                  </a:lnTo>
                  <a:lnTo>
                    <a:pt x="56388" y="624840"/>
                  </a:lnTo>
                  <a:lnTo>
                    <a:pt x="204216" y="624840"/>
                  </a:lnTo>
                  <a:lnTo>
                    <a:pt x="204216" y="548640"/>
                  </a:lnTo>
                  <a:close/>
                </a:path>
                <a:path w="204470" h="1310639">
                  <a:moveTo>
                    <a:pt x="204216" y="411480"/>
                  </a:moveTo>
                  <a:lnTo>
                    <a:pt x="32004" y="411480"/>
                  </a:lnTo>
                  <a:lnTo>
                    <a:pt x="32004" y="487680"/>
                  </a:lnTo>
                  <a:lnTo>
                    <a:pt x="204216" y="487680"/>
                  </a:lnTo>
                  <a:lnTo>
                    <a:pt x="204216" y="411480"/>
                  </a:lnTo>
                  <a:close/>
                </a:path>
                <a:path w="204470" h="1310639">
                  <a:moveTo>
                    <a:pt x="204216" y="274320"/>
                  </a:moveTo>
                  <a:lnTo>
                    <a:pt x="19812" y="274320"/>
                  </a:lnTo>
                  <a:lnTo>
                    <a:pt x="19812" y="350520"/>
                  </a:lnTo>
                  <a:lnTo>
                    <a:pt x="204216" y="350520"/>
                  </a:lnTo>
                  <a:lnTo>
                    <a:pt x="204216" y="274320"/>
                  </a:lnTo>
                  <a:close/>
                </a:path>
                <a:path w="204470" h="1310639">
                  <a:moveTo>
                    <a:pt x="204216" y="137160"/>
                  </a:moveTo>
                  <a:lnTo>
                    <a:pt x="0" y="137160"/>
                  </a:lnTo>
                  <a:lnTo>
                    <a:pt x="0" y="213360"/>
                  </a:lnTo>
                  <a:lnTo>
                    <a:pt x="204216" y="213360"/>
                  </a:lnTo>
                  <a:lnTo>
                    <a:pt x="204216" y="137160"/>
                  </a:lnTo>
                  <a:close/>
                </a:path>
                <a:path w="204470" h="1310639">
                  <a:moveTo>
                    <a:pt x="204216" y="0"/>
                  </a:moveTo>
                  <a:lnTo>
                    <a:pt x="7620" y="0"/>
                  </a:lnTo>
                  <a:lnTo>
                    <a:pt x="7620" y="76200"/>
                  </a:lnTo>
                  <a:lnTo>
                    <a:pt x="204216" y="76200"/>
                  </a:lnTo>
                  <a:lnTo>
                    <a:pt x="204216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5958839" y="3236975"/>
              <a:ext cx="3175" cy="76200"/>
            </a:xfrm>
            <a:custGeom>
              <a:avLst/>
              <a:gdLst/>
              <a:ahLst/>
              <a:cxnLst/>
              <a:rect l="l" t="t" r="r" b="b"/>
              <a:pathLst>
                <a:path w="3175" h="76200">
                  <a:moveTo>
                    <a:pt x="3047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047" y="76200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5935979" y="3374135"/>
              <a:ext cx="22860" cy="76200"/>
            </a:xfrm>
            <a:custGeom>
              <a:avLst/>
              <a:gdLst/>
              <a:ahLst/>
              <a:cxnLst/>
              <a:rect l="l" t="t" r="r" b="b"/>
              <a:pathLst>
                <a:path w="22860" h="76200">
                  <a:moveTo>
                    <a:pt x="2286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2860" y="76200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958840" y="3511295"/>
              <a:ext cx="154305" cy="2270760"/>
            </a:xfrm>
            <a:custGeom>
              <a:avLst/>
              <a:gdLst/>
              <a:ahLst/>
              <a:cxnLst/>
              <a:rect l="l" t="t" r="r" b="b"/>
              <a:pathLst>
                <a:path w="154304" h="2270760">
                  <a:moveTo>
                    <a:pt x="3048" y="137160"/>
                  </a:moveTo>
                  <a:lnTo>
                    <a:pt x="0" y="137160"/>
                  </a:lnTo>
                  <a:lnTo>
                    <a:pt x="0" y="213360"/>
                  </a:lnTo>
                  <a:lnTo>
                    <a:pt x="3048" y="213360"/>
                  </a:lnTo>
                  <a:lnTo>
                    <a:pt x="3048" y="137160"/>
                  </a:lnTo>
                  <a:close/>
                </a:path>
                <a:path w="154304" h="2270760">
                  <a:moveTo>
                    <a:pt x="15240" y="0"/>
                  </a:moveTo>
                  <a:lnTo>
                    <a:pt x="0" y="0"/>
                  </a:lnTo>
                  <a:lnTo>
                    <a:pt x="0" y="76212"/>
                  </a:lnTo>
                  <a:lnTo>
                    <a:pt x="15240" y="76212"/>
                  </a:lnTo>
                  <a:lnTo>
                    <a:pt x="15240" y="0"/>
                  </a:lnTo>
                  <a:close/>
                </a:path>
                <a:path w="154304" h="2270760">
                  <a:moveTo>
                    <a:pt x="33528" y="274320"/>
                  </a:moveTo>
                  <a:lnTo>
                    <a:pt x="0" y="274320"/>
                  </a:lnTo>
                  <a:lnTo>
                    <a:pt x="0" y="350520"/>
                  </a:lnTo>
                  <a:lnTo>
                    <a:pt x="33528" y="350520"/>
                  </a:lnTo>
                  <a:lnTo>
                    <a:pt x="33528" y="274320"/>
                  </a:lnTo>
                  <a:close/>
                </a:path>
                <a:path w="154304" h="2270760">
                  <a:moveTo>
                    <a:pt x="74676" y="960120"/>
                  </a:moveTo>
                  <a:lnTo>
                    <a:pt x="0" y="960120"/>
                  </a:lnTo>
                  <a:lnTo>
                    <a:pt x="0" y="1036320"/>
                  </a:lnTo>
                  <a:lnTo>
                    <a:pt x="74676" y="1036320"/>
                  </a:lnTo>
                  <a:lnTo>
                    <a:pt x="74676" y="960120"/>
                  </a:lnTo>
                  <a:close/>
                </a:path>
                <a:path w="154304" h="2270760">
                  <a:moveTo>
                    <a:pt x="76200" y="411480"/>
                  </a:moveTo>
                  <a:lnTo>
                    <a:pt x="0" y="411480"/>
                  </a:lnTo>
                  <a:lnTo>
                    <a:pt x="0" y="487680"/>
                  </a:lnTo>
                  <a:lnTo>
                    <a:pt x="76200" y="487680"/>
                  </a:lnTo>
                  <a:lnTo>
                    <a:pt x="76200" y="411480"/>
                  </a:lnTo>
                  <a:close/>
                </a:path>
                <a:path w="154304" h="2270760">
                  <a:moveTo>
                    <a:pt x="82296" y="1371600"/>
                  </a:moveTo>
                  <a:lnTo>
                    <a:pt x="0" y="1371600"/>
                  </a:lnTo>
                  <a:lnTo>
                    <a:pt x="0" y="1447800"/>
                  </a:lnTo>
                  <a:lnTo>
                    <a:pt x="82296" y="1447800"/>
                  </a:lnTo>
                  <a:lnTo>
                    <a:pt x="82296" y="1371600"/>
                  </a:lnTo>
                  <a:close/>
                </a:path>
                <a:path w="154304" h="2270760">
                  <a:moveTo>
                    <a:pt x="86868" y="548640"/>
                  </a:moveTo>
                  <a:lnTo>
                    <a:pt x="0" y="548640"/>
                  </a:lnTo>
                  <a:lnTo>
                    <a:pt x="0" y="624840"/>
                  </a:lnTo>
                  <a:lnTo>
                    <a:pt x="86868" y="624840"/>
                  </a:lnTo>
                  <a:lnTo>
                    <a:pt x="86868" y="548640"/>
                  </a:lnTo>
                  <a:close/>
                </a:path>
                <a:path w="154304" h="2270760">
                  <a:moveTo>
                    <a:pt x="91440" y="1234440"/>
                  </a:moveTo>
                  <a:lnTo>
                    <a:pt x="0" y="1234440"/>
                  </a:lnTo>
                  <a:lnTo>
                    <a:pt x="0" y="1310640"/>
                  </a:lnTo>
                  <a:lnTo>
                    <a:pt x="91440" y="1310640"/>
                  </a:lnTo>
                  <a:lnTo>
                    <a:pt x="91440" y="1234440"/>
                  </a:lnTo>
                  <a:close/>
                </a:path>
                <a:path w="154304" h="2270760">
                  <a:moveTo>
                    <a:pt x="94488" y="1508760"/>
                  </a:moveTo>
                  <a:lnTo>
                    <a:pt x="0" y="1508760"/>
                  </a:lnTo>
                  <a:lnTo>
                    <a:pt x="0" y="1584960"/>
                  </a:lnTo>
                  <a:lnTo>
                    <a:pt x="94488" y="1584960"/>
                  </a:lnTo>
                  <a:lnTo>
                    <a:pt x="94488" y="1508760"/>
                  </a:lnTo>
                  <a:close/>
                </a:path>
                <a:path w="154304" h="2270760">
                  <a:moveTo>
                    <a:pt x="94488" y="685800"/>
                  </a:moveTo>
                  <a:lnTo>
                    <a:pt x="0" y="685800"/>
                  </a:lnTo>
                  <a:lnTo>
                    <a:pt x="0" y="762000"/>
                  </a:lnTo>
                  <a:lnTo>
                    <a:pt x="94488" y="762000"/>
                  </a:lnTo>
                  <a:lnTo>
                    <a:pt x="94488" y="685800"/>
                  </a:lnTo>
                  <a:close/>
                </a:path>
                <a:path w="154304" h="2270760">
                  <a:moveTo>
                    <a:pt x="102108" y="1097280"/>
                  </a:moveTo>
                  <a:lnTo>
                    <a:pt x="0" y="1097280"/>
                  </a:lnTo>
                  <a:lnTo>
                    <a:pt x="0" y="1173480"/>
                  </a:lnTo>
                  <a:lnTo>
                    <a:pt x="102108" y="1173480"/>
                  </a:lnTo>
                  <a:lnTo>
                    <a:pt x="102108" y="1097280"/>
                  </a:lnTo>
                  <a:close/>
                </a:path>
                <a:path w="154304" h="2270760">
                  <a:moveTo>
                    <a:pt x="102108" y="822960"/>
                  </a:moveTo>
                  <a:lnTo>
                    <a:pt x="0" y="822960"/>
                  </a:lnTo>
                  <a:lnTo>
                    <a:pt x="0" y="899160"/>
                  </a:lnTo>
                  <a:lnTo>
                    <a:pt x="102108" y="899160"/>
                  </a:lnTo>
                  <a:lnTo>
                    <a:pt x="102108" y="822960"/>
                  </a:lnTo>
                  <a:close/>
                </a:path>
                <a:path w="154304" h="2270760">
                  <a:moveTo>
                    <a:pt x="123444" y="1920240"/>
                  </a:moveTo>
                  <a:lnTo>
                    <a:pt x="0" y="1920240"/>
                  </a:lnTo>
                  <a:lnTo>
                    <a:pt x="0" y="1996440"/>
                  </a:lnTo>
                  <a:lnTo>
                    <a:pt x="123444" y="1996440"/>
                  </a:lnTo>
                  <a:lnTo>
                    <a:pt x="123444" y="1920240"/>
                  </a:lnTo>
                  <a:close/>
                </a:path>
                <a:path w="154304" h="2270760">
                  <a:moveTo>
                    <a:pt x="134112" y="2057400"/>
                  </a:moveTo>
                  <a:lnTo>
                    <a:pt x="0" y="2057400"/>
                  </a:lnTo>
                  <a:lnTo>
                    <a:pt x="0" y="2133600"/>
                  </a:lnTo>
                  <a:lnTo>
                    <a:pt x="134112" y="2133600"/>
                  </a:lnTo>
                  <a:lnTo>
                    <a:pt x="134112" y="2057400"/>
                  </a:lnTo>
                  <a:close/>
                </a:path>
                <a:path w="154304" h="2270760">
                  <a:moveTo>
                    <a:pt x="140208" y="2194560"/>
                  </a:moveTo>
                  <a:lnTo>
                    <a:pt x="0" y="2194560"/>
                  </a:lnTo>
                  <a:lnTo>
                    <a:pt x="0" y="2270760"/>
                  </a:lnTo>
                  <a:lnTo>
                    <a:pt x="140208" y="2270760"/>
                  </a:lnTo>
                  <a:lnTo>
                    <a:pt x="140208" y="2194560"/>
                  </a:lnTo>
                  <a:close/>
                </a:path>
                <a:path w="154304" h="2270760">
                  <a:moveTo>
                    <a:pt x="144780" y="1783080"/>
                  </a:moveTo>
                  <a:lnTo>
                    <a:pt x="0" y="1783080"/>
                  </a:lnTo>
                  <a:lnTo>
                    <a:pt x="0" y="1859280"/>
                  </a:lnTo>
                  <a:lnTo>
                    <a:pt x="144780" y="1859280"/>
                  </a:lnTo>
                  <a:lnTo>
                    <a:pt x="144780" y="1783080"/>
                  </a:lnTo>
                  <a:close/>
                </a:path>
                <a:path w="154304" h="2270760">
                  <a:moveTo>
                    <a:pt x="153924" y="1645920"/>
                  </a:moveTo>
                  <a:lnTo>
                    <a:pt x="0" y="1645920"/>
                  </a:lnTo>
                  <a:lnTo>
                    <a:pt x="0" y="1722120"/>
                  </a:lnTo>
                  <a:lnTo>
                    <a:pt x="153924" y="1722120"/>
                  </a:lnTo>
                  <a:lnTo>
                    <a:pt x="153924" y="164592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958839" y="1834895"/>
              <a:ext cx="0" cy="3977640"/>
            </a:xfrm>
            <a:custGeom>
              <a:avLst/>
              <a:gdLst/>
              <a:ahLst/>
              <a:cxnLst/>
              <a:rect l="l" t="t" r="r" b="b"/>
              <a:pathLst>
                <a:path w="0" h="3977640">
                  <a:moveTo>
                    <a:pt x="0" y="0"/>
                  </a:moveTo>
                  <a:lnTo>
                    <a:pt x="0" y="397764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0" name="object 220"/>
          <p:cNvGrpSpPr/>
          <p:nvPr/>
        </p:nvGrpSpPr>
        <p:grpSpPr>
          <a:xfrm>
            <a:off x="9447276" y="3386328"/>
            <a:ext cx="123825" cy="2284095"/>
            <a:chOff x="9447276" y="3386328"/>
            <a:chExt cx="123825" cy="2284095"/>
          </a:xfrm>
        </p:grpSpPr>
        <p:sp>
          <p:nvSpPr>
            <p:cNvPr id="221" name="object 221"/>
            <p:cNvSpPr/>
            <p:nvPr/>
          </p:nvSpPr>
          <p:spPr>
            <a:xfrm>
              <a:off x="9471660" y="3386328"/>
              <a:ext cx="76200" cy="2284095"/>
            </a:xfrm>
            <a:custGeom>
              <a:avLst/>
              <a:gdLst/>
              <a:ahLst/>
              <a:cxnLst/>
              <a:rect l="l" t="t" r="r" b="b"/>
              <a:pathLst>
                <a:path w="76200" h="2284095">
                  <a:moveTo>
                    <a:pt x="30099" y="2207387"/>
                  </a:moveTo>
                  <a:lnTo>
                    <a:pt x="0" y="2207387"/>
                  </a:lnTo>
                  <a:lnTo>
                    <a:pt x="38100" y="2283587"/>
                  </a:lnTo>
                  <a:lnTo>
                    <a:pt x="69850" y="2220087"/>
                  </a:lnTo>
                  <a:lnTo>
                    <a:pt x="30099" y="2220087"/>
                  </a:lnTo>
                  <a:lnTo>
                    <a:pt x="30099" y="2207387"/>
                  </a:lnTo>
                  <a:close/>
                </a:path>
                <a:path w="76200" h="228409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2220087"/>
                  </a:lnTo>
                  <a:lnTo>
                    <a:pt x="45974" y="22200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2284095">
                  <a:moveTo>
                    <a:pt x="76200" y="2207387"/>
                  </a:moveTo>
                  <a:lnTo>
                    <a:pt x="45974" y="2207387"/>
                  </a:lnTo>
                  <a:lnTo>
                    <a:pt x="45974" y="2220087"/>
                  </a:lnTo>
                  <a:lnTo>
                    <a:pt x="69850" y="2220087"/>
                  </a:lnTo>
                  <a:lnTo>
                    <a:pt x="76200" y="2207387"/>
                  </a:lnTo>
                  <a:close/>
                </a:path>
                <a:path w="76200" h="228409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28409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228409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9447276" y="3764280"/>
              <a:ext cx="123825" cy="1397635"/>
            </a:xfrm>
            <a:custGeom>
              <a:avLst/>
              <a:gdLst/>
              <a:ahLst/>
              <a:cxnLst/>
              <a:rect l="l" t="t" r="r" b="b"/>
              <a:pathLst>
                <a:path w="123825" h="1397635">
                  <a:moveTo>
                    <a:pt x="123444" y="0"/>
                  </a:moveTo>
                  <a:lnTo>
                    <a:pt x="0" y="0"/>
                  </a:lnTo>
                  <a:lnTo>
                    <a:pt x="0" y="1397508"/>
                  </a:lnTo>
                  <a:lnTo>
                    <a:pt x="123444" y="1397508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3" name="object 223"/>
          <p:cNvSpPr txBox="1"/>
          <p:nvPr/>
        </p:nvSpPr>
        <p:spPr>
          <a:xfrm>
            <a:off x="9454260" y="3816113"/>
            <a:ext cx="127635" cy="12973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Ordered</a:t>
            </a:r>
            <a:r>
              <a:rPr dirty="0" sz="8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by</a:t>
            </a:r>
            <a:r>
              <a:rPr dirty="0" sz="8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8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4" name="object 224"/>
          <p:cNvSpPr/>
          <p:nvPr/>
        </p:nvSpPr>
        <p:spPr>
          <a:xfrm>
            <a:off x="9510521" y="3313938"/>
            <a:ext cx="2354580" cy="0"/>
          </a:xfrm>
          <a:custGeom>
            <a:avLst/>
            <a:gdLst/>
            <a:ahLst/>
            <a:cxnLst/>
            <a:rect l="l" t="t" r="r" b="b"/>
            <a:pathLst>
              <a:path w="2354579" h="0">
                <a:moveTo>
                  <a:pt x="0" y="0"/>
                </a:moveTo>
                <a:lnTo>
                  <a:pt x="2354579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 txBox="1"/>
          <p:nvPr/>
        </p:nvSpPr>
        <p:spPr>
          <a:xfrm>
            <a:off x="11524868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226" name="object 226"/>
          <p:cNvGraphicFramePr>
            <a:graphicFrameLocks noGrp="1"/>
          </p:cNvGraphicFramePr>
          <p:nvPr/>
        </p:nvGraphicFramePr>
        <p:xfrm>
          <a:off x="11392154" y="3368675"/>
          <a:ext cx="568325" cy="2394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144.74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146.57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164.89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98.93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115.42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133.74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119.09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71.45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87.94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227" name="object 227"/>
          <p:cNvSpPr/>
          <p:nvPr/>
        </p:nvSpPr>
        <p:spPr>
          <a:xfrm>
            <a:off x="3470147" y="3758184"/>
            <a:ext cx="0" cy="496570"/>
          </a:xfrm>
          <a:custGeom>
            <a:avLst/>
            <a:gdLst/>
            <a:ahLst/>
            <a:cxnLst/>
            <a:rect l="l" t="t" r="r" b="b"/>
            <a:pathLst>
              <a:path w="0" h="496570">
                <a:moveTo>
                  <a:pt x="0" y="0"/>
                </a:moveTo>
                <a:lnTo>
                  <a:pt x="0" y="496062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3470147" y="2558795"/>
            <a:ext cx="0" cy="497205"/>
          </a:xfrm>
          <a:custGeom>
            <a:avLst/>
            <a:gdLst/>
            <a:ahLst/>
            <a:cxnLst/>
            <a:rect l="l" t="t" r="r" b="b"/>
            <a:pathLst>
              <a:path w="0" h="497205">
                <a:moveTo>
                  <a:pt x="0" y="0"/>
                </a:moveTo>
                <a:lnTo>
                  <a:pt x="0" y="496823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 txBox="1"/>
          <p:nvPr/>
        </p:nvSpPr>
        <p:spPr>
          <a:xfrm>
            <a:off x="3414648" y="3094218"/>
            <a:ext cx="127635" cy="6280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808080"/>
                </a:solidFill>
                <a:latin typeface="Calibri"/>
                <a:cs typeface="Calibri"/>
              </a:rPr>
              <a:t>Differentiators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0" name="object 230"/>
          <p:cNvSpPr/>
          <p:nvPr/>
        </p:nvSpPr>
        <p:spPr>
          <a:xfrm>
            <a:off x="3471671" y="5233415"/>
            <a:ext cx="0" cy="577850"/>
          </a:xfrm>
          <a:custGeom>
            <a:avLst/>
            <a:gdLst/>
            <a:ahLst/>
            <a:cxnLst/>
            <a:rect l="l" t="t" r="r" b="b"/>
            <a:pathLst>
              <a:path w="0" h="577850">
                <a:moveTo>
                  <a:pt x="0" y="0"/>
                </a:moveTo>
                <a:lnTo>
                  <a:pt x="0" y="577684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3471671" y="432511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 txBox="1"/>
          <p:nvPr/>
        </p:nvSpPr>
        <p:spPr>
          <a:xfrm>
            <a:off x="3415665" y="4938459"/>
            <a:ext cx="127635" cy="2616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7E6600"/>
                </a:solidFill>
                <a:latin typeface="Calibri"/>
                <a:cs typeface="Calibri"/>
              </a:rPr>
              <a:t>Niche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31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D5E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4438" y="407328"/>
              <a:ext cx="75810" cy="758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0603" y="250206"/>
              <a:ext cx="151620" cy="232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595702" y="217698"/>
              <a:ext cx="303530" cy="227965"/>
            </a:xfrm>
            <a:custGeom>
              <a:avLst/>
              <a:gdLst/>
              <a:ahLst/>
              <a:cxnLst/>
              <a:rect l="l" t="t" r="r" b="b"/>
              <a:pathLst>
                <a:path w="303529" h="227965">
                  <a:moveTo>
                    <a:pt x="303240" y="0"/>
                  </a:moveTo>
                  <a:lnTo>
                    <a:pt x="0" y="0"/>
                  </a:lnTo>
                  <a:lnTo>
                    <a:pt x="0" y="227555"/>
                  </a:lnTo>
                  <a:lnTo>
                    <a:pt x="32490" y="227555"/>
                  </a:lnTo>
                  <a:lnTo>
                    <a:pt x="36746" y="206467"/>
                  </a:lnTo>
                  <a:lnTo>
                    <a:pt x="48351" y="189245"/>
                  </a:lnTo>
                  <a:lnTo>
                    <a:pt x="65563" y="177633"/>
                  </a:lnTo>
                  <a:lnTo>
                    <a:pt x="86640" y="173375"/>
                  </a:lnTo>
                  <a:lnTo>
                    <a:pt x="303240" y="173375"/>
                  </a:lnTo>
                  <a:lnTo>
                    <a:pt x="303240" y="147129"/>
                  </a:lnTo>
                  <a:lnTo>
                    <a:pt x="107055" y="147129"/>
                  </a:lnTo>
                  <a:lnTo>
                    <a:pt x="100778" y="140840"/>
                  </a:lnTo>
                  <a:lnTo>
                    <a:pt x="100787" y="135788"/>
                  </a:lnTo>
                  <a:lnTo>
                    <a:pt x="103905" y="132632"/>
                  </a:lnTo>
                  <a:lnTo>
                    <a:pt x="147965" y="91491"/>
                  </a:lnTo>
                  <a:lnTo>
                    <a:pt x="150009" y="89446"/>
                  </a:lnTo>
                  <a:lnTo>
                    <a:pt x="130795" y="89446"/>
                  </a:lnTo>
                  <a:lnTo>
                    <a:pt x="123615" y="86407"/>
                  </a:lnTo>
                  <a:lnTo>
                    <a:pt x="118931" y="80709"/>
                  </a:lnTo>
                  <a:lnTo>
                    <a:pt x="113183" y="74158"/>
                  </a:lnTo>
                  <a:lnTo>
                    <a:pt x="107686" y="67398"/>
                  </a:lnTo>
                  <a:lnTo>
                    <a:pt x="102446" y="60436"/>
                  </a:lnTo>
                  <a:lnTo>
                    <a:pt x="97470" y="53281"/>
                  </a:lnTo>
                  <a:lnTo>
                    <a:pt x="99830" y="50929"/>
                  </a:lnTo>
                  <a:lnTo>
                    <a:pt x="105489" y="50929"/>
                  </a:lnTo>
                  <a:lnTo>
                    <a:pt x="102646" y="48084"/>
                  </a:lnTo>
                  <a:lnTo>
                    <a:pt x="106436" y="44292"/>
                  </a:lnTo>
                  <a:lnTo>
                    <a:pt x="112095" y="44292"/>
                  </a:lnTo>
                  <a:lnTo>
                    <a:pt x="109270" y="41465"/>
                  </a:lnTo>
                  <a:lnTo>
                    <a:pt x="113060" y="37673"/>
                  </a:lnTo>
                  <a:lnTo>
                    <a:pt x="118687" y="37673"/>
                  </a:lnTo>
                  <a:lnTo>
                    <a:pt x="115881" y="34869"/>
                  </a:lnTo>
                  <a:lnTo>
                    <a:pt x="118232" y="32507"/>
                  </a:lnTo>
                  <a:lnTo>
                    <a:pt x="303240" y="32507"/>
                  </a:lnTo>
                  <a:lnTo>
                    <a:pt x="303240" y="0"/>
                  </a:lnTo>
                  <a:close/>
                </a:path>
                <a:path w="303529" h="227965">
                  <a:moveTo>
                    <a:pt x="303240" y="173375"/>
                  </a:moveTo>
                  <a:lnTo>
                    <a:pt x="86640" y="173375"/>
                  </a:lnTo>
                  <a:lnTo>
                    <a:pt x="107717" y="177633"/>
                  </a:lnTo>
                  <a:lnTo>
                    <a:pt x="124929" y="189245"/>
                  </a:lnTo>
                  <a:lnTo>
                    <a:pt x="136535" y="206467"/>
                  </a:lnTo>
                  <a:lnTo>
                    <a:pt x="140790" y="227555"/>
                  </a:lnTo>
                  <a:lnTo>
                    <a:pt x="303241" y="227555"/>
                  </a:lnTo>
                  <a:lnTo>
                    <a:pt x="303240" y="173375"/>
                  </a:lnTo>
                  <a:close/>
                </a:path>
                <a:path w="303529" h="227965">
                  <a:moveTo>
                    <a:pt x="155466" y="99930"/>
                  </a:moveTo>
                  <a:lnTo>
                    <a:pt x="154594" y="100855"/>
                  </a:lnTo>
                  <a:lnTo>
                    <a:pt x="115267" y="143992"/>
                  </a:lnTo>
                  <a:lnTo>
                    <a:pt x="112131" y="147129"/>
                  </a:lnTo>
                  <a:lnTo>
                    <a:pt x="200614" y="147129"/>
                  </a:lnTo>
                  <a:lnTo>
                    <a:pt x="197404" y="143992"/>
                  </a:lnTo>
                  <a:lnTo>
                    <a:pt x="165455" y="110075"/>
                  </a:lnTo>
                  <a:lnTo>
                    <a:pt x="167360" y="109610"/>
                  </a:lnTo>
                  <a:lnTo>
                    <a:pt x="169083" y="108599"/>
                  </a:lnTo>
                  <a:lnTo>
                    <a:pt x="170419" y="107163"/>
                  </a:lnTo>
                  <a:lnTo>
                    <a:pt x="173695" y="103483"/>
                  </a:lnTo>
                  <a:lnTo>
                    <a:pt x="162730" y="103483"/>
                  </a:lnTo>
                  <a:lnTo>
                    <a:pt x="157437" y="100855"/>
                  </a:lnTo>
                  <a:lnTo>
                    <a:pt x="155466" y="99930"/>
                  </a:lnTo>
                  <a:close/>
                </a:path>
                <a:path w="303529" h="227965">
                  <a:moveTo>
                    <a:pt x="303240" y="101343"/>
                  </a:moveTo>
                  <a:lnTo>
                    <a:pt x="175599" y="101343"/>
                  </a:lnTo>
                  <a:lnTo>
                    <a:pt x="208748" y="132632"/>
                  </a:lnTo>
                  <a:lnTo>
                    <a:pt x="211826" y="135788"/>
                  </a:lnTo>
                  <a:lnTo>
                    <a:pt x="211813" y="140840"/>
                  </a:lnTo>
                  <a:lnTo>
                    <a:pt x="208748" y="143992"/>
                  </a:lnTo>
                  <a:lnTo>
                    <a:pt x="205539" y="147129"/>
                  </a:lnTo>
                  <a:lnTo>
                    <a:pt x="303240" y="147129"/>
                  </a:lnTo>
                  <a:lnTo>
                    <a:pt x="303240" y="101343"/>
                  </a:lnTo>
                  <a:close/>
                </a:path>
                <a:path w="303529" h="227965">
                  <a:moveTo>
                    <a:pt x="303240" y="38797"/>
                  </a:moveTo>
                  <a:lnTo>
                    <a:pt x="204001" y="38797"/>
                  </a:lnTo>
                  <a:lnTo>
                    <a:pt x="206091" y="40887"/>
                  </a:lnTo>
                  <a:lnTo>
                    <a:pt x="206839" y="42253"/>
                  </a:lnTo>
                  <a:lnTo>
                    <a:pt x="164336" y="101754"/>
                  </a:lnTo>
                  <a:lnTo>
                    <a:pt x="162730" y="103483"/>
                  </a:lnTo>
                  <a:lnTo>
                    <a:pt x="173695" y="103483"/>
                  </a:lnTo>
                  <a:lnTo>
                    <a:pt x="175599" y="101343"/>
                  </a:lnTo>
                  <a:lnTo>
                    <a:pt x="303240" y="101343"/>
                  </a:lnTo>
                  <a:lnTo>
                    <a:pt x="303240" y="38797"/>
                  </a:lnTo>
                  <a:close/>
                </a:path>
                <a:path w="303529" h="227965">
                  <a:moveTo>
                    <a:pt x="303240" y="32507"/>
                  </a:moveTo>
                  <a:lnTo>
                    <a:pt x="118232" y="32507"/>
                  </a:lnTo>
                  <a:lnTo>
                    <a:pt x="125403" y="37453"/>
                  </a:lnTo>
                  <a:lnTo>
                    <a:pt x="132345" y="42710"/>
                  </a:lnTo>
                  <a:lnTo>
                    <a:pt x="139046" y="48270"/>
                  </a:lnTo>
                  <a:lnTo>
                    <a:pt x="145496" y="54125"/>
                  </a:lnTo>
                  <a:lnTo>
                    <a:pt x="151191" y="58812"/>
                  </a:lnTo>
                  <a:lnTo>
                    <a:pt x="154224" y="65995"/>
                  </a:lnTo>
                  <a:lnTo>
                    <a:pt x="153731" y="71982"/>
                  </a:lnTo>
                  <a:lnTo>
                    <a:pt x="153619" y="73350"/>
                  </a:lnTo>
                  <a:lnTo>
                    <a:pt x="153524" y="73842"/>
                  </a:lnTo>
                  <a:lnTo>
                    <a:pt x="153438" y="74524"/>
                  </a:lnTo>
                  <a:lnTo>
                    <a:pt x="142414" y="85568"/>
                  </a:lnTo>
                  <a:lnTo>
                    <a:pt x="138907" y="88836"/>
                  </a:lnTo>
                  <a:lnTo>
                    <a:pt x="138141" y="88836"/>
                  </a:lnTo>
                  <a:lnTo>
                    <a:pt x="130795" y="89446"/>
                  </a:lnTo>
                  <a:lnTo>
                    <a:pt x="150009" y="89446"/>
                  </a:lnTo>
                  <a:lnTo>
                    <a:pt x="198541" y="40887"/>
                  </a:lnTo>
                  <a:lnTo>
                    <a:pt x="200599" y="38797"/>
                  </a:lnTo>
                  <a:lnTo>
                    <a:pt x="303240" y="38797"/>
                  </a:lnTo>
                  <a:lnTo>
                    <a:pt x="303240" y="32507"/>
                  </a:lnTo>
                  <a:close/>
                </a:path>
                <a:path w="303529" h="227965">
                  <a:moveTo>
                    <a:pt x="105489" y="50929"/>
                  </a:moveTo>
                  <a:lnTo>
                    <a:pt x="99830" y="50929"/>
                  </a:lnTo>
                  <a:lnTo>
                    <a:pt x="127492" y="78605"/>
                  </a:lnTo>
                  <a:lnTo>
                    <a:pt x="128760" y="78605"/>
                  </a:lnTo>
                  <a:lnTo>
                    <a:pt x="130321" y="77048"/>
                  </a:lnTo>
                  <a:lnTo>
                    <a:pt x="130325" y="75779"/>
                  </a:lnTo>
                  <a:lnTo>
                    <a:pt x="105489" y="50929"/>
                  </a:lnTo>
                  <a:close/>
                </a:path>
                <a:path w="303529" h="227965">
                  <a:moveTo>
                    <a:pt x="112095" y="44292"/>
                  </a:moveTo>
                  <a:lnTo>
                    <a:pt x="106436" y="44292"/>
                  </a:lnTo>
                  <a:lnTo>
                    <a:pt x="134116" y="71982"/>
                  </a:lnTo>
                  <a:lnTo>
                    <a:pt x="135384" y="71982"/>
                  </a:lnTo>
                  <a:lnTo>
                    <a:pt x="136945" y="70420"/>
                  </a:lnTo>
                  <a:lnTo>
                    <a:pt x="136941" y="69151"/>
                  </a:lnTo>
                  <a:lnTo>
                    <a:pt x="112095" y="44292"/>
                  </a:lnTo>
                  <a:close/>
                </a:path>
                <a:path w="303529" h="227965">
                  <a:moveTo>
                    <a:pt x="118687" y="37673"/>
                  </a:moveTo>
                  <a:lnTo>
                    <a:pt x="113060" y="37673"/>
                  </a:lnTo>
                  <a:lnTo>
                    <a:pt x="140736" y="65363"/>
                  </a:lnTo>
                  <a:lnTo>
                    <a:pt x="142004" y="65363"/>
                  </a:lnTo>
                  <a:lnTo>
                    <a:pt x="143565" y="63796"/>
                  </a:lnTo>
                  <a:lnTo>
                    <a:pt x="143565" y="62528"/>
                  </a:lnTo>
                  <a:lnTo>
                    <a:pt x="118687" y="37673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0"/>
            <a:ext cx="3096895" cy="6858000"/>
          </a:xfrm>
          <a:custGeom>
            <a:avLst/>
            <a:gdLst/>
            <a:ahLst/>
            <a:cxnLst/>
            <a:rect l="l" t="t" r="r" b="b"/>
            <a:pathLst>
              <a:path w="3096895" h="6858000">
                <a:moveTo>
                  <a:pt x="3096768" y="0"/>
                </a:moveTo>
                <a:lnTo>
                  <a:pt x="0" y="0"/>
                </a:lnTo>
                <a:lnTo>
                  <a:pt x="0" y="6858000"/>
                </a:lnTo>
                <a:lnTo>
                  <a:pt x="3096768" y="6858000"/>
                </a:lnTo>
                <a:lnTo>
                  <a:pt x="3096768" y="0"/>
                </a:lnTo>
                <a:close/>
              </a:path>
            </a:pathLst>
          </a:custGeom>
          <a:solidFill>
            <a:srgbClr val="D5E6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663" y="2313558"/>
            <a:ext cx="12103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031739"/>
                </a:solidFill>
                <a:latin typeface="Calibri"/>
                <a:cs typeface="Calibri"/>
              </a:rPr>
              <a:t>Fitness</a:t>
            </a:r>
            <a:r>
              <a:rPr dirty="0" sz="1600" spc="-75" b="1" i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031739"/>
                </a:solidFill>
                <a:latin typeface="Calibri"/>
                <a:cs typeface="Calibri"/>
              </a:rPr>
              <a:t>Youths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3095625" cy="3811904"/>
            <a:chOff x="0" y="0"/>
            <a:chExt cx="3095625" cy="3811904"/>
          </a:xfrm>
        </p:grpSpPr>
        <p:pic>
          <p:nvPicPr>
            <p:cNvPr id="13" name="object 13" descr="People weight traini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095243" cy="21976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41475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41475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1667" y="2743200"/>
              <a:ext cx="702945" cy="512445"/>
            </a:xfrm>
            <a:custGeom>
              <a:avLst/>
              <a:gdLst/>
              <a:ahLst/>
              <a:cxnLst/>
              <a:rect l="l" t="t" r="r" b="b"/>
              <a:pathLst>
                <a:path w="702944" h="512445">
                  <a:moveTo>
                    <a:pt x="702563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702563" y="512063"/>
                  </a:lnTo>
                  <a:lnTo>
                    <a:pt x="70256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1667" y="2743200"/>
              <a:ext cx="702945" cy="512445"/>
            </a:xfrm>
            <a:custGeom>
              <a:avLst/>
              <a:gdLst/>
              <a:ahLst/>
              <a:cxnLst/>
              <a:rect l="l" t="t" r="r" b="b"/>
              <a:pathLst>
                <a:path w="702944" h="512445">
                  <a:moveTo>
                    <a:pt x="0" y="512063"/>
                  </a:moveTo>
                  <a:lnTo>
                    <a:pt x="702563" y="512063"/>
                  </a:lnTo>
                  <a:lnTo>
                    <a:pt x="702563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40636" y="2743200"/>
              <a:ext cx="660400" cy="512445"/>
            </a:xfrm>
            <a:custGeom>
              <a:avLst/>
              <a:gdLst/>
              <a:ahLst/>
              <a:cxnLst/>
              <a:rect l="l" t="t" r="r" b="b"/>
              <a:pathLst>
                <a:path w="660400" h="512445">
                  <a:moveTo>
                    <a:pt x="659892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59892" y="512063"/>
                  </a:lnTo>
                  <a:lnTo>
                    <a:pt x="6598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40636" y="2743200"/>
              <a:ext cx="660400" cy="512445"/>
            </a:xfrm>
            <a:custGeom>
              <a:avLst/>
              <a:gdLst/>
              <a:ahLst/>
              <a:cxnLst/>
              <a:rect l="l" t="t" r="r" b="b"/>
              <a:pathLst>
                <a:path w="660400" h="512445">
                  <a:moveTo>
                    <a:pt x="0" y="512063"/>
                  </a:moveTo>
                  <a:lnTo>
                    <a:pt x="659892" y="512063"/>
                  </a:lnTo>
                  <a:lnTo>
                    <a:pt x="659892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59052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4328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2816" y="512063"/>
                  </a:lnTo>
                  <a:lnTo>
                    <a:pt x="43281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559052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0" y="512063"/>
                  </a:moveTo>
                  <a:lnTo>
                    <a:pt x="432816" y="512063"/>
                  </a:lnTo>
                  <a:lnTo>
                    <a:pt x="4328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74520" y="3294888"/>
              <a:ext cx="824865" cy="510540"/>
            </a:xfrm>
            <a:custGeom>
              <a:avLst/>
              <a:gdLst/>
              <a:ahLst/>
              <a:cxnLst/>
              <a:rect l="l" t="t" r="r" b="b"/>
              <a:pathLst>
                <a:path w="824864" h="510539">
                  <a:moveTo>
                    <a:pt x="824483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824483" y="510539"/>
                  </a:lnTo>
                  <a:lnTo>
                    <a:pt x="8244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74520" y="3294888"/>
              <a:ext cx="824865" cy="510540"/>
            </a:xfrm>
            <a:custGeom>
              <a:avLst/>
              <a:gdLst/>
              <a:ahLst/>
              <a:cxnLst/>
              <a:rect l="l" t="t" r="r" b="b"/>
              <a:pathLst>
                <a:path w="824864" h="510539">
                  <a:moveTo>
                    <a:pt x="0" y="510539"/>
                  </a:moveTo>
                  <a:lnTo>
                    <a:pt x="824483" y="510539"/>
                  </a:lnTo>
                  <a:lnTo>
                    <a:pt x="824483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59052" y="3294888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266699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266699" y="510539"/>
                  </a:lnTo>
                  <a:lnTo>
                    <a:pt x="26669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59052" y="3294888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0" y="510539"/>
                  </a:moveTo>
                  <a:lnTo>
                    <a:pt x="266699" y="510539"/>
                  </a:lnTo>
                  <a:lnTo>
                    <a:pt x="266699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1667" y="3294888"/>
              <a:ext cx="457200" cy="510540"/>
            </a:xfrm>
            <a:custGeom>
              <a:avLst/>
              <a:gdLst/>
              <a:ahLst/>
              <a:cxnLst/>
              <a:rect l="l" t="t" r="r" b="b"/>
              <a:pathLst>
                <a:path w="457200" h="510539">
                  <a:moveTo>
                    <a:pt x="4572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457200" y="51053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1667" y="3294888"/>
              <a:ext cx="457200" cy="510540"/>
            </a:xfrm>
            <a:custGeom>
              <a:avLst/>
              <a:gdLst/>
              <a:ahLst/>
              <a:cxnLst/>
              <a:rect l="l" t="t" r="r" b="b"/>
              <a:pathLst>
                <a:path w="457200" h="510539">
                  <a:moveTo>
                    <a:pt x="0" y="510539"/>
                  </a:moveTo>
                  <a:lnTo>
                    <a:pt x="457200" y="510539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6111" y="3294888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615695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615695" y="510539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96111" y="3294888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0" y="510539"/>
                  </a:moveTo>
                  <a:lnTo>
                    <a:pt x="615695" y="510539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7370" y="3464342"/>
              <a:ext cx="172356" cy="172451"/>
            </a:xfrm>
            <a:prstGeom prst="rect">
              <a:avLst/>
            </a:prstGeom>
          </p:spPr>
        </p:pic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Channel</a:t>
            </a:r>
            <a:r>
              <a:rPr dirty="0" spc="-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&amp;</a:t>
            </a:r>
            <a:r>
              <a:rPr dirty="0" spc="-8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Brand: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/>
              <a:t>optimize</a:t>
            </a:r>
            <a:r>
              <a:rPr dirty="0" spc="-75"/>
              <a:t> </a:t>
            </a:r>
            <a:r>
              <a:rPr dirty="0"/>
              <a:t>availability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products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352038" y="6345428"/>
            <a:ext cx="7392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1.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Ordered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overall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importance;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2.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Percentages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channel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(i.e.,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online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sales,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in-store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in-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store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sales)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663" y="3965194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1200" spc="-4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highlights: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1668" y="4213859"/>
            <a:ext cx="2313940" cy="0"/>
          </a:xfrm>
          <a:custGeom>
            <a:avLst/>
            <a:gdLst/>
            <a:ahLst/>
            <a:cxnLst/>
            <a:rect l="l" t="t" r="r" b="b"/>
            <a:pathLst>
              <a:path w="2313940" h="0">
                <a:moveTo>
                  <a:pt x="231381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3173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6474333" y="1235963"/>
            <a:ext cx="5520690" cy="1732914"/>
            <a:chOff x="6474333" y="1235963"/>
            <a:chExt cx="5520690" cy="1732914"/>
          </a:xfrm>
        </p:grpSpPr>
        <p:sp>
          <p:nvSpPr>
            <p:cNvPr id="36" name="object 36"/>
            <p:cNvSpPr/>
            <p:nvPr/>
          </p:nvSpPr>
          <p:spPr>
            <a:xfrm>
              <a:off x="6483858" y="1309877"/>
              <a:ext cx="5501640" cy="1649095"/>
            </a:xfrm>
            <a:custGeom>
              <a:avLst/>
              <a:gdLst/>
              <a:ahLst/>
              <a:cxnLst/>
              <a:rect l="l" t="t" r="r" b="b"/>
              <a:pathLst>
                <a:path w="5501640" h="1649095">
                  <a:moveTo>
                    <a:pt x="0" y="1648968"/>
                  </a:moveTo>
                  <a:lnTo>
                    <a:pt x="5501640" y="1648968"/>
                  </a:lnTo>
                  <a:lnTo>
                    <a:pt x="5501640" y="0"/>
                  </a:lnTo>
                  <a:lnTo>
                    <a:pt x="0" y="0"/>
                  </a:lnTo>
                  <a:lnTo>
                    <a:pt x="0" y="1648968"/>
                  </a:lnTo>
                  <a:close/>
                </a:path>
              </a:pathLst>
            </a:custGeom>
            <a:ln w="1904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48700" y="1235963"/>
              <a:ext cx="1169035" cy="140335"/>
            </a:xfrm>
            <a:custGeom>
              <a:avLst/>
              <a:gdLst/>
              <a:ahLst/>
              <a:cxnLst/>
              <a:rect l="l" t="t" r="r" b="b"/>
              <a:pathLst>
                <a:path w="1169034" h="140334">
                  <a:moveTo>
                    <a:pt x="1168907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1168907" y="14020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3354704" y="1300352"/>
            <a:ext cx="2985135" cy="4669155"/>
            <a:chOff x="3354704" y="1300352"/>
            <a:chExt cx="2985135" cy="4669155"/>
          </a:xfrm>
        </p:grpSpPr>
        <p:sp>
          <p:nvSpPr>
            <p:cNvPr id="39" name="object 39"/>
            <p:cNvSpPr/>
            <p:nvPr/>
          </p:nvSpPr>
          <p:spPr>
            <a:xfrm>
              <a:off x="3364229" y="1309877"/>
              <a:ext cx="2966085" cy="4650105"/>
            </a:xfrm>
            <a:custGeom>
              <a:avLst/>
              <a:gdLst/>
              <a:ahLst/>
              <a:cxnLst/>
              <a:rect l="l" t="t" r="r" b="b"/>
              <a:pathLst>
                <a:path w="2966085" h="4650105">
                  <a:moveTo>
                    <a:pt x="0" y="4649724"/>
                  </a:moveTo>
                  <a:lnTo>
                    <a:pt x="2965704" y="4649724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4631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0445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4631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20445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84631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0445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4631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20445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846320" y="23827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04459" y="25199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846320" y="26570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84631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20445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846320" y="30685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619118" y="320573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631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20445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562600" y="320573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846320" y="334289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846320" y="348005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84631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20445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846320" y="37543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846320" y="389153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204459" y="402869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19118" y="4165854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846319" y="416585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204459" y="416585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562600" y="4165854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84631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20445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19118" y="444017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1227226" y="137159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846320" y="44401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562600" y="444017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705281" y="137159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84631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20445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84631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20445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846320" y="4851654"/>
              <a:ext cx="716280" cy="411480"/>
            </a:xfrm>
            <a:custGeom>
              <a:avLst/>
              <a:gdLst/>
              <a:ahLst/>
              <a:cxnLst/>
              <a:rect l="l" t="t" r="r" b="b"/>
              <a:pathLst>
                <a:path w="716279" h="41147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0" y="411480"/>
                  </a:lnTo>
                  <a:lnTo>
                    <a:pt x="358140" y="411480"/>
                  </a:lnTo>
                  <a:lnTo>
                    <a:pt x="716280" y="41148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846320" y="526313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619118" y="540029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1227226" y="137159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84631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20445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562600" y="540029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705281" y="137159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84631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20445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19118" y="5674677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846320" y="5674677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562600" y="5674677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612768" y="1701800"/>
              <a:ext cx="2661920" cy="4116704"/>
            </a:xfrm>
            <a:custGeom>
              <a:avLst/>
              <a:gdLst/>
              <a:ahLst/>
              <a:cxnLst/>
              <a:rect l="l" t="t" r="r" b="b"/>
              <a:pathLst>
                <a:path w="2661920" h="4116704">
                  <a:moveTo>
                    <a:pt x="1233551" y="0"/>
                  </a:moveTo>
                  <a:lnTo>
                    <a:pt x="1233551" y="4116387"/>
                  </a:lnTo>
                </a:path>
                <a:path w="2661920" h="4116704">
                  <a:moveTo>
                    <a:pt x="1591690" y="0"/>
                  </a:moveTo>
                  <a:lnTo>
                    <a:pt x="1591690" y="4116387"/>
                  </a:lnTo>
                </a:path>
                <a:path w="2661920" h="4116704">
                  <a:moveTo>
                    <a:pt x="1949830" y="0"/>
                  </a:moveTo>
                  <a:lnTo>
                    <a:pt x="1949830" y="4116387"/>
                  </a:lnTo>
                </a:path>
                <a:path w="2661920" h="4116704">
                  <a:moveTo>
                    <a:pt x="0" y="132207"/>
                  </a:moveTo>
                  <a:lnTo>
                    <a:pt x="2661411" y="132207"/>
                  </a:lnTo>
                </a:path>
                <a:path w="2661920" h="4116704">
                  <a:moveTo>
                    <a:pt x="0" y="269366"/>
                  </a:moveTo>
                  <a:lnTo>
                    <a:pt x="2661411" y="269366"/>
                  </a:lnTo>
                </a:path>
                <a:path w="2661920" h="4116704">
                  <a:moveTo>
                    <a:pt x="0" y="406526"/>
                  </a:moveTo>
                  <a:lnTo>
                    <a:pt x="2661411" y="406526"/>
                  </a:lnTo>
                </a:path>
                <a:path w="2661920" h="4116704">
                  <a:moveTo>
                    <a:pt x="0" y="543687"/>
                  </a:moveTo>
                  <a:lnTo>
                    <a:pt x="2661411" y="543687"/>
                  </a:lnTo>
                </a:path>
                <a:path w="2661920" h="4116704">
                  <a:moveTo>
                    <a:pt x="0" y="680974"/>
                  </a:moveTo>
                  <a:lnTo>
                    <a:pt x="2661411" y="680974"/>
                  </a:lnTo>
                </a:path>
                <a:path w="2661920" h="4116704">
                  <a:moveTo>
                    <a:pt x="0" y="818134"/>
                  </a:moveTo>
                  <a:lnTo>
                    <a:pt x="2661411" y="818134"/>
                  </a:lnTo>
                </a:path>
                <a:path w="2661920" h="4116704">
                  <a:moveTo>
                    <a:pt x="0" y="955294"/>
                  </a:moveTo>
                  <a:lnTo>
                    <a:pt x="2661411" y="955294"/>
                  </a:lnTo>
                </a:path>
                <a:path w="2661920" h="4116704">
                  <a:moveTo>
                    <a:pt x="0" y="1092453"/>
                  </a:moveTo>
                  <a:lnTo>
                    <a:pt x="2661411" y="1092453"/>
                  </a:lnTo>
                </a:path>
                <a:path w="2661920" h="4116704">
                  <a:moveTo>
                    <a:pt x="0" y="1229614"/>
                  </a:moveTo>
                  <a:lnTo>
                    <a:pt x="2661411" y="1229614"/>
                  </a:lnTo>
                </a:path>
                <a:path w="2661920" h="4116704">
                  <a:moveTo>
                    <a:pt x="0" y="1366774"/>
                  </a:moveTo>
                  <a:lnTo>
                    <a:pt x="2661411" y="1366774"/>
                  </a:lnTo>
                </a:path>
                <a:path w="2661920" h="4116704">
                  <a:moveTo>
                    <a:pt x="0" y="1503934"/>
                  </a:moveTo>
                  <a:lnTo>
                    <a:pt x="2661411" y="1503934"/>
                  </a:lnTo>
                </a:path>
                <a:path w="2661920" h="4116704">
                  <a:moveTo>
                    <a:pt x="0" y="1641094"/>
                  </a:moveTo>
                  <a:lnTo>
                    <a:pt x="2661411" y="1641094"/>
                  </a:lnTo>
                </a:path>
                <a:path w="2661920" h="4116704">
                  <a:moveTo>
                    <a:pt x="0" y="1778253"/>
                  </a:moveTo>
                  <a:lnTo>
                    <a:pt x="2661411" y="1778253"/>
                  </a:lnTo>
                </a:path>
                <a:path w="2661920" h="4116704">
                  <a:moveTo>
                    <a:pt x="0" y="1915414"/>
                  </a:moveTo>
                  <a:lnTo>
                    <a:pt x="2661411" y="1915414"/>
                  </a:lnTo>
                </a:path>
                <a:path w="2661920" h="4116704">
                  <a:moveTo>
                    <a:pt x="0" y="2052574"/>
                  </a:moveTo>
                  <a:lnTo>
                    <a:pt x="2661411" y="2052574"/>
                  </a:lnTo>
                </a:path>
                <a:path w="2661920" h="4116704">
                  <a:moveTo>
                    <a:pt x="0" y="2189734"/>
                  </a:moveTo>
                  <a:lnTo>
                    <a:pt x="2661411" y="2189734"/>
                  </a:lnTo>
                </a:path>
                <a:path w="2661920" h="4116704">
                  <a:moveTo>
                    <a:pt x="0" y="2326894"/>
                  </a:moveTo>
                  <a:lnTo>
                    <a:pt x="2661411" y="2326894"/>
                  </a:lnTo>
                </a:path>
                <a:path w="2661920" h="4116704">
                  <a:moveTo>
                    <a:pt x="0" y="2464054"/>
                  </a:moveTo>
                  <a:lnTo>
                    <a:pt x="2661411" y="2464054"/>
                  </a:lnTo>
                </a:path>
                <a:path w="2661920" h="4116704">
                  <a:moveTo>
                    <a:pt x="0" y="2601214"/>
                  </a:moveTo>
                  <a:lnTo>
                    <a:pt x="2661411" y="2601214"/>
                  </a:lnTo>
                </a:path>
                <a:path w="2661920" h="4116704">
                  <a:moveTo>
                    <a:pt x="0" y="2738374"/>
                  </a:moveTo>
                  <a:lnTo>
                    <a:pt x="2661411" y="2738374"/>
                  </a:lnTo>
                </a:path>
                <a:path w="2661920" h="4116704">
                  <a:moveTo>
                    <a:pt x="0" y="2875534"/>
                  </a:moveTo>
                  <a:lnTo>
                    <a:pt x="2661411" y="2875534"/>
                  </a:lnTo>
                </a:path>
                <a:path w="2661920" h="4116704">
                  <a:moveTo>
                    <a:pt x="0" y="3012694"/>
                  </a:moveTo>
                  <a:lnTo>
                    <a:pt x="2661411" y="3012694"/>
                  </a:lnTo>
                </a:path>
                <a:path w="2661920" h="4116704">
                  <a:moveTo>
                    <a:pt x="0" y="3149854"/>
                  </a:moveTo>
                  <a:lnTo>
                    <a:pt x="2661411" y="3149854"/>
                  </a:lnTo>
                </a:path>
                <a:path w="2661920" h="4116704">
                  <a:moveTo>
                    <a:pt x="0" y="3287014"/>
                  </a:moveTo>
                  <a:lnTo>
                    <a:pt x="2661411" y="3287014"/>
                  </a:lnTo>
                </a:path>
                <a:path w="2661920" h="4116704">
                  <a:moveTo>
                    <a:pt x="0" y="3424174"/>
                  </a:moveTo>
                  <a:lnTo>
                    <a:pt x="2661411" y="3424174"/>
                  </a:lnTo>
                </a:path>
                <a:path w="2661920" h="4116704">
                  <a:moveTo>
                    <a:pt x="0" y="3561334"/>
                  </a:moveTo>
                  <a:lnTo>
                    <a:pt x="2661411" y="3561334"/>
                  </a:lnTo>
                </a:path>
                <a:path w="2661920" h="4116704">
                  <a:moveTo>
                    <a:pt x="0" y="3698494"/>
                  </a:moveTo>
                  <a:lnTo>
                    <a:pt x="2661411" y="3698494"/>
                  </a:lnTo>
                </a:path>
                <a:path w="2661920" h="4116704">
                  <a:moveTo>
                    <a:pt x="0" y="3835654"/>
                  </a:moveTo>
                  <a:lnTo>
                    <a:pt x="2661411" y="3835654"/>
                  </a:lnTo>
                </a:path>
                <a:path w="2661920" h="4116704">
                  <a:moveTo>
                    <a:pt x="0" y="3972877"/>
                  </a:moveTo>
                  <a:lnTo>
                    <a:pt x="2661411" y="3972877"/>
                  </a:lnTo>
                </a:path>
                <a:path w="2661920" h="4116704">
                  <a:moveTo>
                    <a:pt x="6350" y="0"/>
                  </a:moveTo>
                  <a:lnTo>
                    <a:pt x="6350" y="4116387"/>
                  </a:lnTo>
                </a:path>
                <a:path w="2661920" h="4116704">
                  <a:moveTo>
                    <a:pt x="2655061" y="0"/>
                  </a:moveTo>
                  <a:lnTo>
                    <a:pt x="2655061" y="4116387"/>
                  </a:lnTo>
                </a:path>
                <a:path w="2661920" h="4116704">
                  <a:moveTo>
                    <a:pt x="0" y="6350"/>
                  </a:moveTo>
                  <a:lnTo>
                    <a:pt x="2661411" y="6350"/>
                  </a:lnTo>
                </a:path>
                <a:path w="2661920" h="4116704">
                  <a:moveTo>
                    <a:pt x="0" y="4110037"/>
                  </a:moveTo>
                  <a:lnTo>
                    <a:pt x="2661411" y="41100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0" name="object 9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00543" y="1874520"/>
            <a:ext cx="135635" cy="164591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8035" y="1905000"/>
            <a:ext cx="297179" cy="103632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48139" y="1894332"/>
            <a:ext cx="193501" cy="124967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58500" y="1886711"/>
            <a:ext cx="283464" cy="140208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34318" y="1931077"/>
            <a:ext cx="402243" cy="51477"/>
          </a:xfrm>
          <a:prstGeom prst="rect">
            <a:avLst/>
          </a:prstGeom>
        </p:spPr>
      </p:pic>
      <p:grpSp>
        <p:nvGrpSpPr>
          <p:cNvPr id="95" name="object 95"/>
          <p:cNvGrpSpPr/>
          <p:nvPr/>
        </p:nvGrpSpPr>
        <p:grpSpPr>
          <a:xfrm>
            <a:off x="9700259" y="1894332"/>
            <a:ext cx="243840" cy="123825"/>
            <a:chOff x="9700259" y="1894332"/>
            <a:chExt cx="243840" cy="123825"/>
          </a:xfrm>
        </p:grpSpPr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00259" y="1894332"/>
              <a:ext cx="117346" cy="12344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40467" y="1894332"/>
              <a:ext cx="103630" cy="123444"/>
            </a:xfrm>
            <a:prstGeom prst="rect">
              <a:avLst/>
            </a:prstGeom>
          </p:spPr>
        </p:pic>
      </p:grpSp>
      <p:pic>
        <p:nvPicPr>
          <p:cNvPr id="98" name="object 98" descr="Lidl - Wikipedia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38816" y="1883664"/>
            <a:ext cx="144779" cy="144779"/>
          </a:xfrm>
          <a:prstGeom prst="rect">
            <a:avLst/>
          </a:prstGeom>
        </p:spPr>
      </p:pic>
      <p:pic>
        <p:nvPicPr>
          <p:cNvPr id="99" name="object 99" descr="Koro_logo_Vektor | KoRo Handels GmbH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13474" y="1894322"/>
            <a:ext cx="139680" cy="127903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11297411" y="1688592"/>
            <a:ext cx="582295" cy="1135380"/>
            <a:chOff x="11297411" y="1688592"/>
            <a:chExt cx="582295" cy="1135380"/>
          </a:xfrm>
        </p:grpSpPr>
        <p:sp>
          <p:nvSpPr>
            <p:cNvPr id="101" name="object 101"/>
            <p:cNvSpPr/>
            <p:nvPr/>
          </p:nvSpPr>
          <p:spPr>
            <a:xfrm>
              <a:off x="11297411" y="1688592"/>
              <a:ext cx="582295" cy="1135380"/>
            </a:xfrm>
            <a:custGeom>
              <a:avLst/>
              <a:gdLst/>
              <a:ahLst/>
              <a:cxnLst/>
              <a:rect l="l" t="t" r="r" b="b"/>
              <a:pathLst>
                <a:path w="582295" h="1135380">
                  <a:moveTo>
                    <a:pt x="582168" y="0"/>
                  </a:moveTo>
                  <a:lnTo>
                    <a:pt x="0" y="0"/>
                  </a:lnTo>
                  <a:lnTo>
                    <a:pt x="0" y="1135379"/>
                  </a:lnTo>
                  <a:lnTo>
                    <a:pt x="582168" y="1135379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FFCC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The Amazon Logo: Inspiring Insights for Business Owners and Marketers -  crowdspring Blog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43715" y="1912620"/>
              <a:ext cx="289559" cy="88391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3606800" y="1699386"/>
            <a:ext cx="7620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Functional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attribute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901946" y="1699386"/>
            <a:ext cx="2470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Brand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221985" y="1699386"/>
            <a:ext cx="324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613272" y="1699386"/>
            <a:ext cx="606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Scores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606800" y="1807311"/>
            <a:ext cx="82676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Tastes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Healthy</a:t>
            </a:r>
            <a:r>
              <a:rPr dirty="0" sz="800" spc="-4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ingredients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quality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606800" y="2233422"/>
            <a:ext cx="9740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All-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natural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organic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606800" y="2370582"/>
            <a:ext cx="10693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for</a:t>
            </a:r>
            <a:r>
              <a:rPr dirty="0" sz="800" spc="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everyday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eating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606800" y="2507742"/>
            <a:ext cx="8985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No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artificial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additives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606800" y="2630271"/>
            <a:ext cx="7404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Great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value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Affordably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priced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Premium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606800" y="3056077"/>
            <a:ext cx="6019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606800" y="3193795"/>
            <a:ext cx="6521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dirty="0" sz="800" spc="-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protein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606800" y="3330955"/>
            <a:ext cx="10210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Provide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energy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boost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606800" y="3468115"/>
            <a:ext cx="4978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Sustainable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606800" y="3605276"/>
            <a:ext cx="6540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Locally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sourced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606800" y="3742435"/>
            <a:ext cx="11823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Fair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ethnical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production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06800" y="3879596"/>
            <a:ext cx="6629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Vegan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kind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06800" y="4016755"/>
            <a:ext cx="1125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Many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products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flavors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606800" y="4153915"/>
            <a:ext cx="6762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Low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 calories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606800" y="4291076"/>
            <a:ext cx="11017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Versatility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cook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606800" y="4428490"/>
            <a:ext cx="94424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Available</a:t>
            </a:r>
            <a:r>
              <a:rPr dirty="0" sz="800" spc="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everywhere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606800" y="4565650"/>
            <a:ext cx="83311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Unique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original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06800" y="4702809"/>
            <a:ext cx="8026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Easily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recognizable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06800" y="4839970"/>
            <a:ext cx="8242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Socially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responsible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606800" y="4977129"/>
            <a:ext cx="10604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Transparent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supply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06800" y="5114290"/>
            <a:ext cx="3371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606800" y="5251450"/>
            <a:ext cx="6870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Popular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606800" y="5388609"/>
            <a:ext cx="11074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Availability</a:t>
            </a:r>
            <a:r>
              <a:rPr dirty="0" sz="800" spc="6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800" spc="1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mass-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prod.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606800" y="5525820"/>
            <a:ext cx="4933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Gluten-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free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606800" y="5662676"/>
            <a:ext cx="74803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Modern</a:t>
            </a:r>
            <a:r>
              <a:rPr dirty="0" sz="800" spc="-4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5" b="1" i="1">
                <a:solidFill>
                  <a:srgbClr val="4D4D4D"/>
                </a:solidFill>
                <a:latin typeface="Calibri"/>
                <a:cs typeface="Calibri"/>
              </a:rPr>
              <a:t>new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4492752" y="1235963"/>
            <a:ext cx="1070610" cy="4580890"/>
            <a:chOff x="4492752" y="1235963"/>
            <a:chExt cx="1070610" cy="4580890"/>
          </a:xfrm>
        </p:grpSpPr>
        <p:pic>
          <p:nvPicPr>
            <p:cNvPr id="133" name="object 133" descr="Koro_logo_Vektor | KoRo Handels GmbH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4121" y="1469042"/>
              <a:ext cx="198054" cy="181758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4849368" y="1447800"/>
              <a:ext cx="708660" cy="4364355"/>
            </a:xfrm>
            <a:custGeom>
              <a:avLst/>
              <a:gdLst/>
              <a:ahLst/>
              <a:cxnLst/>
              <a:rect l="l" t="t" r="r" b="b"/>
              <a:pathLst>
                <a:path w="708660" h="4364355">
                  <a:moveTo>
                    <a:pt x="0" y="0"/>
                  </a:moveTo>
                  <a:lnTo>
                    <a:pt x="0" y="4364037"/>
                  </a:lnTo>
                </a:path>
                <a:path w="708660" h="4364355">
                  <a:moveTo>
                    <a:pt x="708660" y="0"/>
                  </a:moveTo>
                  <a:lnTo>
                    <a:pt x="708660" y="4364037"/>
                  </a:lnTo>
                </a:path>
              </a:pathLst>
            </a:custGeom>
            <a:ln w="9525">
              <a:solidFill>
                <a:srgbClr val="30333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4492752" y="1235963"/>
              <a:ext cx="707390" cy="140335"/>
            </a:xfrm>
            <a:custGeom>
              <a:avLst/>
              <a:gdLst/>
              <a:ahLst/>
              <a:cxnLst/>
              <a:rect l="l" t="t" r="r" b="b"/>
              <a:pathLst>
                <a:path w="707389" h="140334">
                  <a:moveTo>
                    <a:pt x="707136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707136" y="140208"/>
                  </a:lnTo>
                  <a:lnTo>
                    <a:pt x="707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>
            <a:off x="4509770" y="1217803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1</a:t>
            </a:r>
            <a:endParaRPr baseline="27777" sz="900">
              <a:latin typeface="Calibri"/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8662669" y="1217803"/>
            <a:ext cx="1144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2</a:t>
            </a:r>
            <a:endParaRPr baseline="27777" sz="900">
              <a:latin typeface="Calibri"/>
              <a:cs typeface="Calibri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7133843" y="1478280"/>
            <a:ext cx="4197350" cy="123825"/>
            <a:chOff x="7133843" y="1478280"/>
            <a:chExt cx="4197350" cy="123825"/>
          </a:xfrm>
        </p:grpSpPr>
        <p:sp>
          <p:nvSpPr>
            <p:cNvPr id="139" name="object 139"/>
            <p:cNvSpPr/>
            <p:nvPr/>
          </p:nvSpPr>
          <p:spPr>
            <a:xfrm>
              <a:off x="7133843" y="1501140"/>
              <a:ext cx="4197350" cy="76200"/>
            </a:xfrm>
            <a:custGeom>
              <a:avLst/>
              <a:gdLst/>
              <a:ahLst/>
              <a:cxnLst/>
              <a:rect l="l" t="t" r="r" b="b"/>
              <a:pathLst>
                <a:path w="41973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0"/>
                  </a:lnTo>
                  <a:lnTo>
                    <a:pt x="38100" y="46100"/>
                  </a:lnTo>
                  <a:lnTo>
                    <a:pt x="38100" y="30225"/>
                  </a:lnTo>
                  <a:lnTo>
                    <a:pt x="74615" y="30225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197350" h="76200">
                  <a:moveTo>
                    <a:pt x="4159250" y="0"/>
                  </a:moveTo>
                  <a:lnTo>
                    <a:pt x="4144402" y="2988"/>
                  </a:lnTo>
                  <a:lnTo>
                    <a:pt x="4132294" y="11144"/>
                  </a:lnTo>
                  <a:lnTo>
                    <a:pt x="4124138" y="23252"/>
                  </a:lnTo>
                  <a:lnTo>
                    <a:pt x="4121150" y="38100"/>
                  </a:lnTo>
                  <a:lnTo>
                    <a:pt x="4124138" y="52947"/>
                  </a:lnTo>
                  <a:lnTo>
                    <a:pt x="4132294" y="65055"/>
                  </a:lnTo>
                  <a:lnTo>
                    <a:pt x="4144402" y="73211"/>
                  </a:lnTo>
                  <a:lnTo>
                    <a:pt x="4159250" y="76200"/>
                  </a:lnTo>
                  <a:lnTo>
                    <a:pt x="4174097" y="73211"/>
                  </a:lnTo>
                  <a:lnTo>
                    <a:pt x="4186205" y="65055"/>
                  </a:lnTo>
                  <a:lnTo>
                    <a:pt x="4194361" y="52947"/>
                  </a:lnTo>
                  <a:lnTo>
                    <a:pt x="4195739" y="46100"/>
                  </a:lnTo>
                  <a:lnTo>
                    <a:pt x="4159250" y="46100"/>
                  </a:lnTo>
                  <a:lnTo>
                    <a:pt x="4159250" y="30225"/>
                  </a:lnTo>
                  <a:lnTo>
                    <a:pt x="4195765" y="30225"/>
                  </a:lnTo>
                  <a:lnTo>
                    <a:pt x="4194361" y="23252"/>
                  </a:lnTo>
                  <a:lnTo>
                    <a:pt x="4186205" y="11144"/>
                  </a:lnTo>
                  <a:lnTo>
                    <a:pt x="4174097" y="2988"/>
                  </a:lnTo>
                  <a:lnTo>
                    <a:pt x="4159250" y="0"/>
                  </a:lnTo>
                  <a:close/>
                </a:path>
                <a:path w="4197350" h="76200">
                  <a:moveTo>
                    <a:pt x="74615" y="30225"/>
                  </a:moveTo>
                  <a:lnTo>
                    <a:pt x="38100" y="30225"/>
                  </a:lnTo>
                  <a:lnTo>
                    <a:pt x="38100" y="46100"/>
                  </a:lnTo>
                  <a:lnTo>
                    <a:pt x="74589" y="46100"/>
                  </a:lnTo>
                  <a:lnTo>
                    <a:pt x="76200" y="38100"/>
                  </a:lnTo>
                  <a:lnTo>
                    <a:pt x="74615" y="30225"/>
                  </a:lnTo>
                  <a:close/>
                </a:path>
                <a:path w="4197350" h="76200">
                  <a:moveTo>
                    <a:pt x="4122734" y="30225"/>
                  </a:moveTo>
                  <a:lnTo>
                    <a:pt x="74615" y="30225"/>
                  </a:lnTo>
                  <a:lnTo>
                    <a:pt x="76200" y="38100"/>
                  </a:lnTo>
                  <a:lnTo>
                    <a:pt x="74589" y="46100"/>
                  </a:lnTo>
                  <a:lnTo>
                    <a:pt x="4122760" y="46100"/>
                  </a:lnTo>
                  <a:lnTo>
                    <a:pt x="4121150" y="38100"/>
                  </a:lnTo>
                  <a:lnTo>
                    <a:pt x="4122734" y="30225"/>
                  </a:lnTo>
                  <a:close/>
                </a:path>
                <a:path w="4197350" h="76200">
                  <a:moveTo>
                    <a:pt x="4195765" y="30225"/>
                  </a:moveTo>
                  <a:lnTo>
                    <a:pt x="4159250" y="30225"/>
                  </a:lnTo>
                  <a:lnTo>
                    <a:pt x="4159250" y="46100"/>
                  </a:lnTo>
                  <a:lnTo>
                    <a:pt x="4195739" y="46100"/>
                  </a:lnTo>
                  <a:lnTo>
                    <a:pt x="4197350" y="38100"/>
                  </a:lnTo>
                  <a:lnTo>
                    <a:pt x="4195765" y="30225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953499" y="1478280"/>
              <a:ext cx="866140" cy="123825"/>
            </a:xfrm>
            <a:custGeom>
              <a:avLst/>
              <a:gdLst/>
              <a:ahLst/>
              <a:cxnLst/>
              <a:rect l="l" t="t" r="r" b="b"/>
              <a:pathLst>
                <a:path w="866140" h="123825">
                  <a:moveTo>
                    <a:pt x="865631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865631" y="123444"/>
                  </a:lnTo>
                  <a:lnTo>
                    <a:pt x="86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/>
          <p:cNvSpPr txBox="1"/>
          <p:nvPr/>
        </p:nvSpPr>
        <p:spPr>
          <a:xfrm>
            <a:off x="9049639" y="1458213"/>
            <a:ext cx="6769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In-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8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specific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142" name="object 142"/>
          <p:cNvGraphicFramePr>
            <a:graphicFrameLocks noGrp="1"/>
          </p:cNvGraphicFramePr>
          <p:nvPr/>
        </p:nvGraphicFramePr>
        <p:xfrm>
          <a:off x="6576441" y="1679829"/>
          <a:ext cx="539305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/>
                <a:gridCol w="587375"/>
                <a:gridCol w="590550"/>
                <a:gridCol w="587375"/>
                <a:gridCol w="588644"/>
                <a:gridCol w="587374"/>
                <a:gridCol w="588645"/>
                <a:gridCol w="589279"/>
                <a:gridCol w="588010"/>
              </a:tblGrid>
              <a:tr h="194310">
                <a:tc row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Supermarkets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Drugstores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Discount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Specialty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BE9900"/>
                          </a:solidFill>
                          <a:latin typeface="Calibri"/>
                          <a:cs typeface="Calibri"/>
                        </a:rPr>
                        <a:t>Mktplace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2139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9%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6%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FFCC00">
                        <a:alpha val="10195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43" name="object 143"/>
          <p:cNvGrpSpPr/>
          <p:nvPr/>
        </p:nvGrpSpPr>
        <p:grpSpPr>
          <a:xfrm>
            <a:off x="6474333" y="3055620"/>
            <a:ext cx="2701290" cy="1368425"/>
            <a:chOff x="6474333" y="3055620"/>
            <a:chExt cx="2701290" cy="1368425"/>
          </a:xfrm>
        </p:grpSpPr>
        <p:sp>
          <p:nvSpPr>
            <p:cNvPr id="144" name="object 144"/>
            <p:cNvSpPr/>
            <p:nvPr/>
          </p:nvSpPr>
          <p:spPr>
            <a:xfrm>
              <a:off x="6483858" y="3120390"/>
              <a:ext cx="2682240" cy="1294130"/>
            </a:xfrm>
            <a:custGeom>
              <a:avLst/>
              <a:gdLst/>
              <a:ahLst/>
              <a:cxnLst/>
              <a:rect l="l" t="t" r="r" b="b"/>
              <a:pathLst>
                <a:path w="2682240" h="1294129">
                  <a:moveTo>
                    <a:pt x="0" y="1293875"/>
                  </a:moveTo>
                  <a:lnTo>
                    <a:pt x="2682240" y="1293875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293875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353300" y="3055620"/>
              <a:ext cx="940435" cy="139065"/>
            </a:xfrm>
            <a:custGeom>
              <a:avLst/>
              <a:gdLst/>
              <a:ahLst/>
              <a:cxnLst/>
              <a:rect l="l" t="t" r="r" b="b"/>
              <a:pathLst>
                <a:path w="940434" h="139064">
                  <a:moveTo>
                    <a:pt x="940307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940307" y="138684"/>
                  </a:lnTo>
                  <a:lnTo>
                    <a:pt x="940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/>
          <p:cNvGrpSpPr/>
          <p:nvPr/>
        </p:nvGrpSpPr>
        <p:grpSpPr>
          <a:xfrm>
            <a:off x="6474333" y="4507991"/>
            <a:ext cx="2701290" cy="1473835"/>
            <a:chOff x="6474333" y="4507991"/>
            <a:chExt cx="2701290" cy="1473835"/>
          </a:xfrm>
        </p:grpSpPr>
        <p:sp>
          <p:nvSpPr>
            <p:cNvPr id="147" name="object 147"/>
            <p:cNvSpPr/>
            <p:nvPr/>
          </p:nvSpPr>
          <p:spPr>
            <a:xfrm>
              <a:off x="6483858" y="4586477"/>
              <a:ext cx="2682240" cy="1385570"/>
            </a:xfrm>
            <a:custGeom>
              <a:avLst/>
              <a:gdLst/>
              <a:ahLst/>
              <a:cxnLst/>
              <a:rect l="l" t="t" r="r" b="b"/>
              <a:pathLst>
                <a:path w="2682240" h="1385570">
                  <a:moveTo>
                    <a:pt x="0" y="1385316"/>
                  </a:moveTo>
                  <a:lnTo>
                    <a:pt x="2682240" y="1385316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385316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7574280" y="4507991"/>
              <a:ext cx="498475" cy="140335"/>
            </a:xfrm>
            <a:custGeom>
              <a:avLst/>
              <a:gdLst/>
              <a:ahLst/>
              <a:cxnLst/>
              <a:rect l="l" t="t" r="r" b="b"/>
              <a:pathLst>
                <a:path w="498475" h="140335">
                  <a:moveTo>
                    <a:pt x="498348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498348" y="140207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9" name="object 14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17232" y="2240660"/>
            <a:ext cx="137922" cy="139446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03972" y="2240660"/>
            <a:ext cx="139446" cy="139446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92236" y="2240660"/>
            <a:ext cx="139446" cy="139446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80501" y="2240660"/>
            <a:ext cx="139446" cy="139446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32032" y="2240660"/>
            <a:ext cx="137922" cy="139446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68765" y="2240660"/>
            <a:ext cx="137921" cy="139446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755505" y="2240660"/>
            <a:ext cx="139446" cy="139446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43768" y="2240660"/>
            <a:ext cx="139446" cy="139446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518772" y="2240660"/>
            <a:ext cx="139446" cy="139446"/>
          </a:xfrm>
          <a:prstGeom prst="rect">
            <a:avLst/>
          </a:prstGeom>
        </p:spPr>
      </p:pic>
      <p:sp>
        <p:nvSpPr>
          <p:cNvPr id="158" name="object 158"/>
          <p:cNvSpPr txBox="1"/>
          <p:nvPr/>
        </p:nvSpPr>
        <p:spPr>
          <a:xfrm>
            <a:off x="7432040" y="3036823"/>
            <a:ext cx="784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7651242" y="4490466"/>
            <a:ext cx="344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9333356" y="3055620"/>
            <a:ext cx="2661920" cy="2926080"/>
            <a:chOff x="9333356" y="3055620"/>
            <a:chExt cx="2661920" cy="2926080"/>
          </a:xfrm>
        </p:grpSpPr>
        <p:sp>
          <p:nvSpPr>
            <p:cNvPr id="161" name="object 161"/>
            <p:cNvSpPr/>
            <p:nvPr/>
          </p:nvSpPr>
          <p:spPr>
            <a:xfrm>
              <a:off x="9342881" y="3118866"/>
              <a:ext cx="2642870" cy="2853055"/>
            </a:xfrm>
            <a:custGeom>
              <a:avLst/>
              <a:gdLst/>
              <a:ahLst/>
              <a:cxnLst/>
              <a:rect l="l" t="t" r="r" b="b"/>
              <a:pathLst>
                <a:path w="2642870" h="2853054">
                  <a:moveTo>
                    <a:pt x="0" y="2852927"/>
                  </a:moveTo>
                  <a:lnTo>
                    <a:pt x="2642616" y="2852927"/>
                  </a:lnTo>
                  <a:lnTo>
                    <a:pt x="2642616" y="0"/>
                  </a:lnTo>
                  <a:lnTo>
                    <a:pt x="0" y="0"/>
                  </a:lnTo>
                  <a:lnTo>
                    <a:pt x="0" y="2852927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067543" y="3055620"/>
              <a:ext cx="1193800" cy="139065"/>
            </a:xfrm>
            <a:custGeom>
              <a:avLst/>
              <a:gdLst/>
              <a:ahLst/>
              <a:cxnLst/>
              <a:rect l="l" t="t" r="r" b="b"/>
              <a:pathLst>
                <a:path w="1193800" h="139064">
                  <a:moveTo>
                    <a:pt x="1193292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1193292" y="138684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/>
          <p:cNvSpPr txBox="1"/>
          <p:nvPr/>
        </p:nvSpPr>
        <p:spPr>
          <a:xfrm>
            <a:off x="10171938" y="3036823"/>
            <a:ext cx="984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Sources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of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Influence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8938386" y="4744211"/>
            <a:ext cx="103505" cy="1075055"/>
            <a:chOff x="8938386" y="4744211"/>
            <a:chExt cx="103505" cy="1075055"/>
          </a:xfrm>
        </p:grpSpPr>
        <p:sp>
          <p:nvSpPr>
            <p:cNvPr id="165" name="object 165"/>
            <p:cNvSpPr/>
            <p:nvPr/>
          </p:nvSpPr>
          <p:spPr>
            <a:xfrm>
              <a:off x="8938386" y="4744211"/>
              <a:ext cx="103505" cy="1075055"/>
            </a:xfrm>
            <a:custGeom>
              <a:avLst/>
              <a:gdLst/>
              <a:ahLst/>
              <a:cxnLst/>
              <a:rect l="l" t="t" r="r" b="b"/>
              <a:pathLst>
                <a:path w="103504" h="1075054">
                  <a:moveTo>
                    <a:pt x="7112" y="978712"/>
                  </a:moveTo>
                  <a:lnTo>
                    <a:pt x="1016" y="982243"/>
                  </a:lnTo>
                  <a:lnTo>
                    <a:pt x="0" y="986129"/>
                  </a:lnTo>
                  <a:lnTo>
                    <a:pt x="51689" y="1074762"/>
                  </a:lnTo>
                  <a:lnTo>
                    <a:pt x="59034" y="1062164"/>
                  </a:lnTo>
                  <a:lnTo>
                    <a:pt x="45339" y="1062164"/>
                  </a:lnTo>
                  <a:lnTo>
                    <a:pt x="45339" y="1038719"/>
                  </a:lnTo>
                  <a:lnTo>
                    <a:pt x="10922" y="979728"/>
                  </a:lnTo>
                  <a:lnTo>
                    <a:pt x="7112" y="978712"/>
                  </a:lnTo>
                  <a:close/>
                </a:path>
                <a:path w="103504" h="1075054">
                  <a:moveTo>
                    <a:pt x="45339" y="1038719"/>
                  </a:moveTo>
                  <a:lnTo>
                    <a:pt x="45339" y="1062164"/>
                  </a:lnTo>
                  <a:lnTo>
                    <a:pt x="58039" y="1062164"/>
                  </a:lnTo>
                  <a:lnTo>
                    <a:pt x="58039" y="1058964"/>
                  </a:lnTo>
                  <a:lnTo>
                    <a:pt x="46228" y="1058964"/>
                  </a:lnTo>
                  <a:lnTo>
                    <a:pt x="51689" y="1049603"/>
                  </a:lnTo>
                  <a:lnTo>
                    <a:pt x="45339" y="1038719"/>
                  </a:lnTo>
                  <a:close/>
                </a:path>
                <a:path w="103504" h="1075054">
                  <a:moveTo>
                    <a:pt x="96266" y="978712"/>
                  </a:moveTo>
                  <a:lnTo>
                    <a:pt x="92456" y="979728"/>
                  </a:lnTo>
                  <a:lnTo>
                    <a:pt x="58039" y="1038719"/>
                  </a:lnTo>
                  <a:lnTo>
                    <a:pt x="58039" y="1062164"/>
                  </a:lnTo>
                  <a:lnTo>
                    <a:pt x="59034" y="1062164"/>
                  </a:lnTo>
                  <a:lnTo>
                    <a:pt x="103378" y="986129"/>
                  </a:lnTo>
                  <a:lnTo>
                    <a:pt x="102362" y="982243"/>
                  </a:lnTo>
                  <a:lnTo>
                    <a:pt x="96266" y="978712"/>
                  </a:lnTo>
                  <a:close/>
                </a:path>
                <a:path w="103504" h="1075054">
                  <a:moveTo>
                    <a:pt x="51689" y="1049603"/>
                  </a:moveTo>
                  <a:lnTo>
                    <a:pt x="46228" y="1058964"/>
                  </a:lnTo>
                  <a:lnTo>
                    <a:pt x="57150" y="1058964"/>
                  </a:lnTo>
                  <a:lnTo>
                    <a:pt x="51689" y="1049603"/>
                  </a:lnTo>
                  <a:close/>
                </a:path>
                <a:path w="103504" h="1075054">
                  <a:moveTo>
                    <a:pt x="58039" y="1038719"/>
                  </a:moveTo>
                  <a:lnTo>
                    <a:pt x="51689" y="1049603"/>
                  </a:lnTo>
                  <a:lnTo>
                    <a:pt x="57150" y="1058964"/>
                  </a:lnTo>
                  <a:lnTo>
                    <a:pt x="58039" y="1058964"/>
                  </a:lnTo>
                  <a:lnTo>
                    <a:pt x="58039" y="1038719"/>
                  </a:lnTo>
                  <a:close/>
                </a:path>
                <a:path w="103504" h="1075054">
                  <a:moveTo>
                    <a:pt x="58039" y="0"/>
                  </a:moveTo>
                  <a:lnTo>
                    <a:pt x="45339" y="0"/>
                  </a:lnTo>
                  <a:lnTo>
                    <a:pt x="45339" y="1038719"/>
                  </a:lnTo>
                  <a:lnTo>
                    <a:pt x="51689" y="1049603"/>
                  </a:lnTo>
                  <a:lnTo>
                    <a:pt x="58039" y="1038719"/>
                  </a:lnTo>
                  <a:lnTo>
                    <a:pt x="58039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8944355" y="4907279"/>
              <a:ext cx="91440" cy="673735"/>
            </a:xfrm>
            <a:custGeom>
              <a:avLst/>
              <a:gdLst/>
              <a:ahLst/>
              <a:cxnLst/>
              <a:rect l="l" t="t" r="r" b="b"/>
              <a:pathLst>
                <a:path w="91440" h="673735">
                  <a:moveTo>
                    <a:pt x="91440" y="0"/>
                  </a:moveTo>
                  <a:lnTo>
                    <a:pt x="0" y="0"/>
                  </a:lnTo>
                  <a:lnTo>
                    <a:pt x="0" y="673608"/>
                  </a:lnTo>
                  <a:lnTo>
                    <a:pt x="91440" y="67360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/>
          <p:cNvSpPr txBox="1"/>
          <p:nvPr/>
        </p:nvSpPr>
        <p:spPr>
          <a:xfrm>
            <a:off x="8947404" y="4910245"/>
            <a:ext cx="101600" cy="6711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6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8027934" y="4760236"/>
            <a:ext cx="161925" cy="1019175"/>
            <a:chOff x="8027934" y="4760236"/>
            <a:chExt cx="161925" cy="1019175"/>
          </a:xfrm>
        </p:grpSpPr>
        <p:pic>
          <p:nvPicPr>
            <p:cNvPr id="169" name="object 1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50463" y="4760236"/>
              <a:ext cx="117529" cy="11865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47360" y="4981332"/>
              <a:ext cx="127014" cy="13002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36169" y="5204179"/>
              <a:ext cx="143815" cy="147737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32492" y="5438611"/>
              <a:ext cx="153876" cy="136503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8027924" y="5691441"/>
              <a:ext cx="161925" cy="87630"/>
            </a:xfrm>
            <a:custGeom>
              <a:avLst/>
              <a:gdLst/>
              <a:ahLst/>
              <a:cxnLst/>
              <a:rect l="l" t="t" r="r" b="b"/>
              <a:pathLst>
                <a:path w="161925" h="87629">
                  <a:moveTo>
                    <a:pt x="33058" y="18224"/>
                  </a:moveTo>
                  <a:lnTo>
                    <a:pt x="18364" y="18224"/>
                  </a:lnTo>
                  <a:lnTo>
                    <a:pt x="18364" y="69227"/>
                  </a:lnTo>
                  <a:lnTo>
                    <a:pt x="33058" y="69227"/>
                  </a:lnTo>
                  <a:lnTo>
                    <a:pt x="33058" y="18224"/>
                  </a:lnTo>
                  <a:close/>
                </a:path>
                <a:path w="161925" h="87629">
                  <a:moveTo>
                    <a:pt x="161607" y="30607"/>
                  </a:moveTo>
                  <a:lnTo>
                    <a:pt x="158305" y="27330"/>
                  </a:lnTo>
                  <a:lnTo>
                    <a:pt x="146913" y="27330"/>
                  </a:lnTo>
                  <a:lnTo>
                    <a:pt x="146913" y="10934"/>
                  </a:lnTo>
                  <a:lnTo>
                    <a:pt x="146913" y="3276"/>
                  </a:lnTo>
                  <a:lnTo>
                    <a:pt x="143611" y="0"/>
                  </a:lnTo>
                  <a:lnTo>
                    <a:pt x="135902" y="0"/>
                  </a:lnTo>
                  <a:lnTo>
                    <a:pt x="135902" y="10934"/>
                  </a:lnTo>
                  <a:lnTo>
                    <a:pt x="135902" y="76517"/>
                  </a:lnTo>
                  <a:lnTo>
                    <a:pt x="11023" y="76517"/>
                  </a:lnTo>
                  <a:lnTo>
                    <a:pt x="11023" y="10934"/>
                  </a:lnTo>
                  <a:lnTo>
                    <a:pt x="135902" y="10934"/>
                  </a:lnTo>
                  <a:lnTo>
                    <a:pt x="135902" y="0"/>
                  </a:lnTo>
                  <a:lnTo>
                    <a:pt x="3314" y="0"/>
                  </a:lnTo>
                  <a:lnTo>
                    <a:pt x="0" y="3276"/>
                  </a:lnTo>
                  <a:lnTo>
                    <a:pt x="0" y="84162"/>
                  </a:lnTo>
                  <a:lnTo>
                    <a:pt x="3314" y="87439"/>
                  </a:lnTo>
                  <a:lnTo>
                    <a:pt x="143611" y="87439"/>
                  </a:lnTo>
                  <a:lnTo>
                    <a:pt x="146913" y="84162"/>
                  </a:lnTo>
                  <a:lnTo>
                    <a:pt x="146913" y="76517"/>
                  </a:lnTo>
                  <a:lnTo>
                    <a:pt x="146913" y="60121"/>
                  </a:lnTo>
                  <a:lnTo>
                    <a:pt x="158305" y="60121"/>
                  </a:lnTo>
                  <a:lnTo>
                    <a:pt x="161607" y="56832"/>
                  </a:lnTo>
                  <a:lnTo>
                    <a:pt x="161607" y="30607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4" name="object 174"/>
          <p:cNvSpPr txBox="1"/>
          <p:nvPr/>
        </p:nvSpPr>
        <p:spPr>
          <a:xfrm>
            <a:off x="8321040" y="47442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€4.00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8321040" y="49728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€2.70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8321040" y="52014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€4.47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8321040" y="54300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€7.89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8321040" y="56586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€2.83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7836407" y="5029200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8475"/>
                </a:moveTo>
                <a:lnTo>
                  <a:pt x="0" y="0"/>
                </a:lnTo>
              </a:path>
            </a:pathLst>
          </a:custGeom>
          <a:ln w="9525">
            <a:solidFill>
              <a:srgbClr val="4D4D4D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 txBox="1"/>
          <p:nvPr/>
        </p:nvSpPr>
        <p:spPr>
          <a:xfrm>
            <a:off x="6714870" y="5572455"/>
            <a:ext cx="8280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Value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against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Volume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6670547" y="5388864"/>
            <a:ext cx="916305" cy="15557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55"/>
              </a:lnSpc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663055" y="5043678"/>
            <a:ext cx="932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Average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Purchase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Spend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6670547" y="4863084"/>
            <a:ext cx="916305" cy="152400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1140"/>
              </a:lnSpc>
            </a:pPr>
            <a:r>
              <a:rPr dirty="0" sz="1000" spc="-50">
                <a:solidFill>
                  <a:srgbClr val="1B1C1B"/>
                </a:solidFill>
                <a:latin typeface="Calibri"/>
                <a:cs typeface="Calibri"/>
              </a:rPr>
              <a:t>/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7436929" y="3322129"/>
            <a:ext cx="680085" cy="992505"/>
            <a:chOff x="7436929" y="3322129"/>
            <a:chExt cx="680085" cy="992505"/>
          </a:xfrm>
        </p:grpSpPr>
        <p:sp>
          <p:nvSpPr>
            <p:cNvPr id="185" name="object 185"/>
            <p:cNvSpPr/>
            <p:nvPr/>
          </p:nvSpPr>
          <p:spPr>
            <a:xfrm>
              <a:off x="7441692" y="3381755"/>
              <a:ext cx="675640" cy="873760"/>
            </a:xfrm>
            <a:custGeom>
              <a:avLst/>
              <a:gdLst/>
              <a:ahLst/>
              <a:cxnLst/>
              <a:rect l="l" t="t" r="r" b="b"/>
              <a:pathLst>
                <a:path w="675640" h="873760">
                  <a:moveTo>
                    <a:pt x="23012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30124" y="137160"/>
                  </a:lnTo>
                  <a:lnTo>
                    <a:pt x="230124" y="0"/>
                  </a:lnTo>
                  <a:close/>
                </a:path>
                <a:path w="675640" h="873760">
                  <a:moveTo>
                    <a:pt x="260604" y="737616"/>
                  </a:moveTo>
                  <a:lnTo>
                    <a:pt x="0" y="737616"/>
                  </a:lnTo>
                  <a:lnTo>
                    <a:pt x="0" y="873252"/>
                  </a:lnTo>
                  <a:lnTo>
                    <a:pt x="260604" y="873252"/>
                  </a:lnTo>
                  <a:lnTo>
                    <a:pt x="260604" y="737616"/>
                  </a:lnTo>
                  <a:close/>
                </a:path>
                <a:path w="675640" h="873760">
                  <a:moveTo>
                    <a:pt x="521208" y="245364"/>
                  </a:moveTo>
                  <a:lnTo>
                    <a:pt x="0" y="245364"/>
                  </a:lnTo>
                  <a:lnTo>
                    <a:pt x="0" y="382524"/>
                  </a:lnTo>
                  <a:lnTo>
                    <a:pt x="521208" y="382524"/>
                  </a:lnTo>
                  <a:lnTo>
                    <a:pt x="521208" y="245364"/>
                  </a:lnTo>
                  <a:close/>
                </a:path>
                <a:path w="675640" h="873760">
                  <a:moveTo>
                    <a:pt x="675132" y="492252"/>
                  </a:moveTo>
                  <a:lnTo>
                    <a:pt x="0" y="492252"/>
                  </a:lnTo>
                  <a:lnTo>
                    <a:pt x="0" y="627888"/>
                  </a:lnTo>
                  <a:lnTo>
                    <a:pt x="675132" y="627888"/>
                  </a:lnTo>
                  <a:lnTo>
                    <a:pt x="675132" y="492252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7441692" y="3326891"/>
              <a:ext cx="0" cy="982980"/>
            </a:xfrm>
            <a:custGeom>
              <a:avLst/>
              <a:gdLst/>
              <a:ahLst/>
              <a:cxnLst/>
              <a:rect l="l" t="t" r="r" b="b"/>
              <a:pathLst>
                <a:path w="0" h="982979">
                  <a:moveTo>
                    <a:pt x="0" y="0"/>
                  </a:moveTo>
                  <a:lnTo>
                    <a:pt x="0" y="98298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7" name="object 187"/>
          <p:cNvSpPr txBox="1"/>
          <p:nvPr/>
        </p:nvSpPr>
        <p:spPr>
          <a:xfrm>
            <a:off x="7700264" y="3363848"/>
            <a:ext cx="2025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7991093" y="3609847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34%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8145018" y="3855542"/>
            <a:ext cx="20256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44%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7730490" y="4100576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6619747" y="3370834"/>
            <a:ext cx="5270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Last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 purchase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616065" y="3620261"/>
            <a:ext cx="6178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700" spc="-1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6616065" y="3870452"/>
            <a:ext cx="534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6616065" y="4119753"/>
            <a:ext cx="678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(preference)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95" name="object 195"/>
          <p:cNvGraphicFramePr>
            <a:graphicFrameLocks noGrp="1"/>
          </p:cNvGraphicFramePr>
          <p:nvPr/>
        </p:nvGraphicFramePr>
        <p:xfrm>
          <a:off x="8556625" y="3371850"/>
          <a:ext cx="567690" cy="87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160.42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135.91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191.72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217.76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</a:tbl>
          </a:graphicData>
        </a:graphic>
      </p:graphicFrame>
      <p:sp>
        <p:nvSpPr>
          <p:cNvPr id="196" name="object 196"/>
          <p:cNvSpPr/>
          <p:nvPr/>
        </p:nvSpPr>
        <p:spPr>
          <a:xfrm>
            <a:off x="6628638" y="3313938"/>
            <a:ext cx="2403475" cy="0"/>
          </a:xfrm>
          <a:custGeom>
            <a:avLst/>
            <a:gdLst/>
            <a:ahLst/>
            <a:cxnLst/>
            <a:rect l="l" t="t" r="r" b="b"/>
            <a:pathLst>
              <a:path w="2403475" h="0">
                <a:moveTo>
                  <a:pt x="0" y="0"/>
                </a:moveTo>
                <a:lnTo>
                  <a:pt x="2403093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 txBox="1"/>
          <p:nvPr/>
        </p:nvSpPr>
        <p:spPr>
          <a:xfrm>
            <a:off x="8688451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98" name="object 198"/>
          <p:cNvGrpSpPr/>
          <p:nvPr/>
        </p:nvGrpSpPr>
        <p:grpSpPr>
          <a:xfrm>
            <a:off x="10573321" y="3322129"/>
            <a:ext cx="462280" cy="2504440"/>
            <a:chOff x="10573321" y="3322129"/>
            <a:chExt cx="462280" cy="2504440"/>
          </a:xfrm>
        </p:grpSpPr>
        <p:sp>
          <p:nvSpPr>
            <p:cNvPr id="199" name="object 199"/>
            <p:cNvSpPr/>
            <p:nvPr/>
          </p:nvSpPr>
          <p:spPr>
            <a:xfrm>
              <a:off x="10578084" y="3389375"/>
              <a:ext cx="457200" cy="2369820"/>
            </a:xfrm>
            <a:custGeom>
              <a:avLst/>
              <a:gdLst/>
              <a:ahLst/>
              <a:cxnLst/>
              <a:rect l="l" t="t" r="r" b="b"/>
              <a:pathLst>
                <a:path w="457200" h="2369820">
                  <a:moveTo>
                    <a:pt x="124968" y="2215896"/>
                  </a:moveTo>
                  <a:lnTo>
                    <a:pt x="0" y="2215896"/>
                  </a:lnTo>
                  <a:lnTo>
                    <a:pt x="0" y="2369820"/>
                  </a:lnTo>
                  <a:lnTo>
                    <a:pt x="124968" y="2369820"/>
                  </a:lnTo>
                  <a:lnTo>
                    <a:pt x="124968" y="2215896"/>
                  </a:lnTo>
                  <a:close/>
                </a:path>
                <a:path w="457200" h="2369820">
                  <a:moveTo>
                    <a:pt x="161544" y="1662684"/>
                  </a:moveTo>
                  <a:lnTo>
                    <a:pt x="0" y="1662684"/>
                  </a:lnTo>
                  <a:lnTo>
                    <a:pt x="0" y="1816608"/>
                  </a:lnTo>
                  <a:lnTo>
                    <a:pt x="161544" y="1816608"/>
                  </a:lnTo>
                  <a:lnTo>
                    <a:pt x="161544" y="1662684"/>
                  </a:lnTo>
                  <a:close/>
                </a:path>
                <a:path w="457200" h="2369820">
                  <a:moveTo>
                    <a:pt x="217932" y="1940052"/>
                  </a:moveTo>
                  <a:lnTo>
                    <a:pt x="0" y="1940052"/>
                  </a:lnTo>
                  <a:lnTo>
                    <a:pt x="0" y="2093976"/>
                  </a:lnTo>
                  <a:lnTo>
                    <a:pt x="217932" y="2093976"/>
                  </a:lnTo>
                  <a:lnTo>
                    <a:pt x="217932" y="1940052"/>
                  </a:lnTo>
                  <a:close/>
                </a:path>
                <a:path w="457200" h="2369820">
                  <a:moveTo>
                    <a:pt x="225552" y="1107948"/>
                  </a:moveTo>
                  <a:lnTo>
                    <a:pt x="0" y="1107948"/>
                  </a:lnTo>
                  <a:lnTo>
                    <a:pt x="0" y="1261872"/>
                  </a:lnTo>
                  <a:lnTo>
                    <a:pt x="225552" y="1261872"/>
                  </a:lnTo>
                  <a:lnTo>
                    <a:pt x="225552" y="1107948"/>
                  </a:lnTo>
                  <a:close/>
                </a:path>
                <a:path w="457200" h="2369820">
                  <a:moveTo>
                    <a:pt x="249936" y="1385316"/>
                  </a:moveTo>
                  <a:lnTo>
                    <a:pt x="0" y="1385316"/>
                  </a:lnTo>
                  <a:lnTo>
                    <a:pt x="0" y="1539240"/>
                  </a:lnTo>
                  <a:lnTo>
                    <a:pt x="249936" y="1539240"/>
                  </a:lnTo>
                  <a:lnTo>
                    <a:pt x="249936" y="1385316"/>
                  </a:lnTo>
                  <a:close/>
                </a:path>
                <a:path w="457200" h="2369820">
                  <a:moveTo>
                    <a:pt x="274320" y="830580"/>
                  </a:moveTo>
                  <a:lnTo>
                    <a:pt x="0" y="830580"/>
                  </a:lnTo>
                  <a:lnTo>
                    <a:pt x="0" y="984504"/>
                  </a:lnTo>
                  <a:lnTo>
                    <a:pt x="274320" y="984504"/>
                  </a:lnTo>
                  <a:lnTo>
                    <a:pt x="274320" y="830580"/>
                  </a:lnTo>
                  <a:close/>
                </a:path>
                <a:path w="457200" h="2369820">
                  <a:moveTo>
                    <a:pt x="330708" y="277368"/>
                  </a:moveTo>
                  <a:lnTo>
                    <a:pt x="0" y="277368"/>
                  </a:lnTo>
                  <a:lnTo>
                    <a:pt x="0" y="431292"/>
                  </a:lnTo>
                  <a:lnTo>
                    <a:pt x="330708" y="431292"/>
                  </a:lnTo>
                  <a:lnTo>
                    <a:pt x="330708" y="277368"/>
                  </a:lnTo>
                  <a:close/>
                </a:path>
                <a:path w="457200" h="2369820">
                  <a:moveTo>
                    <a:pt x="400812" y="553212"/>
                  </a:moveTo>
                  <a:lnTo>
                    <a:pt x="0" y="553212"/>
                  </a:lnTo>
                  <a:lnTo>
                    <a:pt x="0" y="707136"/>
                  </a:lnTo>
                  <a:lnTo>
                    <a:pt x="400812" y="707136"/>
                  </a:lnTo>
                  <a:lnTo>
                    <a:pt x="400812" y="553212"/>
                  </a:lnTo>
                  <a:close/>
                </a:path>
                <a:path w="457200" h="2369820">
                  <a:moveTo>
                    <a:pt x="457200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57200" y="15392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0578083" y="3326891"/>
              <a:ext cx="0" cy="2494915"/>
            </a:xfrm>
            <a:custGeom>
              <a:avLst/>
              <a:gdLst/>
              <a:ahLst/>
              <a:cxnLst/>
              <a:rect l="l" t="t" r="r" b="b"/>
              <a:pathLst>
                <a:path w="0" h="2494915">
                  <a:moveTo>
                    <a:pt x="0" y="0"/>
                  </a:moveTo>
                  <a:lnTo>
                    <a:pt x="0" y="2494788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9645142" y="3396488"/>
            <a:ext cx="6305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Friends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or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family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9645142" y="3672585"/>
            <a:ext cx="608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Retailer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9645142" y="3950589"/>
            <a:ext cx="4787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Social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media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9645142" y="4226814"/>
            <a:ext cx="457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Salesperson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9645142" y="4504690"/>
            <a:ext cx="6324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Brands’</a:t>
            </a:r>
            <a:r>
              <a:rPr dirty="0" sz="7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9645142" y="4780915"/>
            <a:ext cx="405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Online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ads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9645142" y="5058917"/>
            <a:ext cx="327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TV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news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9645142" y="5335015"/>
            <a:ext cx="87756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Newspapers/magazines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9645142" y="5612993"/>
            <a:ext cx="4711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Online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blogs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11060048" y="3398646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24%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0934445" y="3674440"/>
            <a:ext cx="156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11002771" y="395274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21%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10879073" y="422922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15%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10828146" y="4506848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12%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10853419" y="4783328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13%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10766297" y="5060950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9%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10821669" y="5337428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12%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0728197" y="5615127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5969508" y="5431535"/>
            <a:ext cx="82550" cy="76200"/>
          </a:xfrm>
          <a:custGeom>
            <a:avLst/>
            <a:gdLst/>
            <a:ahLst/>
            <a:cxnLst/>
            <a:rect l="l" t="t" r="r" b="b"/>
            <a:pathLst>
              <a:path w="82550" h="76200">
                <a:moveTo>
                  <a:pt x="82295" y="0"/>
                </a:moveTo>
                <a:lnTo>
                  <a:pt x="0" y="0"/>
                </a:lnTo>
                <a:lnTo>
                  <a:pt x="0" y="76200"/>
                </a:lnTo>
                <a:lnTo>
                  <a:pt x="82295" y="76200"/>
                </a:lnTo>
                <a:lnTo>
                  <a:pt x="82295" y="0"/>
                </a:lnTo>
                <a:close/>
              </a:path>
            </a:pathLst>
          </a:custGeom>
          <a:solidFill>
            <a:srgbClr val="00FF7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0" name="object 220"/>
          <p:cNvGrpSpPr/>
          <p:nvPr/>
        </p:nvGrpSpPr>
        <p:grpSpPr>
          <a:xfrm>
            <a:off x="3463734" y="1816607"/>
            <a:ext cx="2649220" cy="3996054"/>
            <a:chOff x="3463734" y="1816607"/>
            <a:chExt cx="2649220" cy="3996054"/>
          </a:xfrm>
        </p:grpSpPr>
        <p:sp>
          <p:nvSpPr>
            <p:cNvPr id="221" name="object 221"/>
            <p:cNvSpPr/>
            <p:nvPr/>
          </p:nvSpPr>
          <p:spPr>
            <a:xfrm>
              <a:off x="5754624" y="1865375"/>
              <a:ext cx="215265" cy="3093720"/>
            </a:xfrm>
            <a:custGeom>
              <a:avLst/>
              <a:gdLst/>
              <a:ahLst/>
              <a:cxnLst/>
              <a:rect l="l" t="t" r="r" b="b"/>
              <a:pathLst>
                <a:path w="215264" h="3093720">
                  <a:moveTo>
                    <a:pt x="214871" y="2057400"/>
                  </a:moveTo>
                  <a:lnTo>
                    <a:pt x="182880" y="2057400"/>
                  </a:lnTo>
                  <a:lnTo>
                    <a:pt x="182880" y="2133600"/>
                  </a:lnTo>
                  <a:lnTo>
                    <a:pt x="214871" y="2133600"/>
                  </a:lnTo>
                  <a:lnTo>
                    <a:pt x="214871" y="2057400"/>
                  </a:lnTo>
                  <a:close/>
                </a:path>
                <a:path w="215264" h="3093720">
                  <a:moveTo>
                    <a:pt x="214871" y="1783080"/>
                  </a:moveTo>
                  <a:lnTo>
                    <a:pt x="161544" y="1783080"/>
                  </a:lnTo>
                  <a:lnTo>
                    <a:pt x="161544" y="1859280"/>
                  </a:lnTo>
                  <a:lnTo>
                    <a:pt x="214871" y="1859280"/>
                  </a:lnTo>
                  <a:lnTo>
                    <a:pt x="214871" y="1783080"/>
                  </a:lnTo>
                  <a:close/>
                </a:path>
                <a:path w="215264" h="3093720">
                  <a:moveTo>
                    <a:pt x="214871" y="1645920"/>
                  </a:moveTo>
                  <a:lnTo>
                    <a:pt x="123444" y="1645920"/>
                  </a:lnTo>
                  <a:lnTo>
                    <a:pt x="123444" y="1722132"/>
                  </a:lnTo>
                  <a:lnTo>
                    <a:pt x="214871" y="1722132"/>
                  </a:lnTo>
                  <a:lnTo>
                    <a:pt x="214871" y="1645920"/>
                  </a:lnTo>
                  <a:close/>
                </a:path>
                <a:path w="215264" h="3093720">
                  <a:moveTo>
                    <a:pt x="214871" y="1234440"/>
                  </a:moveTo>
                  <a:lnTo>
                    <a:pt x="166116" y="1234440"/>
                  </a:lnTo>
                  <a:lnTo>
                    <a:pt x="166116" y="1310640"/>
                  </a:lnTo>
                  <a:lnTo>
                    <a:pt x="214871" y="1310640"/>
                  </a:lnTo>
                  <a:lnTo>
                    <a:pt x="214871" y="1234440"/>
                  </a:lnTo>
                  <a:close/>
                </a:path>
                <a:path w="215264" h="3093720">
                  <a:moveTo>
                    <a:pt x="214871" y="1097280"/>
                  </a:moveTo>
                  <a:lnTo>
                    <a:pt x="88392" y="1097280"/>
                  </a:lnTo>
                  <a:lnTo>
                    <a:pt x="88392" y="1173480"/>
                  </a:lnTo>
                  <a:lnTo>
                    <a:pt x="214871" y="1173480"/>
                  </a:lnTo>
                  <a:lnTo>
                    <a:pt x="214871" y="1097280"/>
                  </a:lnTo>
                  <a:close/>
                </a:path>
                <a:path w="215264" h="3093720">
                  <a:moveTo>
                    <a:pt x="214871" y="548640"/>
                  </a:moveTo>
                  <a:lnTo>
                    <a:pt x="179832" y="548640"/>
                  </a:lnTo>
                  <a:lnTo>
                    <a:pt x="179832" y="624840"/>
                  </a:lnTo>
                  <a:lnTo>
                    <a:pt x="214871" y="624840"/>
                  </a:lnTo>
                  <a:lnTo>
                    <a:pt x="214871" y="548640"/>
                  </a:lnTo>
                  <a:close/>
                </a:path>
                <a:path w="215264" h="3093720">
                  <a:moveTo>
                    <a:pt x="214884" y="3017520"/>
                  </a:moveTo>
                  <a:lnTo>
                    <a:pt x="208788" y="3017520"/>
                  </a:lnTo>
                  <a:lnTo>
                    <a:pt x="208788" y="3093720"/>
                  </a:lnTo>
                  <a:lnTo>
                    <a:pt x="214884" y="3093720"/>
                  </a:lnTo>
                  <a:lnTo>
                    <a:pt x="214884" y="3017520"/>
                  </a:lnTo>
                  <a:close/>
                </a:path>
                <a:path w="215264" h="3093720">
                  <a:moveTo>
                    <a:pt x="214884" y="1920240"/>
                  </a:moveTo>
                  <a:lnTo>
                    <a:pt x="149352" y="1920240"/>
                  </a:lnTo>
                  <a:lnTo>
                    <a:pt x="149352" y="1996440"/>
                  </a:lnTo>
                  <a:lnTo>
                    <a:pt x="214884" y="1996440"/>
                  </a:lnTo>
                  <a:lnTo>
                    <a:pt x="214884" y="1920240"/>
                  </a:lnTo>
                  <a:close/>
                </a:path>
                <a:path w="215264" h="3093720">
                  <a:moveTo>
                    <a:pt x="214884" y="685800"/>
                  </a:moveTo>
                  <a:lnTo>
                    <a:pt x="36576" y="685800"/>
                  </a:lnTo>
                  <a:lnTo>
                    <a:pt x="36576" y="762000"/>
                  </a:lnTo>
                  <a:lnTo>
                    <a:pt x="214884" y="762000"/>
                  </a:lnTo>
                  <a:lnTo>
                    <a:pt x="214884" y="685800"/>
                  </a:lnTo>
                  <a:close/>
                </a:path>
                <a:path w="215264" h="3093720">
                  <a:moveTo>
                    <a:pt x="214884" y="411480"/>
                  </a:moveTo>
                  <a:lnTo>
                    <a:pt x="0" y="411480"/>
                  </a:lnTo>
                  <a:lnTo>
                    <a:pt x="0" y="487680"/>
                  </a:lnTo>
                  <a:lnTo>
                    <a:pt x="214884" y="487680"/>
                  </a:lnTo>
                  <a:lnTo>
                    <a:pt x="214884" y="411480"/>
                  </a:lnTo>
                  <a:close/>
                </a:path>
                <a:path w="215264" h="3093720">
                  <a:moveTo>
                    <a:pt x="214884" y="274320"/>
                  </a:moveTo>
                  <a:lnTo>
                    <a:pt x="99060" y="274320"/>
                  </a:lnTo>
                  <a:lnTo>
                    <a:pt x="99060" y="350520"/>
                  </a:lnTo>
                  <a:lnTo>
                    <a:pt x="214884" y="350520"/>
                  </a:lnTo>
                  <a:lnTo>
                    <a:pt x="214884" y="274320"/>
                  </a:lnTo>
                  <a:close/>
                </a:path>
                <a:path w="215264" h="3093720">
                  <a:moveTo>
                    <a:pt x="214884" y="137160"/>
                  </a:moveTo>
                  <a:lnTo>
                    <a:pt x="57912" y="137160"/>
                  </a:lnTo>
                  <a:lnTo>
                    <a:pt x="57912" y="213360"/>
                  </a:lnTo>
                  <a:lnTo>
                    <a:pt x="214884" y="213360"/>
                  </a:lnTo>
                  <a:lnTo>
                    <a:pt x="214884" y="137160"/>
                  </a:lnTo>
                  <a:close/>
                </a:path>
                <a:path w="215264" h="3093720">
                  <a:moveTo>
                    <a:pt x="214884" y="0"/>
                  </a:moveTo>
                  <a:lnTo>
                    <a:pt x="207264" y="0"/>
                  </a:lnTo>
                  <a:lnTo>
                    <a:pt x="207264" y="76200"/>
                  </a:lnTo>
                  <a:lnTo>
                    <a:pt x="214884" y="76200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5969508" y="2688335"/>
              <a:ext cx="143510" cy="3093720"/>
            </a:xfrm>
            <a:custGeom>
              <a:avLst/>
              <a:gdLst/>
              <a:ahLst/>
              <a:cxnLst/>
              <a:rect l="l" t="t" r="r" b="b"/>
              <a:pathLst>
                <a:path w="143510" h="3093720">
                  <a:moveTo>
                    <a:pt x="15240" y="137160"/>
                  </a:moveTo>
                  <a:lnTo>
                    <a:pt x="0" y="137160"/>
                  </a:lnTo>
                  <a:lnTo>
                    <a:pt x="0" y="213360"/>
                  </a:lnTo>
                  <a:lnTo>
                    <a:pt x="15240" y="213360"/>
                  </a:lnTo>
                  <a:lnTo>
                    <a:pt x="15240" y="137160"/>
                  </a:lnTo>
                  <a:close/>
                </a:path>
                <a:path w="143510" h="3093720">
                  <a:moveTo>
                    <a:pt x="18288" y="2331720"/>
                  </a:moveTo>
                  <a:lnTo>
                    <a:pt x="0" y="2331720"/>
                  </a:lnTo>
                  <a:lnTo>
                    <a:pt x="0" y="2407920"/>
                  </a:lnTo>
                  <a:lnTo>
                    <a:pt x="18288" y="2407920"/>
                  </a:lnTo>
                  <a:lnTo>
                    <a:pt x="18288" y="2331720"/>
                  </a:lnTo>
                  <a:close/>
                </a:path>
                <a:path w="143510" h="3093720">
                  <a:moveTo>
                    <a:pt x="27432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7432" y="76200"/>
                  </a:lnTo>
                  <a:lnTo>
                    <a:pt x="27432" y="0"/>
                  </a:lnTo>
                  <a:close/>
                </a:path>
                <a:path w="143510" h="3093720">
                  <a:moveTo>
                    <a:pt x="35052" y="685800"/>
                  </a:moveTo>
                  <a:lnTo>
                    <a:pt x="0" y="685800"/>
                  </a:lnTo>
                  <a:lnTo>
                    <a:pt x="0" y="762000"/>
                  </a:lnTo>
                  <a:lnTo>
                    <a:pt x="35052" y="762000"/>
                  </a:lnTo>
                  <a:lnTo>
                    <a:pt x="35052" y="685800"/>
                  </a:lnTo>
                  <a:close/>
                </a:path>
                <a:path w="143510" h="3093720">
                  <a:moveTo>
                    <a:pt x="60960" y="2468880"/>
                  </a:moveTo>
                  <a:lnTo>
                    <a:pt x="0" y="2468880"/>
                  </a:lnTo>
                  <a:lnTo>
                    <a:pt x="0" y="2545080"/>
                  </a:lnTo>
                  <a:lnTo>
                    <a:pt x="60960" y="2545080"/>
                  </a:lnTo>
                  <a:lnTo>
                    <a:pt x="60960" y="2468880"/>
                  </a:lnTo>
                  <a:close/>
                </a:path>
                <a:path w="143510" h="3093720">
                  <a:moveTo>
                    <a:pt x="62484" y="1920240"/>
                  </a:moveTo>
                  <a:lnTo>
                    <a:pt x="0" y="1920240"/>
                  </a:lnTo>
                  <a:lnTo>
                    <a:pt x="0" y="1996440"/>
                  </a:lnTo>
                  <a:lnTo>
                    <a:pt x="62484" y="1996440"/>
                  </a:lnTo>
                  <a:lnTo>
                    <a:pt x="62484" y="1920240"/>
                  </a:lnTo>
                  <a:close/>
                </a:path>
                <a:path w="143510" h="3093720">
                  <a:moveTo>
                    <a:pt x="65532" y="2057400"/>
                  </a:moveTo>
                  <a:lnTo>
                    <a:pt x="0" y="2057400"/>
                  </a:lnTo>
                  <a:lnTo>
                    <a:pt x="0" y="2133600"/>
                  </a:lnTo>
                  <a:lnTo>
                    <a:pt x="65532" y="2133600"/>
                  </a:lnTo>
                  <a:lnTo>
                    <a:pt x="65532" y="2057400"/>
                  </a:lnTo>
                  <a:close/>
                </a:path>
                <a:path w="143510" h="3093720">
                  <a:moveTo>
                    <a:pt x="68580" y="2880360"/>
                  </a:moveTo>
                  <a:lnTo>
                    <a:pt x="0" y="2880360"/>
                  </a:lnTo>
                  <a:lnTo>
                    <a:pt x="0" y="2956560"/>
                  </a:lnTo>
                  <a:lnTo>
                    <a:pt x="68580" y="2956560"/>
                  </a:lnTo>
                  <a:lnTo>
                    <a:pt x="68580" y="2880360"/>
                  </a:lnTo>
                  <a:close/>
                </a:path>
                <a:path w="143510" h="3093720">
                  <a:moveTo>
                    <a:pt x="73152" y="3017520"/>
                  </a:moveTo>
                  <a:lnTo>
                    <a:pt x="0" y="3017520"/>
                  </a:lnTo>
                  <a:lnTo>
                    <a:pt x="0" y="3093720"/>
                  </a:lnTo>
                  <a:lnTo>
                    <a:pt x="73152" y="3093720"/>
                  </a:lnTo>
                  <a:lnTo>
                    <a:pt x="73152" y="3017520"/>
                  </a:lnTo>
                  <a:close/>
                </a:path>
                <a:path w="143510" h="3093720">
                  <a:moveTo>
                    <a:pt x="77724" y="1645920"/>
                  </a:moveTo>
                  <a:lnTo>
                    <a:pt x="0" y="1645920"/>
                  </a:lnTo>
                  <a:lnTo>
                    <a:pt x="0" y="1722120"/>
                  </a:lnTo>
                  <a:lnTo>
                    <a:pt x="77724" y="1722120"/>
                  </a:lnTo>
                  <a:lnTo>
                    <a:pt x="77724" y="1645920"/>
                  </a:lnTo>
                  <a:close/>
                </a:path>
                <a:path w="143510" h="3093720">
                  <a:moveTo>
                    <a:pt x="80772" y="2606040"/>
                  </a:moveTo>
                  <a:lnTo>
                    <a:pt x="0" y="2606040"/>
                  </a:lnTo>
                  <a:lnTo>
                    <a:pt x="0" y="2682240"/>
                  </a:lnTo>
                  <a:lnTo>
                    <a:pt x="80772" y="2682240"/>
                  </a:lnTo>
                  <a:lnTo>
                    <a:pt x="80772" y="2606040"/>
                  </a:lnTo>
                  <a:close/>
                </a:path>
                <a:path w="143510" h="3093720">
                  <a:moveTo>
                    <a:pt x="88392" y="1371600"/>
                  </a:moveTo>
                  <a:lnTo>
                    <a:pt x="0" y="1371600"/>
                  </a:lnTo>
                  <a:lnTo>
                    <a:pt x="0" y="1447800"/>
                  </a:lnTo>
                  <a:lnTo>
                    <a:pt x="88392" y="1447800"/>
                  </a:lnTo>
                  <a:lnTo>
                    <a:pt x="88392" y="1371600"/>
                  </a:lnTo>
                  <a:close/>
                </a:path>
                <a:path w="143510" h="3093720">
                  <a:moveTo>
                    <a:pt x="121920" y="1783080"/>
                  </a:moveTo>
                  <a:lnTo>
                    <a:pt x="0" y="1783080"/>
                  </a:lnTo>
                  <a:lnTo>
                    <a:pt x="0" y="1859280"/>
                  </a:lnTo>
                  <a:lnTo>
                    <a:pt x="121920" y="1859280"/>
                  </a:lnTo>
                  <a:lnTo>
                    <a:pt x="121920" y="1783080"/>
                  </a:lnTo>
                  <a:close/>
                </a:path>
                <a:path w="143510" h="3093720">
                  <a:moveTo>
                    <a:pt x="123444" y="548640"/>
                  </a:moveTo>
                  <a:lnTo>
                    <a:pt x="0" y="548640"/>
                  </a:lnTo>
                  <a:lnTo>
                    <a:pt x="0" y="624840"/>
                  </a:lnTo>
                  <a:lnTo>
                    <a:pt x="123444" y="624840"/>
                  </a:lnTo>
                  <a:lnTo>
                    <a:pt x="123444" y="548640"/>
                  </a:lnTo>
                  <a:close/>
                </a:path>
                <a:path w="143510" h="3093720">
                  <a:moveTo>
                    <a:pt x="143256" y="1508760"/>
                  </a:moveTo>
                  <a:lnTo>
                    <a:pt x="0" y="1508760"/>
                  </a:lnTo>
                  <a:lnTo>
                    <a:pt x="0" y="1584960"/>
                  </a:lnTo>
                  <a:lnTo>
                    <a:pt x="143256" y="1584960"/>
                  </a:lnTo>
                  <a:lnTo>
                    <a:pt x="143256" y="150876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5969507" y="1834895"/>
              <a:ext cx="0" cy="3977640"/>
            </a:xfrm>
            <a:custGeom>
              <a:avLst/>
              <a:gdLst/>
              <a:ahLst/>
              <a:cxnLst/>
              <a:rect l="l" t="t" r="r" b="b"/>
              <a:pathLst>
                <a:path w="0" h="3977640">
                  <a:moveTo>
                    <a:pt x="0" y="0"/>
                  </a:moveTo>
                  <a:lnTo>
                    <a:pt x="0" y="397764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3471671" y="1816607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0"/>
                  </a:moveTo>
                  <a:lnTo>
                    <a:pt x="0" y="60960"/>
                  </a:lnTo>
                </a:path>
              </a:pathLst>
            </a:custGeom>
            <a:ln w="15875">
              <a:solidFill>
                <a:srgbClr val="2387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5" name="object 225"/>
          <p:cNvGrpSpPr/>
          <p:nvPr/>
        </p:nvGrpSpPr>
        <p:grpSpPr>
          <a:xfrm>
            <a:off x="9447276" y="3386328"/>
            <a:ext cx="123825" cy="2284095"/>
            <a:chOff x="9447276" y="3386328"/>
            <a:chExt cx="123825" cy="2284095"/>
          </a:xfrm>
        </p:grpSpPr>
        <p:sp>
          <p:nvSpPr>
            <p:cNvPr id="226" name="object 226"/>
            <p:cNvSpPr/>
            <p:nvPr/>
          </p:nvSpPr>
          <p:spPr>
            <a:xfrm>
              <a:off x="9471660" y="3386328"/>
              <a:ext cx="76200" cy="2284095"/>
            </a:xfrm>
            <a:custGeom>
              <a:avLst/>
              <a:gdLst/>
              <a:ahLst/>
              <a:cxnLst/>
              <a:rect l="l" t="t" r="r" b="b"/>
              <a:pathLst>
                <a:path w="76200" h="2284095">
                  <a:moveTo>
                    <a:pt x="30099" y="2207387"/>
                  </a:moveTo>
                  <a:lnTo>
                    <a:pt x="0" y="2207387"/>
                  </a:lnTo>
                  <a:lnTo>
                    <a:pt x="38100" y="2283587"/>
                  </a:lnTo>
                  <a:lnTo>
                    <a:pt x="69850" y="2220087"/>
                  </a:lnTo>
                  <a:lnTo>
                    <a:pt x="30099" y="2220087"/>
                  </a:lnTo>
                  <a:lnTo>
                    <a:pt x="30099" y="2207387"/>
                  </a:lnTo>
                  <a:close/>
                </a:path>
                <a:path w="76200" h="228409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2220087"/>
                  </a:lnTo>
                  <a:lnTo>
                    <a:pt x="45974" y="22200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2284095">
                  <a:moveTo>
                    <a:pt x="76200" y="2207387"/>
                  </a:moveTo>
                  <a:lnTo>
                    <a:pt x="45974" y="2207387"/>
                  </a:lnTo>
                  <a:lnTo>
                    <a:pt x="45974" y="2220087"/>
                  </a:lnTo>
                  <a:lnTo>
                    <a:pt x="69850" y="2220087"/>
                  </a:lnTo>
                  <a:lnTo>
                    <a:pt x="76200" y="2207387"/>
                  </a:lnTo>
                  <a:close/>
                </a:path>
                <a:path w="76200" h="228409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28409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228409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9447276" y="3764280"/>
              <a:ext cx="123825" cy="1397635"/>
            </a:xfrm>
            <a:custGeom>
              <a:avLst/>
              <a:gdLst/>
              <a:ahLst/>
              <a:cxnLst/>
              <a:rect l="l" t="t" r="r" b="b"/>
              <a:pathLst>
                <a:path w="123825" h="1397635">
                  <a:moveTo>
                    <a:pt x="123444" y="0"/>
                  </a:moveTo>
                  <a:lnTo>
                    <a:pt x="0" y="0"/>
                  </a:lnTo>
                  <a:lnTo>
                    <a:pt x="0" y="1397508"/>
                  </a:lnTo>
                  <a:lnTo>
                    <a:pt x="123444" y="1397508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/>
          <p:cNvSpPr txBox="1"/>
          <p:nvPr/>
        </p:nvSpPr>
        <p:spPr>
          <a:xfrm>
            <a:off x="9454260" y="3816113"/>
            <a:ext cx="127635" cy="12973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Ordered</a:t>
            </a:r>
            <a:r>
              <a:rPr dirty="0" sz="8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by</a:t>
            </a:r>
            <a:r>
              <a:rPr dirty="0" sz="8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8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9" name="object 229"/>
          <p:cNvSpPr/>
          <p:nvPr/>
        </p:nvSpPr>
        <p:spPr>
          <a:xfrm>
            <a:off x="9510521" y="3313938"/>
            <a:ext cx="2354580" cy="0"/>
          </a:xfrm>
          <a:custGeom>
            <a:avLst/>
            <a:gdLst/>
            <a:ahLst/>
            <a:cxnLst/>
            <a:rect l="l" t="t" r="r" b="b"/>
            <a:pathLst>
              <a:path w="2354579" h="0">
                <a:moveTo>
                  <a:pt x="0" y="0"/>
                </a:moveTo>
                <a:lnTo>
                  <a:pt x="2354579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 txBox="1"/>
          <p:nvPr/>
        </p:nvSpPr>
        <p:spPr>
          <a:xfrm>
            <a:off x="11524868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231" name="object 231"/>
          <p:cNvGraphicFramePr>
            <a:graphicFrameLocks noGrp="1"/>
          </p:cNvGraphicFramePr>
          <p:nvPr/>
        </p:nvGraphicFramePr>
        <p:xfrm>
          <a:off x="11392154" y="3368675"/>
          <a:ext cx="568325" cy="2394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132.86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96.46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116.48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80.08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65.52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72.80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47.32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63.70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36.40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232" name="object 232"/>
          <p:cNvSpPr txBox="1"/>
          <p:nvPr/>
        </p:nvSpPr>
        <p:spPr>
          <a:xfrm>
            <a:off x="378663" y="4365497"/>
            <a:ext cx="2254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9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closely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aligned</a:t>
            </a:r>
            <a:r>
              <a:rPr dirty="0" sz="900" spc="-2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with</a:t>
            </a:r>
            <a:r>
              <a:rPr dirty="0" sz="900" spc="-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product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brand,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tablestake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needs</a:t>
            </a:r>
            <a:r>
              <a:rPr dirty="0" sz="900" spc="-2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less</a:t>
            </a:r>
            <a:r>
              <a:rPr dirty="0" sz="900" spc="-2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relevant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378663" y="4887214"/>
            <a:ext cx="220726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Significant</a:t>
            </a:r>
            <a:r>
              <a:rPr dirty="0" sz="900" spc="-2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over-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index across</a:t>
            </a:r>
            <a:r>
              <a:rPr dirty="0" sz="900" spc="-5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discount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 retailers,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alongside</a:t>
            </a:r>
            <a:r>
              <a:rPr dirty="0" sz="900" spc="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marketplace</a:t>
            </a:r>
            <a:r>
              <a:rPr dirty="0" sz="900" spc="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overperformance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378663" y="5409057"/>
            <a:ext cx="220472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Overperformance</a:t>
            </a:r>
            <a:r>
              <a:rPr dirty="0" sz="900" spc="1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across</a:t>
            </a:r>
            <a:r>
              <a:rPr dirty="0" sz="9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metrics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indicating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significant</a:t>
            </a:r>
            <a:r>
              <a:rPr dirty="0" sz="9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preference</a:t>
            </a:r>
            <a:r>
              <a:rPr dirty="0" sz="900" spc="-3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toward</a:t>
            </a:r>
            <a:r>
              <a:rPr dirty="0" sz="900" spc="-5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purchases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378663" y="5930900"/>
            <a:ext cx="2104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considerations: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On-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par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willingness</a:t>
            </a:r>
            <a:r>
              <a:rPr dirty="0" sz="900" spc="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to</a:t>
            </a:r>
            <a:r>
              <a:rPr dirty="0" sz="9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pay,</a:t>
            </a:r>
            <a:r>
              <a:rPr dirty="0" sz="900" spc="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too,</a:t>
            </a:r>
            <a:r>
              <a:rPr dirty="0" sz="9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highlighted</a:t>
            </a:r>
            <a:r>
              <a:rPr dirty="0" sz="900" spc="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031739"/>
                </a:solidFill>
                <a:latin typeface="Calibri"/>
                <a:cs typeface="Calibri"/>
              </a:rPr>
              <a:t>in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spend across</a:t>
            </a:r>
            <a:r>
              <a:rPr dirty="0" sz="9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individual</a:t>
            </a:r>
            <a:r>
              <a:rPr dirty="0" sz="900" spc="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categories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6" name="object 236"/>
          <p:cNvSpPr/>
          <p:nvPr/>
        </p:nvSpPr>
        <p:spPr>
          <a:xfrm>
            <a:off x="3471671" y="2438400"/>
            <a:ext cx="0" cy="62865"/>
          </a:xfrm>
          <a:custGeom>
            <a:avLst/>
            <a:gdLst/>
            <a:ahLst/>
            <a:cxnLst/>
            <a:rect l="l" t="t" r="r" b="b"/>
            <a:pathLst>
              <a:path w="0" h="62864">
                <a:moveTo>
                  <a:pt x="0" y="0"/>
                </a:moveTo>
                <a:lnTo>
                  <a:pt x="0" y="62357"/>
                </a:lnTo>
              </a:path>
            </a:pathLst>
          </a:custGeom>
          <a:ln w="15875">
            <a:solidFill>
              <a:srgbClr val="2387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 txBox="1"/>
          <p:nvPr/>
        </p:nvSpPr>
        <p:spPr>
          <a:xfrm>
            <a:off x="3415665" y="1903936"/>
            <a:ext cx="127635" cy="509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2387D7"/>
                </a:solidFill>
                <a:latin typeface="Calibri"/>
                <a:cs typeface="Calibri"/>
              </a:rPr>
              <a:t>Tablestakes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8" name="object 238"/>
          <p:cNvSpPr/>
          <p:nvPr/>
        </p:nvSpPr>
        <p:spPr>
          <a:xfrm>
            <a:off x="3470147" y="3758184"/>
            <a:ext cx="0" cy="496570"/>
          </a:xfrm>
          <a:custGeom>
            <a:avLst/>
            <a:gdLst/>
            <a:ahLst/>
            <a:cxnLst/>
            <a:rect l="l" t="t" r="r" b="b"/>
            <a:pathLst>
              <a:path w="0" h="496570">
                <a:moveTo>
                  <a:pt x="0" y="0"/>
                </a:moveTo>
                <a:lnTo>
                  <a:pt x="0" y="496062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3470147" y="2558795"/>
            <a:ext cx="0" cy="497205"/>
          </a:xfrm>
          <a:custGeom>
            <a:avLst/>
            <a:gdLst/>
            <a:ahLst/>
            <a:cxnLst/>
            <a:rect l="l" t="t" r="r" b="b"/>
            <a:pathLst>
              <a:path w="0" h="497205">
                <a:moveTo>
                  <a:pt x="0" y="0"/>
                </a:moveTo>
                <a:lnTo>
                  <a:pt x="0" y="496823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 txBox="1"/>
          <p:nvPr/>
        </p:nvSpPr>
        <p:spPr>
          <a:xfrm>
            <a:off x="3414648" y="3094218"/>
            <a:ext cx="127635" cy="6280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808080"/>
                </a:solidFill>
                <a:latin typeface="Calibri"/>
                <a:cs typeface="Calibri"/>
              </a:rPr>
              <a:t>Differentiators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1" name="object 241"/>
          <p:cNvSpPr/>
          <p:nvPr/>
        </p:nvSpPr>
        <p:spPr>
          <a:xfrm>
            <a:off x="3471671" y="5233415"/>
            <a:ext cx="0" cy="577850"/>
          </a:xfrm>
          <a:custGeom>
            <a:avLst/>
            <a:gdLst/>
            <a:ahLst/>
            <a:cxnLst/>
            <a:rect l="l" t="t" r="r" b="b"/>
            <a:pathLst>
              <a:path w="0" h="577850">
                <a:moveTo>
                  <a:pt x="0" y="0"/>
                </a:moveTo>
                <a:lnTo>
                  <a:pt x="0" y="577684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3471671" y="432511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 txBox="1"/>
          <p:nvPr/>
        </p:nvSpPr>
        <p:spPr>
          <a:xfrm>
            <a:off x="3415665" y="4938459"/>
            <a:ext cx="127635" cy="2616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7E6600"/>
                </a:solidFill>
                <a:latin typeface="Calibri"/>
                <a:cs typeface="Calibri"/>
              </a:rPr>
              <a:t>Niche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36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1295" y="127383"/>
              <a:ext cx="298790" cy="1308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63499" y="461156"/>
              <a:ext cx="98178" cy="1156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693204" y="266447"/>
              <a:ext cx="281940" cy="303530"/>
            </a:xfrm>
            <a:custGeom>
              <a:avLst/>
              <a:gdLst/>
              <a:ahLst/>
              <a:cxnLst/>
              <a:rect l="l" t="t" r="r" b="b"/>
              <a:pathLst>
                <a:path w="281940" h="303530">
                  <a:moveTo>
                    <a:pt x="281580" y="178838"/>
                  </a:moveTo>
                  <a:lnTo>
                    <a:pt x="45694" y="178838"/>
                  </a:lnTo>
                  <a:lnTo>
                    <a:pt x="60183" y="179804"/>
                  </a:lnTo>
                  <a:lnTo>
                    <a:pt x="61000" y="194144"/>
                  </a:lnTo>
                  <a:lnTo>
                    <a:pt x="61226" y="200515"/>
                  </a:lnTo>
                  <a:lnTo>
                    <a:pt x="60287" y="206876"/>
                  </a:lnTo>
                  <a:lnTo>
                    <a:pt x="58229" y="212908"/>
                  </a:lnTo>
                  <a:lnTo>
                    <a:pt x="64597" y="215184"/>
                  </a:lnTo>
                  <a:lnTo>
                    <a:pt x="70282" y="219035"/>
                  </a:lnTo>
                  <a:lnTo>
                    <a:pt x="74754" y="224106"/>
                  </a:lnTo>
                  <a:lnTo>
                    <a:pt x="82388" y="238973"/>
                  </a:lnTo>
                  <a:lnTo>
                    <a:pt x="84766" y="258403"/>
                  </a:lnTo>
                  <a:lnTo>
                    <a:pt x="82559" y="279369"/>
                  </a:lnTo>
                  <a:lnTo>
                    <a:pt x="76438" y="298846"/>
                  </a:lnTo>
                  <a:lnTo>
                    <a:pt x="75725" y="300458"/>
                  </a:lnTo>
                  <a:lnTo>
                    <a:pt x="75028" y="301704"/>
                  </a:lnTo>
                  <a:lnTo>
                    <a:pt x="74127" y="303407"/>
                  </a:lnTo>
                  <a:lnTo>
                    <a:pt x="259921" y="303407"/>
                  </a:lnTo>
                  <a:lnTo>
                    <a:pt x="268352" y="301704"/>
                  </a:lnTo>
                  <a:lnTo>
                    <a:pt x="275237" y="297060"/>
                  </a:lnTo>
                  <a:lnTo>
                    <a:pt x="279879" y="290171"/>
                  </a:lnTo>
                  <a:lnTo>
                    <a:pt x="281581" y="281735"/>
                  </a:lnTo>
                  <a:lnTo>
                    <a:pt x="281580" y="178838"/>
                  </a:lnTo>
                  <a:close/>
                </a:path>
                <a:path w="281940" h="303530">
                  <a:moveTo>
                    <a:pt x="0" y="0"/>
                  </a:moveTo>
                  <a:lnTo>
                    <a:pt x="0" y="176360"/>
                  </a:lnTo>
                  <a:lnTo>
                    <a:pt x="10288" y="184085"/>
                  </a:lnTo>
                  <a:lnTo>
                    <a:pt x="12057" y="185272"/>
                  </a:lnTo>
                  <a:lnTo>
                    <a:pt x="13763" y="186536"/>
                  </a:lnTo>
                  <a:lnTo>
                    <a:pt x="15415" y="187868"/>
                  </a:lnTo>
                  <a:lnTo>
                    <a:pt x="21891" y="183886"/>
                  </a:lnTo>
                  <a:lnTo>
                    <a:pt x="28878" y="181016"/>
                  </a:lnTo>
                  <a:lnTo>
                    <a:pt x="36236" y="179304"/>
                  </a:lnTo>
                  <a:lnTo>
                    <a:pt x="43150" y="178838"/>
                  </a:lnTo>
                  <a:lnTo>
                    <a:pt x="281580" y="178838"/>
                  </a:lnTo>
                  <a:lnTo>
                    <a:pt x="281580" y="10835"/>
                  </a:lnTo>
                  <a:lnTo>
                    <a:pt x="17598" y="10835"/>
                  </a:lnTo>
                  <a:lnTo>
                    <a:pt x="0" y="0"/>
                  </a:lnTo>
                  <a:close/>
                </a:path>
                <a:path w="281940" h="303530">
                  <a:moveTo>
                    <a:pt x="35197" y="0"/>
                  </a:moveTo>
                  <a:lnTo>
                    <a:pt x="17598" y="10835"/>
                  </a:lnTo>
                  <a:lnTo>
                    <a:pt x="52796" y="10835"/>
                  </a:lnTo>
                  <a:lnTo>
                    <a:pt x="35197" y="0"/>
                  </a:lnTo>
                  <a:close/>
                </a:path>
                <a:path w="281940" h="303530">
                  <a:moveTo>
                    <a:pt x="70395" y="0"/>
                  </a:moveTo>
                  <a:lnTo>
                    <a:pt x="52796" y="10835"/>
                  </a:lnTo>
                  <a:lnTo>
                    <a:pt x="87993" y="10835"/>
                  </a:lnTo>
                  <a:lnTo>
                    <a:pt x="70395" y="0"/>
                  </a:lnTo>
                  <a:close/>
                </a:path>
                <a:path w="281940" h="303530">
                  <a:moveTo>
                    <a:pt x="105592" y="0"/>
                  </a:moveTo>
                  <a:lnTo>
                    <a:pt x="87993" y="10835"/>
                  </a:lnTo>
                  <a:lnTo>
                    <a:pt x="123191" y="10835"/>
                  </a:lnTo>
                  <a:lnTo>
                    <a:pt x="105592" y="0"/>
                  </a:lnTo>
                  <a:close/>
                </a:path>
                <a:path w="281940" h="303530">
                  <a:moveTo>
                    <a:pt x="140790" y="0"/>
                  </a:moveTo>
                  <a:lnTo>
                    <a:pt x="123191" y="10835"/>
                  </a:lnTo>
                  <a:lnTo>
                    <a:pt x="158389" y="10835"/>
                  </a:lnTo>
                  <a:lnTo>
                    <a:pt x="140790" y="0"/>
                  </a:lnTo>
                  <a:close/>
                </a:path>
                <a:path w="281940" h="303530">
                  <a:moveTo>
                    <a:pt x="175987" y="0"/>
                  </a:moveTo>
                  <a:lnTo>
                    <a:pt x="158389" y="10835"/>
                  </a:lnTo>
                  <a:lnTo>
                    <a:pt x="193586" y="10835"/>
                  </a:lnTo>
                  <a:lnTo>
                    <a:pt x="175987" y="0"/>
                  </a:lnTo>
                  <a:close/>
                </a:path>
                <a:path w="281940" h="303530">
                  <a:moveTo>
                    <a:pt x="211185" y="0"/>
                  </a:moveTo>
                  <a:lnTo>
                    <a:pt x="193586" y="10835"/>
                  </a:lnTo>
                  <a:lnTo>
                    <a:pt x="228784" y="10835"/>
                  </a:lnTo>
                  <a:lnTo>
                    <a:pt x="211185" y="0"/>
                  </a:lnTo>
                  <a:close/>
                </a:path>
                <a:path w="281940" h="303530">
                  <a:moveTo>
                    <a:pt x="246382" y="0"/>
                  </a:moveTo>
                  <a:lnTo>
                    <a:pt x="228784" y="10835"/>
                  </a:lnTo>
                  <a:lnTo>
                    <a:pt x="263981" y="10835"/>
                  </a:lnTo>
                  <a:lnTo>
                    <a:pt x="246382" y="0"/>
                  </a:lnTo>
                  <a:close/>
                </a:path>
                <a:path w="281940" h="303530">
                  <a:moveTo>
                    <a:pt x="281580" y="0"/>
                  </a:moveTo>
                  <a:lnTo>
                    <a:pt x="263981" y="10835"/>
                  </a:lnTo>
                  <a:lnTo>
                    <a:pt x="281580" y="10835"/>
                  </a:lnTo>
                  <a:lnTo>
                    <a:pt x="281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886200" y="1745360"/>
            <a:ext cx="5062855" cy="4209415"/>
            <a:chOff x="3886200" y="1745360"/>
            <a:chExt cx="5062855" cy="4209415"/>
          </a:xfrm>
        </p:grpSpPr>
        <p:sp>
          <p:nvSpPr>
            <p:cNvPr id="11" name="object 11"/>
            <p:cNvSpPr/>
            <p:nvPr/>
          </p:nvSpPr>
          <p:spPr>
            <a:xfrm>
              <a:off x="3886200" y="1746503"/>
              <a:ext cx="5050790" cy="2806065"/>
            </a:xfrm>
            <a:custGeom>
              <a:avLst/>
              <a:gdLst/>
              <a:ahLst/>
              <a:cxnLst/>
              <a:rect l="l" t="t" r="r" b="b"/>
              <a:pathLst>
                <a:path w="5050790" h="2806065">
                  <a:moveTo>
                    <a:pt x="5050536" y="2595372"/>
                  </a:moveTo>
                  <a:lnTo>
                    <a:pt x="0" y="2595372"/>
                  </a:lnTo>
                  <a:lnTo>
                    <a:pt x="0" y="2805684"/>
                  </a:lnTo>
                  <a:lnTo>
                    <a:pt x="5050536" y="2805684"/>
                  </a:lnTo>
                  <a:lnTo>
                    <a:pt x="5050536" y="2595372"/>
                  </a:lnTo>
                  <a:close/>
                </a:path>
                <a:path w="5050790" h="2806065">
                  <a:moveTo>
                    <a:pt x="5050536" y="1799844"/>
                  </a:moveTo>
                  <a:lnTo>
                    <a:pt x="0" y="1799844"/>
                  </a:lnTo>
                  <a:lnTo>
                    <a:pt x="0" y="2010156"/>
                  </a:lnTo>
                  <a:lnTo>
                    <a:pt x="5050536" y="2010156"/>
                  </a:lnTo>
                  <a:lnTo>
                    <a:pt x="5050536" y="1799844"/>
                  </a:lnTo>
                  <a:close/>
                </a:path>
                <a:path w="5050790" h="2806065">
                  <a:moveTo>
                    <a:pt x="5050536" y="605028"/>
                  </a:moveTo>
                  <a:lnTo>
                    <a:pt x="0" y="605028"/>
                  </a:lnTo>
                  <a:lnTo>
                    <a:pt x="0" y="815340"/>
                  </a:lnTo>
                  <a:lnTo>
                    <a:pt x="5050536" y="815340"/>
                  </a:lnTo>
                  <a:lnTo>
                    <a:pt x="5050536" y="605028"/>
                  </a:lnTo>
                  <a:close/>
                </a:path>
                <a:path w="5050790" h="2806065">
                  <a:moveTo>
                    <a:pt x="5050536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050536" y="210312"/>
                  </a:lnTo>
                  <a:lnTo>
                    <a:pt x="505053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39021" y="1754885"/>
              <a:ext cx="0" cy="2794000"/>
            </a:xfrm>
            <a:custGeom>
              <a:avLst/>
              <a:gdLst/>
              <a:ahLst/>
              <a:cxnLst/>
              <a:rect l="l" t="t" r="r" b="b"/>
              <a:pathLst>
                <a:path w="0" h="2794000">
                  <a:moveTo>
                    <a:pt x="0" y="0"/>
                  </a:moveTo>
                  <a:lnTo>
                    <a:pt x="0" y="201294"/>
                  </a:lnTo>
                </a:path>
                <a:path w="0" h="2794000">
                  <a:moveTo>
                    <a:pt x="0" y="597408"/>
                  </a:moveTo>
                  <a:lnTo>
                    <a:pt x="0" y="2793746"/>
                  </a:lnTo>
                </a:path>
              </a:pathLst>
            </a:custGeom>
            <a:ln w="19050">
              <a:solidFill>
                <a:srgbClr val="041F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48956" y="1808987"/>
              <a:ext cx="474345" cy="1108075"/>
            </a:xfrm>
            <a:custGeom>
              <a:avLst/>
              <a:gdLst/>
              <a:ahLst/>
              <a:cxnLst/>
              <a:rect l="l" t="t" r="r" b="b"/>
              <a:pathLst>
                <a:path w="474345" h="1108075">
                  <a:moveTo>
                    <a:pt x="473951" y="399288"/>
                  </a:moveTo>
                  <a:lnTo>
                    <a:pt x="451104" y="399288"/>
                  </a:lnTo>
                  <a:lnTo>
                    <a:pt x="451104" y="510540"/>
                  </a:lnTo>
                  <a:lnTo>
                    <a:pt x="473951" y="510540"/>
                  </a:lnTo>
                  <a:lnTo>
                    <a:pt x="473951" y="399288"/>
                  </a:lnTo>
                  <a:close/>
                </a:path>
                <a:path w="474345" h="1108075">
                  <a:moveTo>
                    <a:pt x="473964" y="996696"/>
                  </a:moveTo>
                  <a:lnTo>
                    <a:pt x="419100" y="996696"/>
                  </a:lnTo>
                  <a:lnTo>
                    <a:pt x="419100" y="1107948"/>
                  </a:lnTo>
                  <a:lnTo>
                    <a:pt x="473964" y="1107948"/>
                  </a:lnTo>
                  <a:lnTo>
                    <a:pt x="473964" y="996696"/>
                  </a:lnTo>
                  <a:close/>
                </a:path>
                <a:path w="474345" h="1108075">
                  <a:moveTo>
                    <a:pt x="473964" y="797052"/>
                  </a:moveTo>
                  <a:lnTo>
                    <a:pt x="352044" y="797052"/>
                  </a:lnTo>
                  <a:lnTo>
                    <a:pt x="352044" y="908304"/>
                  </a:lnTo>
                  <a:lnTo>
                    <a:pt x="473964" y="908304"/>
                  </a:lnTo>
                  <a:lnTo>
                    <a:pt x="473964" y="797052"/>
                  </a:lnTo>
                  <a:close/>
                </a:path>
                <a:path w="474345" h="1108075">
                  <a:moveTo>
                    <a:pt x="473964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473964" y="111252"/>
                  </a:lnTo>
                  <a:lnTo>
                    <a:pt x="473964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12252" y="2008631"/>
              <a:ext cx="459105" cy="3896995"/>
            </a:xfrm>
            <a:custGeom>
              <a:avLst/>
              <a:gdLst/>
              <a:ahLst/>
              <a:cxnLst/>
              <a:rect l="l" t="t" r="r" b="b"/>
              <a:pathLst>
                <a:path w="459104" h="3896995">
                  <a:moveTo>
                    <a:pt x="10668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0668" y="111252"/>
                  </a:lnTo>
                  <a:lnTo>
                    <a:pt x="10668" y="0"/>
                  </a:lnTo>
                  <a:close/>
                </a:path>
                <a:path w="459104" h="3896995">
                  <a:moveTo>
                    <a:pt x="22860" y="1196340"/>
                  </a:moveTo>
                  <a:lnTo>
                    <a:pt x="10668" y="1196340"/>
                  </a:lnTo>
                  <a:lnTo>
                    <a:pt x="10668" y="1306068"/>
                  </a:lnTo>
                  <a:lnTo>
                    <a:pt x="22860" y="1306068"/>
                  </a:lnTo>
                  <a:lnTo>
                    <a:pt x="22860" y="1196340"/>
                  </a:lnTo>
                  <a:close/>
                </a:path>
                <a:path w="459104" h="3896995">
                  <a:moveTo>
                    <a:pt x="60960" y="1793748"/>
                  </a:moveTo>
                  <a:lnTo>
                    <a:pt x="10668" y="1793748"/>
                  </a:lnTo>
                  <a:lnTo>
                    <a:pt x="10668" y="1905000"/>
                  </a:lnTo>
                  <a:lnTo>
                    <a:pt x="60960" y="1905000"/>
                  </a:lnTo>
                  <a:lnTo>
                    <a:pt x="60960" y="1793748"/>
                  </a:lnTo>
                  <a:close/>
                </a:path>
                <a:path w="459104" h="3896995">
                  <a:moveTo>
                    <a:pt x="70104" y="2191512"/>
                  </a:moveTo>
                  <a:lnTo>
                    <a:pt x="10668" y="2191512"/>
                  </a:lnTo>
                  <a:lnTo>
                    <a:pt x="10668" y="2302764"/>
                  </a:lnTo>
                  <a:lnTo>
                    <a:pt x="70104" y="2302764"/>
                  </a:lnTo>
                  <a:lnTo>
                    <a:pt x="70104" y="2191512"/>
                  </a:lnTo>
                  <a:close/>
                </a:path>
                <a:path w="459104" h="3896995">
                  <a:moveTo>
                    <a:pt x="99060" y="3188208"/>
                  </a:moveTo>
                  <a:lnTo>
                    <a:pt x="10668" y="3188208"/>
                  </a:lnTo>
                  <a:lnTo>
                    <a:pt x="10668" y="3299460"/>
                  </a:lnTo>
                  <a:lnTo>
                    <a:pt x="99060" y="3299460"/>
                  </a:lnTo>
                  <a:lnTo>
                    <a:pt x="99060" y="3188208"/>
                  </a:lnTo>
                  <a:close/>
                </a:path>
                <a:path w="459104" h="3896995">
                  <a:moveTo>
                    <a:pt x="108204" y="3587496"/>
                  </a:moveTo>
                  <a:lnTo>
                    <a:pt x="10668" y="3587496"/>
                  </a:lnTo>
                  <a:lnTo>
                    <a:pt x="10668" y="3697224"/>
                  </a:lnTo>
                  <a:lnTo>
                    <a:pt x="108204" y="3697224"/>
                  </a:lnTo>
                  <a:lnTo>
                    <a:pt x="108204" y="3587496"/>
                  </a:lnTo>
                  <a:close/>
                </a:path>
                <a:path w="459104" h="3896995">
                  <a:moveTo>
                    <a:pt x="118872" y="3785616"/>
                  </a:moveTo>
                  <a:lnTo>
                    <a:pt x="10668" y="3785616"/>
                  </a:lnTo>
                  <a:lnTo>
                    <a:pt x="10668" y="3896868"/>
                  </a:lnTo>
                  <a:lnTo>
                    <a:pt x="118872" y="3896868"/>
                  </a:lnTo>
                  <a:lnTo>
                    <a:pt x="118872" y="3785616"/>
                  </a:lnTo>
                  <a:close/>
                </a:path>
                <a:path w="459104" h="3896995">
                  <a:moveTo>
                    <a:pt x="216408" y="1394460"/>
                  </a:moveTo>
                  <a:lnTo>
                    <a:pt x="10668" y="1394460"/>
                  </a:lnTo>
                  <a:lnTo>
                    <a:pt x="10668" y="1505712"/>
                  </a:lnTo>
                  <a:lnTo>
                    <a:pt x="216408" y="1505712"/>
                  </a:lnTo>
                  <a:lnTo>
                    <a:pt x="216408" y="1394460"/>
                  </a:lnTo>
                  <a:close/>
                </a:path>
                <a:path w="459104" h="3896995">
                  <a:moveTo>
                    <a:pt x="265176" y="1993392"/>
                  </a:moveTo>
                  <a:lnTo>
                    <a:pt x="10668" y="1993392"/>
                  </a:lnTo>
                  <a:lnTo>
                    <a:pt x="10668" y="2103120"/>
                  </a:lnTo>
                  <a:lnTo>
                    <a:pt x="265176" y="2103120"/>
                  </a:lnTo>
                  <a:lnTo>
                    <a:pt x="265176" y="1993392"/>
                  </a:lnTo>
                  <a:close/>
                </a:path>
                <a:path w="459104" h="3896995">
                  <a:moveTo>
                    <a:pt x="274320" y="2790444"/>
                  </a:moveTo>
                  <a:lnTo>
                    <a:pt x="10668" y="2790444"/>
                  </a:lnTo>
                  <a:lnTo>
                    <a:pt x="10668" y="2900172"/>
                  </a:lnTo>
                  <a:lnTo>
                    <a:pt x="274320" y="2900172"/>
                  </a:lnTo>
                  <a:lnTo>
                    <a:pt x="274320" y="2790444"/>
                  </a:lnTo>
                  <a:close/>
                </a:path>
                <a:path w="459104" h="3896995">
                  <a:moveTo>
                    <a:pt x="274320" y="2590800"/>
                  </a:moveTo>
                  <a:lnTo>
                    <a:pt x="10668" y="2590800"/>
                  </a:lnTo>
                  <a:lnTo>
                    <a:pt x="10668" y="2702052"/>
                  </a:lnTo>
                  <a:lnTo>
                    <a:pt x="274320" y="2702052"/>
                  </a:lnTo>
                  <a:lnTo>
                    <a:pt x="274320" y="2590800"/>
                  </a:lnTo>
                  <a:close/>
                </a:path>
                <a:path w="459104" h="3896995">
                  <a:moveTo>
                    <a:pt x="283464" y="2988564"/>
                  </a:moveTo>
                  <a:lnTo>
                    <a:pt x="10668" y="2988564"/>
                  </a:lnTo>
                  <a:lnTo>
                    <a:pt x="10668" y="3099816"/>
                  </a:lnTo>
                  <a:lnTo>
                    <a:pt x="283464" y="3099816"/>
                  </a:lnTo>
                  <a:lnTo>
                    <a:pt x="283464" y="2988564"/>
                  </a:lnTo>
                  <a:close/>
                </a:path>
                <a:path w="459104" h="3896995">
                  <a:moveTo>
                    <a:pt x="292608" y="3387852"/>
                  </a:moveTo>
                  <a:lnTo>
                    <a:pt x="10668" y="3387852"/>
                  </a:lnTo>
                  <a:lnTo>
                    <a:pt x="10668" y="3499104"/>
                  </a:lnTo>
                  <a:lnTo>
                    <a:pt x="292608" y="3499104"/>
                  </a:lnTo>
                  <a:lnTo>
                    <a:pt x="292608" y="3387852"/>
                  </a:lnTo>
                  <a:close/>
                </a:path>
                <a:path w="459104" h="3896995">
                  <a:moveTo>
                    <a:pt x="362712" y="996696"/>
                  </a:moveTo>
                  <a:lnTo>
                    <a:pt x="10668" y="996696"/>
                  </a:lnTo>
                  <a:lnTo>
                    <a:pt x="10668" y="1107948"/>
                  </a:lnTo>
                  <a:lnTo>
                    <a:pt x="362712" y="1107948"/>
                  </a:lnTo>
                  <a:lnTo>
                    <a:pt x="362712" y="996696"/>
                  </a:lnTo>
                  <a:close/>
                </a:path>
                <a:path w="459104" h="3896995">
                  <a:moveTo>
                    <a:pt x="385572" y="399288"/>
                  </a:moveTo>
                  <a:lnTo>
                    <a:pt x="10668" y="399288"/>
                  </a:lnTo>
                  <a:lnTo>
                    <a:pt x="10668" y="509016"/>
                  </a:lnTo>
                  <a:lnTo>
                    <a:pt x="385572" y="509016"/>
                  </a:lnTo>
                  <a:lnTo>
                    <a:pt x="385572" y="399288"/>
                  </a:lnTo>
                  <a:close/>
                </a:path>
                <a:path w="459104" h="3896995">
                  <a:moveTo>
                    <a:pt x="438912" y="1594104"/>
                  </a:moveTo>
                  <a:lnTo>
                    <a:pt x="10668" y="1594104"/>
                  </a:lnTo>
                  <a:lnTo>
                    <a:pt x="10668" y="1705356"/>
                  </a:lnTo>
                  <a:lnTo>
                    <a:pt x="438912" y="1705356"/>
                  </a:lnTo>
                  <a:lnTo>
                    <a:pt x="438912" y="1594104"/>
                  </a:lnTo>
                  <a:close/>
                </a:path>
                <a:path w="459104" h="3896995">
                  <a:moveTo>
                    <a:pt x="458724" y="2391156"/>
                  </a:moveTo>
                  <a:lnTo>
                    <a:pt x="10668" y="2391156"/>
                  </a:lnTo>
                  <a:lnTo>
                    <a:pt x="10668" y="2502408"/>
                  </a:lnTo>
                  <a:lnTo>
                    <a:pt x="458724" y="2502408"/>
                  </a:lnTo>
                  <a:lnTo>
                    <a:pt x="458724" y="2391156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122920" y="1764791"/>
              <a:ext cx="0" cy="4185285"/>
            </a:xfrm>
            <a:custGeom>
              <a:avLst/>
              <a:gdLst/>
              <a:ahLst/>
              <a:cxnLst/>
              <a:rect l="l" t="t" r="r" b="b"/>
              <a:pathLst>
                <a:path w="0" h="4185285">
                  <a:moveTo>
                    <a:pt x="0" y="0"/>
                  </a:moveTo>
                  <a:lnTo>
                    <a:pt x="0" y="4184904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0" y="0"/>
            <a:ext cx="3096895" cy="6858000"/>
          </a:xfrm>
          <a:custGeom>
            <a:avLst/>
            <a:gdLst/>
            <a:ahLst/>
            <a:cxnLst/>
            <a:rect l="l" t="t" r="r" b="b"/>
            <a:pathLst>
              <a:path w="3096895" h="6858000">
                <a:moveTo>
                  <a:pt x="3096768" y="0"/>
                </a:moveTo>
                <a:lnTo>
                  <a:pt x="0" y="0"/>
                </a:lnTo>
                <a:lnTo>
                  <a:pt x="0" y="6858000"/>
                </a:lnTo>
                <a:lnTo>
                  <a:pt x="3096768" y="6858000"/>
                </a:lnTo>
                <a:lnTo>
                  <a:pt x="3096768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78663" y="2313558"/>
            <a:ext cx="1358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FFFFFF"/>
                </a:solidFill>
                <a:latin typeface="Calibri"/>
                <a:cs typeface="Calibri"/>
              </a:rPr>
              <a:t>Trendy</a:t>
            </a:r>
            <a:r>
              <a:rPr dirty="0" sz="1600" spc="-7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Matures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0"/>
            <a:ext cx="3096895" cy="3815079"/>
            <a:chOff x="0" y="0"/>
            <a:chExt cx="3096895" cy="3815079"/>
          </a:xfrm>
        </p:grpSpPr>
        <p:sp>
          <p:nvSpPr>
            <p:cNvPr id="19" name="object 19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704088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704088" y="513588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0" y="513588"/>
                  </a:moveTo>
                  <a:lnTo>
                    <a:pt x="704088" y="513588"/>
                  </a:lnTo>
                  <a:lnTo>
                    <a:pt x="704088" y="0"/>
                  </a:lnTo>
                  <a:lnTo>
                    <a:pt x="0" y="0"/>
                  </a:lnTo>
                  <a:lnTo>
                    <a:pt x="0" y="5135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6614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61416" y="512063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0" y="512063"/>
                  </a:moveTo>
                  <a:lnTo>
                    <a:pt x="661416" y="512063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62099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434339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4339" y="512063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562099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0" y="512063"/>
                  </a:moveTo>
                  <a:lnTo>
                    <a:pt x="434339" y="512063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77567" y="3296411"/>
              <a:ext cx="828040" cy="512445"/>
            </a:xfrm>
            <a:custGeom>
              <a:avLst/>
              <a:gdLst/>
              <a:ahLst/>
              <a:cxnLst/>
              <a:rect l="l" t="t" r="r" b="b"/>
              <a:pathLst>
                <a:path w="828039" h="512445">
                  <a:moveTo>
                    <a:pt x="827532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827532" y="512063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77567" y="3296411"/>
              <a:ext cx="828040" cy="512445"/>
            </a:xfrm>
            <a:custGeom>
              <a:avLst/>
              <a:gdLst/>
              <a:ahLst/>
              <a:cxnLst/>
              <a:rect l="l" t="t" r="r" b="b"/>
              <a:pathLst>
                <a:path w="828039" h="512445">
                  <a:moveTo>
                    <a:pt x="0" y="512063"/>
                  </a:moveTo>
                  <a:lnTo>
                    <a:pt x="827532" y="512063"/>
                  </a:lnTo>
                  <a:lnTo>
                    <a:pt x="827532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562099" y="3296411"/>
              <a:ext cx="266700" cy="512445"/>
            </a:xfrm>
            <a:custGeom>
              <a:avLst/>
              <a:gdLst/>
              <a:ahLst/>
              <a:cxnLst/>
              <a:rect l="l" t="t" r="r" b="b"/>
              <a:pathLst>
                <a:path w="266700" h="512445">
                  <a:moveTo>
                    <a:pt x="266700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266700" y="512063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562099" y="3296411"/>
              <a:ext cx="266700" cy="512445"/>
            </a:xfrm>
            <a:custGeom>
              <a:avLst/>
              <a:gdLst/>
              <a:ahLst/>
              <a:cxnLst/>
              <a:rect l="l" t="t" r="r" b="b"/>
              <a:pathLst>
                <a:path w="266700" h="512445">
                  <a:moveTo>
                    <a:pt x="0" y="512063"/>
                  </a:moveTo>
                  <a:lnTo>
                    <a:pt x="266700" y="512063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91667" y="3296411"/>
              <a:ext cx="459105" cy="512445"/>
            </a:xfrm>
            <a:custGeom>
              <a:avLst/>
              <a:gdLst/>
              <a:ahLst/>
              <a:cxnLst/>
              <a:rect l="l" t="t" r="r" b="b"/>
              <a:pathLst>
                <a:path w="459105" h="512445">
                  <a:moveTo>
                    <a:pt x="458723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58723" y="512063"/>
                  </a:lnTo>
                  <a:lnTo>
                    <a:pt x="45872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91667" y="3296411"/>
              <a:ext cx="459105" cy="512445"/>
            </a:xfrm>
            <a:custGeom>
              <a:avLst/>
              <a:gdLst/>
              <a:ahLst/>
              <a:cxnLst/>
              <a:rect l="l" t="t" r="r" b="b"/>
              <a:pathLst>
                <a:path w="459105" h="512445">
                  <a:moveTo>
                    <a:pt x="0" y="512063"/>
                  </a:moveTo>
                  <a:lnTo>
                    <a:pt x="458723" y="512063"/>
                  </a:lnTo>
                  <a:lnTo>
                    <a:pt x="458723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97635" y="3296411"/>
              <a:ext cx="615950" cy="512445"/>
            </a:xfrm>
            <a:custGeom>
              <a:avLst/>
              <a:gdLst/>
              <a:ahLst/>
              <a:cxnLst/>
              <a:rect l="l" t="t" r="r" b="b"/>
              <a:pathLst>
                <a:path w="615950" h="512445">
                  <a:moveTo>
                    <a:pt x="615695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15695" y="512063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97635" y="3296411"/>
              <a:ext cx="615950" cy="512445"/>
            </a:xfrm>
            <a:custGeom>
              <a:avLst/>
              <a:gdLst/>
              <a:ahLst/>
              <a:cxnLst/>
              <a:rect l="l" t="t" r="r" b="b"/>
              <a:pathLst>
                <a:path w="615950" h="512445">
                  <a:moveTo>
                    <a:pt x="0" y="512063"/>
                  </a:moveTo>
                  <a:lnTo>
                    <a:pt x="615695" y="512063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69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2062" y="2914178"/>
              <a:ext cx="173591" cy="172451"/>
            </a:xfrm>
            <a:prstGeom prst="rect">
              <a:avLst/>
            </a:prstGeom>
          </p:spPr>
        </p:pic>
        <p:pic>
          <p:nvPicPr>
            <p:cNvPr id="36" name="object 36" descr="97,800+ Middle Aged Man Laptop Stock Photos, Pictures &amp; Royalty-Free Images  - iStock | Middle aged man tablet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096767" cy="2197608"/>
            </a:xfrm>
            <a:prstGeom prst="rect">
              <a:avLst/>
            </a:prstGeom>
          </p:spPr>
        </p:pic>
      </p:grp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Product:</a:t>
            </a:r>
            <a:r>
              <a:rPr dirty="0" spc="-85" b="1">
                <a:latin typeface="Calibri"/>
                <a:cs typeface="Calibri"/>
              </a:rPr>
              <a:t> </a:t>
            </a:r>
            <a:r>
              <a:rPr dirty="0" spc="-20" i="1">
                <a:latin typeface="Calibri"/>
                <a:cs typeface="Calibri"/>
              </a:rPr>
              <a:t>Trendy</a:t>
            </a:r>
            <a:r>
              <a:rPr dirty="0" spc="-70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Matures</a:t>
            </a:r>
            <a:r>
              <a:rPr dirty="0" spc="-75" i="1">
                <a:latin typeface="Calibri"/>
                <a:cs typeface="Calibri"/>
              </a:rPr>
              <a:t> </a:t>
            </a:r>
            <a:r>
              <a:rPr dirty="0"/>
              <a:t>least</a:t>
            </a:r>
            <a:r>
              <a:rPr dirty="0" spc="-90"/>
              <a:t> </a:t>
            </a:r>
            <a:r>
              <a:rPr dirty="0"/>
              <a:t>value</a:t>
            </a:r>
            <a:r>
              <a:rPr dirty="0" spc="-60"/>
              <a:t> </a:t>
            </a:r>
            <a:r>
              <a:rPr dirty="0"/>
              <a:t>driven</a:t>
            </a:r>
            <a:r>
              <a:rPr dirty="0" spc="-80"/>
              <a:t> </a:t>
            </a:r>
            <a:r>
              <a:rPr dirty="0" spc="-10"/>
              <a:t>segment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352038" y="6345428"/>
            <a:ext cx="549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consolidation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barriers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indicated by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respondents</a:t>
            </a:r>
            <a:r>
              <a:rPr dirty="0" sz="900" spc="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where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last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purchase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was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(K01,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K02,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K03)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30440" y="1755775"/>
            <a:ext cx="287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49869" y="1915566"/>
            <a:ext cx="233679" cy="4254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09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543543" y="2352802"/>
            <a:ext cx="2463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16%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51318" y="2514676"/>
            <a:ext cx="285750" cy="4235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66040">
              <a:lnSpc>
                <a:spcPct val="100000"/>
              </a:lnSpc>
              <a:spcBef>
                <a:spcPts val="3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21318" y="2951479"/>
            <a:ext cx="2463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81467" y="3149853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75268" y="3350133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9%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597518" y="3548633"/>
            <a:ext cx="2463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18%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19567" y="3748532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22893" y="3946905"/>
            <a:ext cx="2463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28965" y="4147184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3%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432292" y="4306722"/>
            <a:ext cx="430530" cy="824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409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19%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1050">
              <a:latin typeface="Calibri"/>
              <a:cs typeface="Calibri"/>
            </a:endParaRPr>
          </a:p>
          <a:p>
            <a:pPr marL="8890">
              <a:lnSpc>
                <a:spcPct val="100000"/>
              </a:lnSpc>
              <a:spcBef>
                <a:spcPts val="32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257667" y="5142738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451468" y="5342635"/>
            <a:ext cx="2463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267065" y="5502351"/>
            <a:ext cx="187960" cy="4254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 marL="952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64809" y="148869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874389" y="1746885"/>
            <a:ext cx="3025775" cy="4002404"/>
            <a:chOff x="3874389" y="1746885"/>
            <a:chExt cx="3025775" cy="4002404"/>
          </a:xfrm>
        </p:grpSpPr>
        <p:sp>
          <p:nvSpPr>
            <p:cNvPr id="56" name="object 56"/>
            <p:cNvSpPr/>
            <p:nvPr/>
          </p:nvSpPr>
          <p:spPr>
            <a:xfrm>
              <a:off x="3880104" y="1955292"/>
              <a:ext cx="3006725" cy="3789045"/>
            </a:xfrm>
            <a:custGeom>
              <a:avLst/>
              <a:gdLst/>
              <a:ahLst/>
              <a:cxnLst/>
              <a:rect l="l" t="t" r="r" b="b"/>
              <a:pathLst>
                <a:path w="3006725" h="3789045">
                  <a:moveTo>
                    <a:pt x="0" y="0"/>
                  </a:moveTo>
                  <a:lnTo>
                    <a:pt x="3006725" y="0"/>
                  </a:lnTo>
                </a:path>
                <a:path w="3006725" h="3789045">
                  <a:moveTo>
                    <a:pt x="0" y="199644"/>
                  </a:moveTo>
                  <a:lnTo>
                    <a:pt x="3006725" y="199644"/>
                  </a:lnTo>
                </a:path>
                <a:path w="3006725" h="3789045">
                  <a:moveTo>
                    <a:pt x="0" y="397763"/>
                  </a:moveTo>
                  <a:lnTo>
                    <a:pt x="3006725" y="397763"/>
                  </a:lnTo>
                </a:path>
                <a:path w="3006725" h="3789045">
                  <a:moveTo>
                    <a:pt x="0" y="597408"/>
                  </a:moveTo>
                  <a:lnTo>
                    <a:pt x="3006725" y="597408"/>
                  </a:lnTo>
                </a:path>
                <a:path w="3006725" h="3789045">
                  <a:moveTo>
                    <a:pt x="0" y="798576"/>
                  </a:moveTo>
                  <a:lnTo>
                    <a:pt x="3006725" y="798576"/>
                  </a:lnTo>
                </a:path>
                <a:path w="3006725" h="3789045">
                  <a:moveTo>
                    <a:pt x="0" y="998220"/>
                  </a:moveTo>
                  <a:lnTo>
                    <a:pt x="3006725" y="998220"/>
                  </a:lnTo>
                </a:path>
                <a:path w="3006725" h="3789045">
                  <a:moveTo>
                    <a:pt x="0" y="1196340"/>
                  </a:moveTo>
                  <a:lnTo>
                    <a:pt x="3006725" y="1196340"/>
                  </a:lnTo>
                </a:path>
                <a:path w="3006725" h="3789045">
                  <a:moveTo>
                    <a:pt x="0" y="1395984"/>
                  </a:moveTo>
                  <a:lnTo>
                    <a:pt x="3006725" y="1395984"/>
                  </a:lnTo>
                </a:path>
                <a:path w="3006725" h="3789045">
                  <a:moveTo>
                    <a:pt x="0" y="1595628"/>
                  </a:moveTo>
                  <a:lnTo>
                    <a:pt x="3006725" y="1595628"/>
                  </a:lnTo>
                </a:path>
                <a:path w="3006725" h="3789045">
                  <a:moveTo>
                    <a:pt x="0" y="1795272"/>
                  </a:moveTo>
                  <a:lnTo>
                    <a:pt x="3006725" y="1795272"/>
                  </a:lnTo>
                </a:path>
                <a:path w="3006725" h="3789045">
                  <a:moveTo>
                    <a:pt x="0" y="1993392"/>
                  </a:moveTo>
                  <a:lnTo>
                    <a:pt x="3006725" y="1993392"/>
                  </a:lnTo>
                </a:path>
                <a:path w="3006725" h="3789045">
                  <a:moveTo>
                    <a:pt x="0" y="2193036"/>
                  </a:moveTo>
                  <a:lnTo>
                    <a:pt x="3006725" y="2193036"/>
                  </a:lnTo>
                </a:path>
                <a:path w="3006725" h="3789045">
                  <a:moveTo>
                    <a:pt x="0" y="2392680"/>
                  </a:moveTo>
                  <a:lnTo>
                    <a:pt x="3006725" y="2392680"/>
                  </a:lnTo>
                </a:path>
                <a:path w="3006725" h="3789045">
                  <a:moveTo>
                    <a:pt x="0" y="2592324"/>
                  </a:moveTo>
                  <a:lnTo>
                    <a:pt x="3006725" y="2592324"/>
                  </a:lnTo>
                </a:path>
                <a:path w="3006725" h="3789045">
                  <a:moveTo>
                    <a:pt x="0" y="2790444"/>
                  </a:moveTo>
                  <a:lnTo>
                    <a:pt x="3006725" y="2790444"/>
                  </a:lnTo>
                </a:path>
                <a:path w="3006725" h="3789045">
                  <a:moveTo>
                    <a:pt x="0" y="2990088"/>
                  </a:moveTo>
                  <a:lnTo>
                    <a:pt x="3006725" y="2990088"/>
                  </a:lnTo>
                </a:path>
                <a:path w="3006725" h="3789045">
                  <a:moveTo>
                    <a:pt x="0" y="3191256"/>
                  </a:moveTo>
                  <a:lnTo>
                    <a:pt x="3006725" y="3191256"/>
                  </a:lnTo>
                </a:path>
                <a:path w="3006725" h="3789045">
                  <a:moveTo>
                    <a:pt x="0" y="3390900"/>
                  </a:moveTo>
                  <a:lnTo>
                    <a:pt x="3006725" y="3390900"/>
                  </a:lnTo>
                </a:path>
                <a:path w="3006725" h="3789045">
                  <a:moveTo>
                    <a:pt x="0" y="3589020"/>
                  </a:moveTo>
                  <a:lnTo>
                    <a:pt x="3006725" y="3589020"/>
                  </a:lnTo>
                </a:path>
                <a:path w="3006725" h="3789045">
                  <a:moveTo>
                    <a:pt x="0" y="3788664"/>
                  </a:moveTo>
                  <a:lnTo>
                    <a:pt x="3006725" y="3788664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883914" y="1756410"/>
              <a:ext cx="3006725" cy="0"/>
            </a:xfrm>
            <a:custGeom>
              <a:avLst/>
              <a:gdLst/>
              <a:ahLst/>
              <a:cxnLst/>
              <a:rect l="l" t="t" r="r" b="b"/>
              <a:pathLst>
                <a:path w="3006725" h="0">
                  <a:moveTo>
                    <a:pt x="0" y="0"/>
                  </a:moveTo>
                  <a:lnTo>
                    <a:pt x="3006725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828788" y="1488694"/>
            <a:ext cx="565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491484" y="1717548"/>
            <a:ext cx="182880" cy="4205605"/>
            <a:chOff x="3491484" y="1717548"/>
            <a:chExt cx="182880" cy="4205605"/>
          </a:xfrm>
        </p:grpSpPr>
        <p:sp>
          <p:nvSpPr>
            <p:cNvPr id="60" name="object 60"/>
            <p:cNvSpPr/>
            <p:nvPr/>
          </p:nvSpPr>
          <p:spPr>
            <a:xfrm>
              <a:off x="3544824" y="1717548"/>
              <a:ext cx="76200" cy="4205605"/>
            </a:xfrm>
            <a:custGeom>
              <a:avLst/>
              <a:gdLst/>
              <a:ahLst/>
              <a:cxnLst/>
              <a:rect l="l" t="t" r="r" b="b"/>
              <a:pathLst>
                <a:path w="76200" h="4205605">
                  <a:moveTo>
                    <a:pt x="30099" y="4129087"/>
                  </a:moveTo>
                  <a:lnTo>
                    <a:pt x="0" y="4129087"/>
                  </a:lnTo>
                  <a:lnTo>
                    <a:pt x="38100" y="4205287"/>
                  </a:lnTo>
                  <a:lnTo>
                    <a:pt x="69850" y="4141787"/>
                  </a:lnTo>
                  <a:lnTo>
                    <a:pt x="30099" y="4141787"/>
                  </a:lnTo>
                  <a:lnTo>
                    <a:pt x="30099" y="4129087"/>
                  </a:lnTo>
                  <a:close/>
                </a:path>
                <a:path w="76200" h="420560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4141787"/>
                  </a:lnTo>
                  <a:lnTo>
                    <a:pt x="45974" y="41417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4205605">
                  <a:moveTo>
                    <a:pt x="76200" y="4129087"/>
                  </a:moveTo>
                  <a:lnTo>
                    <a:pt x="45974" y="4129087"/>
                  </a:lnTo>
                  <a:lnTo>
                    <a:pt x="45974" y="4141787"/>
                  </a:lnTo>
                  <a:lnTo>
                    <a:pt x="69850" y="4141787"/>
                  </a:lnTo>
                  <a:lnTo>
                    <a:pt x="76200" y="4129087"/>
                  </a:lnTo>
                  <a:close/>
                </a:path>
                <a:path w="76200" h="420560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420560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420560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491484" y="2933700"/>
              <a:ext cx="182880" cy="1812289"/>
            </a:xfrm>
            <a:custGeom>
              <a:avLst/>
              <a:gdLst/>
              <a:ahLst/>
              <a:cxnLst/>
              <a:rect l="l" t="t" r="r" b="b"/>
              <a:pathLst>
                <a:path w="182879" h="1812289">
                  <a:moveTo>
                    <a:pt x="182879" y="0"/>
                  </a:moveTo>
                  <a:lnTo>
                    <a:pt x="0" y="0"/>
                  </a:lnTo>
                  <a:lnTo>
                    <a:pt x="0" y="1812036"/>
                  </a:lnTo>
                  <a:lnTo>
                    <a:pt x="182879" y="181203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3508375" y="3006800"/>
            <a:ext cx="177800" cy="16675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1200" spc="-3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r>
              <a:rPr dirty="0" sz="1200" spc="-5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481637" y="1746885"/>
            <a:ext cx="3468370" cy="4208145"/>
            <a:chOff x="5481637" y="1746885"/>
            <a:chExt cx="3468370" cy="4208145"/>
          </a:xfrm>
        </p:grpSpPr>
        <p:sp>
          <p:nvSpPr>
            <p:cNvPr id="64" name="object 64"/>
            <p:cNvSpPr/>
            <p:nvPr/>
          </p:nvSpPr>
          <p:spPr>
            <a:xfrm>
              <a:off x="7271004" y="1955292"/>
              <a:ext cx="1666875" cy="3789045"/>
            </a:xfrm>
            <a:custGeom>
              <a:avLst/>
              <a:gdLst/>
              <a:ahLst/>
              <a:cxnLst/>
              <a:rect l="l" t="t" r="r" b="b"/>
              <a:pathLst>
                <a:path w="1666875" h="3789045">
                  <a:moveTo>
                    <a:pt x="0" y="0"/>
                  </a:moveTo>
                  <a:lnTo>
                    <a:pt x="1666875" y="0"/>
                  </a:lnTo>
                </a:path>
                <a:path w="1666875" h="3789045">
                  <a:moveTo>
                    <a:pt x="0" y="199644"/>
                  </a:moveTo>
                  <a:lnTo>
                    <a:pt x="1666875" y="199644"/>
                  </a:lnTo>
                </a:path>
                <a:path w="1666875" h="3789045">
                  <a:moveTo>
                    <a:pt x="0" y="397763"/>
                  </a:moveTo>
                  <a:lnTo>
                    <a:pt x="1666875" y="397763"/>
                  </a:lnTo>
                </a:path>
                <a:path w="1666875" h="3789045">
                  <a:moveTo>
                    <a:pt x="0" y="597408"/>
                  </a:moveTo>
                  <a:lnTo>
                    <a:pt x="1666875" y="597408"/>
                  </a:lnTo>
                </a:path>
                <a:path w="1666875" h="3789045">
                  <a:moveTo>
                    <a:pt x="0" y="798576"/>
                  </a:moveTo>
                  <a:lnTo>
                    <a:pt x="1666875" y="798576"/>
                  </a:lnTo>
                </a:path>
                <a:path w="1666875" h="3789045">
                  <a:moveTo>
                    <a:pt x="0" y="998220"/>
                  </a:moveTo>
                  <a:lnTo>
                    <a:pt x="1666875" y="998220"/>
                  </a:lnTo>
                </a:path>
                <a:path w="1666875" h="3789045">
                  <a:moveTo>
                    <a:pt x="0" y="1196340"/>
                  </a:moveTo>
                  <a:lnTo>
                    <a:pt x="1666875" y="1196340"/>
                  </a:lnTo>
                </a:path>
                <a:path w="1666875" h="3789045">
                  <a:moveTo>
                    <a:pt x="0" y="1395984"/>
                  </a:moveTo>
                  <a:lnTo>
                    <a:pt x="1666875" y="1395984"/>
                  </a:lnTo>
                </a:path>
                <a:path w="1666875" h="3789045">
                  <a:moveTo>
                    <a:pt x="0" y="1595628"/>
                  </a:moveTo>
                  <a:lnTo>
                    <a:pt x="1666875" y="1595628"/>
                  </a:lnTo>
                </a:path>
                <a:path w="1666875" h="3789045">
                  <a:moveTo>
                    <a:pt x="0" y="1795272"/>
                  </a:moveTo>
                  <a:lnTo>
                    <a:pt x="1666875" y="1795272"/>
                  </a:lnTo>
                </a:path>
                <a:path w="1666875" h="3789045">
                  <a:moveTo>
                    <a:pt x="0" y="1993392"/>
                  </a:moveTo>
                  <a:lnTo>
                    <a:pt x="1666875" y="1993392"/>
                  </a:lnTo>
                </a:path>
                <a:path w="1666875" h="3789045">
                  <a:moveTo>
                    <a:pt x="0" y="2193036"/>
                  </a:moveTo>
                  <a:lnTo>
                    <a:pt x="1666875" y="2193036"/>
                  </a:lnTo>
                </a:path>
                <a:path w="1666875" h="3789045">
                  <a:moveTo>
                    <a:pt x="0" y="2392680"/>
                  </a:moveTo>
                  <a:lnTo>
                    <a:pt x="1666875" y="2392680"/>
                  </a:lnTo>
                </a:path>
                <a:path w="1666875" h="3789045">
                  <a:moveTo>
                    <a:pt x="0" y="2592324"/>
                  </a:moveTo>
                  <a:lnTo>
                    <a:pt x="1666875" y="2592324"/>
                  </a:lnTo>
                </a:path>
                <a:path w="1666875" h="3789045">
                  <a:moveTo>
                    <a:pt x="0" y="2790444"/>
                  </a:moveTo>
                  <a:lnTo>
                    <a:pt x="1666875" y="2790444"/>
                  </a:lnTo>
                </a:path>
                <a:path w="1666875" h="3789045">
                  <a:moveTo>
                    <a:pt x="0" y="2990088"/>
                  </a:moveTo>
                  <a:lnTo>
                    <a:pt x="1666875" y="2990088"/>
                  </a:lnTo>
                </a:path>
                <a:path w="1666875" h="3789045">
                  <a:moveTo>
                    <a:pt x="0" y="3191256"/>
                  </a:moveTo>
                  <a:lnTo>
                    <a:pt x="1666875" y="3191256"/>
                  </a:lnTo>
                </a:path>
                <a:path w="1666875" h="3789045">
                  <a:moveTo>
                    <a:pt x="0" y="3390900"/>
                  </a:moveTo>
                  <a:lnTo>
                    <a:pt x="1666875" y="3390900"/>
                  </a:lnTo>
                </a:path>
                <a:path w="1666875" h="3789045">
                  <a:moveTo>
                    <a:pt x="0" y="3589020"/>
                  </a:moveTo>
                  <a:lnTo>
                    <a:pt x="1666875" y="3589020"/>
                  </a:lnTo>
                </a:path>
                <a:path w="1666875" h="3789045">
                  <a:moveTo>
                    <a:pt x="0" y="3788664"/>
                  </a:moveTo>
                  <a:lnTo>
                    <a:pt x="1666875" y="3788664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273289" y="1756410"/>
              <a:ext cx="1666875" cy="0"/>
            </a:xfrm>
            <a:custGeom>
              <a:avLst/>
              <a:gdLst/>
              <a:ahLst/>
              <a:cxnLst/>
              <a:rect l="l" t="t" r="r" b="b"/>
              <a:pathLst>
                <a:path w="1666875" h="0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486400" y="1808987"/>
              <a:ext cx="1030605" cy="4097020"/>
            </a:xfrm>
            <a:custGeom>
              <a:avLst/>
              <a:gdLst/>
              <a:ahLst/>
              <a:cxnLst/>
              <a:rect l="l" t="t" r="r" b="b"/>
              <a:pathLst>
                <a:path w="1030604" h="4097020">
                  <a:moveTo>
                    <a:pt x="132588" y="3985260"/>
                  </a:moveTo>
                  <a:lnTo>
                    <a:pt x="0" y="3985260"/>
                  </a:lnTo>
                  <a:lnTo>
                    <a:pt x="0" y="4096512"/>
                  </a:lnTo>
                  <a:lnTo>
                    <a:pt x="132588" y="4096512"/>
                  </a:lnTo>
                  <a:lnTo>
                    <a:pt x="132588" y="3985260"/>
                  </a:lnTo>
                  <a:close/>
                </a:path>
                <a:path w="1030604" h="4097020">
                  <a:moveTo>
                    <a:pt x="147828" y="3787140"/>
                  </a:moveTo>
                  <a:lnTo>
                    <a:pt x="0" y="3787140"/>
                  </a:lnTo>
                  <a:lnTo>
                    <a:pt x="0" y="3896868"/>
                  </a:lnTo>
                  <a:lnTo>
                    <a:pt x="147828" y="3896868"/>
                  </a:lnTo>
                  <a:lnTo>
                    <a:pt x="147828" y="3787140"/>
                  </a:lnTo>
                  <a:close/>
                </a:path>
                <a:path w="1030604" h="4097020">
                  <a:moveTo>
                    <a:pt x="161544" y="3587496"/>
                  </a:moveTo>
                  <a:lnTo>
                    <a:pt x="0" y="3587496"/>
                  </a:lnTo>
                  <a:lnTo>
                    <a:pt x="0" y="3698748"/>
                  </a:lnTo>
                  <a:lnTo>
                    <a:pt x="161544" y="3698748"/>
                  </a:lnTo>
                  <a:lnTo>
                    <a:pt x="161544" y="3587496"/>
                  </a:lnTo>
                  <a:close/>
                </a:path>
                <a:path w="1030604" h="4097020">
                  <a:moveTo>
                    <a:pt x="161544" y="3387852"/>
                  </a:moveTo>
                  <a:lnTo>
                    <a:pt x="0" y="3387852"/>
                  </a:lnTo>
                  <a:lnTo>
                    <a:pt x="0" y="3499104"/>
                  </a:lnTo>
                  <a:lnTo>
                    <a:pt x="161544" y="3499104"/>
                  </a:lnTo>
                  <a:lnTo>
                    <a:pt x="161544" y="3387852"/>
                  </a:lnTo>
                  <a:close/>
                </a:path>
                <a:path w="1030604" h="4097020">
                  <a:moveTo>
                    <a:pt x="176784" y="3188208"/>
                  </a:moveTo>
                  <a:lnTo>
                    <a:pt x="0" y="3188208"/>
                  </a:lnTo>
                  <a:lnTo>
                    <a:pt x="0" y="3299460"/>
                  </a:lnTo>
                  <a:lnTo>
                    <a:pt x="176784" y="3299460"/>
                  </a:lnTo>
                  <a:lnTo>
                    <a:pt x="176784" y="3188208"/>
                  </a:lnTo>
                  <a:close/>
                </a:path>
                <a:path w="1030604" h="4097020">
                  <a:moveTo>
                    <a:pt x="192024" y="2990088"/>
                  </a:moveTo>
                  <a:lnTo>
                    <a:pt x="0" y="2990088"/>
                  </a:lnTo>
                  <a:lnTo>
                    <a:pt x="0" y="3099816"/>
                  </a:lnTo>
                  <a:lnTo>
                    <a:pt x="192024" y="3099816"/>
                  </a:lnTo>
                  <a:lnTo>
                    <a:pt x="192024" y="2990088"/>
                  </a:lnTo>
                  <a:close/>
                </a:path>
                <a:path w="1030604" h="4097020">
                  <a:moveTo>
                    <a:pt x="192024" y="2790444"/>
                  </a:moveTo>
                  <a:lnTo>
                    <a:pt x="0" y="2790444"/>
                  </a:lnTo>
                  <a:lnTo>
                    <a:pt x="0" y="2901696"/>
                  </a:lnTo>
                  <a:lnTo>
                    <a:pt x="192024" y="2901696"/>
                  </a:lnTo>
                  <a:lnTo>
                    <a:pt x="192024" y="2790444"/>
                  </a:lnTo>
                  <a:close/>
                </a:path>
                <a:path w="1030604" h="4097020">
                  <a:moveTo>
                    <a:pt x="205740" y="2590800"/>
                  </a:moveTo>
                  <a:lnTo>
                    <a:pt x="0" y="2590800"/>
                  </a:lnTo>
                  <a:lnTo>
                    <a:pt x="0" y="2702052"/>
                  </a:lnTo>
                  <a:lnTo>
                    <a:pt x="205740" y="2702052"/>
                  </a:lnTo>
                  <a:lnTo>
                    <a:pt x="205740" y="2590800"/>
                  </a:lnTo>
                  <a:close/>
                </a:path>
                <a:path w="1030604" h="4097020">
                  <a:moveTo>
                    <a:pt x="205740" y="2391156"/>
                  </a:moveTo>
                  <a:lnTo>
                    <a:pt x="0" y="2391156"/>
                  </a:lnTo>
                  <a:lnTo>
                    <a:pt x="0" y="2502408"/>
                  </a:lnTo>
                  <a:lnTo>
                    <a:pt x="205740" y="2502408"/>
                  </a:lnTo>
                  <a:lnTo>
                    <a:pt x="205740" y="2391156"/>
                  </a:lnTo>
                  <a:close/>
                </a:path>
                <a:path w="1030604" h="4097020">
                  <a:moveTo>
                    <a:pt x="205740" y="2193036"/>
                  </a:moveTo>
                  <a:lnTo>
                    <a:pt x="0" y="2193036"/>
                  </a:lnTo>
                  <a:lnTo>
                    <a:pt x="0" y="2302764"/>
                  </a:lnTo>
                  <a:lnTo>
                    <a:pt x="205740" y="2302764"/>
                  </a:lnTo>
                  <a:lnTo>
                    <a:pt x="205740" y="2193036"/>
                  </a:lnTo>
                  <a:close/>
                </a:path>
                <a:path w="1030604" h="4097020">
                  <a:moveTo>
                    <a:pt x="220980" y="1993392"/>
                  </a:moveTo>
                  <a:lnTo>
                    <a:pt x="0" y="1993392"/>
                  </a:lnTo>
                  <a:lnTo>
                    <a:pt x="0" y="2104644"/>
                  </a:lnTo>
                  <a:lnTo>
                    <a:pt x="220980" y="2104644"/>
                  </a:lnTo>
                  <a:lnTo>
                    <a:pt x="220980" y="1993392"/>
                  </a:lnTo>
                  <a:close/>
                </a:path>
                <a:path w="1030604" h="4097020">
                  <a:moveTo>
                    <a:pt x="236220" y="1793748"/>
                  </a:moveTo>
                  <a:lnTo>
                    <a:pt x="0" y="1793748"/>
                  </a:lnTo>
                  <a:lnTo>
                    <a:pt x="0" y="1905000"/>
                  </a:lnTo>
                  <a:lnTo>
                    <a:pt x="236220" y="1905000"/>
                  </a:lnTo>
                  <a:lnTo>
                    <a:pt x="236220" y="1793748"/>
                  </a:lnTo>
                  <a:close/>
                </a:path>
                <a:path w="1030604" h="4097020">
                  <a:moveTo>
                    <a:pt x="278892" y="1594104"/>
                  </a:moveTo>
                  <a:lnTo>
                    <a:pt x="0" y="1594104"/>
                  </a:lnTo>
                  <a:lnTo>
                    <a:pt x="0" y="1705356"/>
                  </a:lnTo>
                  <a:lnTo>
                    <a:pt x="278892" y="1705356"/>
                  </a:lnTo>
                  <a:lnTo>
                    <a:pt x="278892" y="1594104"/>
                  </a:lnTo>
                  <a:close/>
                </a:path>
                <a:path w="1030604" h="4097020">
                  <a:moveTo>
                    <a:pt x="278892" y="1395984"/>
                  </a:moveTo>
                  <a:lnTo>
                    <a:pt x="0" y="1395984"/>
                  </a:lnTo>
                  <a:lnTo>
                    <a:pt x="0" y="1505712"/>
                  </a:lnTo>
                  <a:lnTo>
                    <a:pt x="278892" y="1505712"/>
                  </a:lnTo>
                  <a:lnTo>
                    <a:pt x="278892" y="1395984"/>
                  </a:lnTo>
                  <a:close/>
                </a:path>
                <a:path w="1030604" h="4097020">
                  <a:moveTo>
                    <a:pt x="353568" y="1196340"/>
                  </a:moveTo>
                  <a:lnTo>
                    <a:pt x="0" y="1196340"/>
                  </a:lnTo>
                  <a:lnTo>
                    <a:pt x="0" y="1307592"/>
                  </a:lnTo>
                  <a:lnTo>
                    <a:pt x="353568" y="1307592"/>
                  </a:lnTo>
                  <a:lnTo>
                    <a:pt x="353568" y="1196340"/>
                  </a:lnTo>
                  <a:close/>
                </a:path>
                <a:path w="1030604" h="4097020">
                  <a:moveTo>
                    <a:pt x="382524" y="996696"/>
                  </a:moveTo>
                  <a:lnTo>
                    <a:pt x="0" y="996696"/>
                  </a:lnTo>
                  <a:lnTo>
                    <a:pt x="0" y="1107948"/>
                  </a:lnTo>
                  <a:lnTo>
                    <a:pt x="382524" y="1107948"/>
                  </a:lnTo>
                  <a:lnTo>
                    <a:pt x="382524" y="996696"/>
                  </a:lnTo>
                  <a:close/>
                </a:path>
                <a:path w="1030604" h="4097020">
                  <a:moveTo>
                    <a:pt x="486156" y="797052"/>
                  </a:moveTo>
                  <a:lnTo>
                    <a:pt x="0" y="797052"/>
                  </a:lnTo>
                  <a:lnTo>
                    <a:pt x="0" y="908304"/>
                  </a:lnTo>
                  <a:lnTo>
                    <a:pt x="486156" y="908304"/>
                  </a:lnTo>
                  <a:lnTo>
                    <a:pt x="486156" y="797052"/>
                  </a:lnTo>
                  <a:close/>
                </a:path>
                <a:path w="1030604" h="4097020">
                  <a:moveTo>
                    <a:pt x="618744" y="598932"/>
                  </a:moveTo>
                  <a:lnTo>
                    <a:pt x="0" y="598932"/>
                  </a:lnTo>
                  <a:lnTo>
                    <a:pt x="0" y="708660"/>
                  </a:lnTo>
                  <a:lnTo>
                    <a:pt x="618744" y="708660"/>
                  </a:lnTo>
                  <a:lnTo>
                    <a:pt x="618744" y="598932"/>
                  </a:lnTo>
                  <a:close/>
                </a:path>
                <a:path w="1030604" h="4097020">
                  <a:moveTo>
                    <a:pt x="632460" y="399288"/>
                  </a:moveTo>
                  <a:lnTo>
                    <a:pt x="0" y="399288"/>
                  </a:lnTo>
                  <a:lnTo>
                    <a:pt x="0" y="510540"/>
                  </a:lnTo>
                  <a:lnTo>
                    <a:pt x="632460" y="510540"/>
                  </a:lnTo>
                  <a:lnTo>
                    <a:pt x="632460" y="399288"/>
                  </a:lnTo>
                  <a:close/>
                </a:path>
                <a:path w="1030604" h="4097020">
                  <a:moveTo>
                    <a:pt x="912876" y="199644"/>
                  </a:moveTo>
                  <a:lnTo>
                    <a:pt x="0" y="199644"/>
                  </a:lnTo>
                  <a:lnTo>
                    <a:pt x="0" y="310896"/>
                  </a:lnTo>
                  <a:lnTo>
                    <a:pt x="912876" y="310896"/>
                  </a:lnTo>
                  <a:lnTo>
                    <a:pt x="912876" y="199644"/>
                  </a:lnTo>
                  <a:close/>
                </a:path>
                <a:path w="1030604" h="4097020">
                  <a:moveTo>
                    <a:pt x="1030224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030224" y="111252"/>
                  </a:lnTo>
                  <a:lnTo>
                    <a:pt x="1030224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486400" y="1764792"/>
              <a:ext cx="0" cy="4185285"/>
            </a:xfrm>
            <a:custGeom>
              <a:avLst/>
              <a:gdLst/>
              <a:ahLst/>
              <a:cxnLst/>
              <a:rect l="l" t="t" r="r" b="b"/>
              <a:pathLst>
                <a:path w="0" h="4185285">
                  <a:moveTo>
                    <a:pt x="0" y="0"/>
                  </a:moveTo>
                  <a:lnTo>
                    <a:pt x="0" y="4184904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6444360" y="1717954"/>
            <a:ext cx="364490" cy="42290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29%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956558" y="1485976"/>
            <a:ext cx="1456690" cy="4450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endParaRPr sz="1200">
              <a:latin typeface="Calibri"/>
              <a:cs typeface="Calibri"/>
            </a:endParaRPr>
          </a:p>
          <a:p>
            <a:pPr marR="214629">
              <a:lnSpc>
                <a:spcPct val="124500"/>
              </a:lnSpc>
              <a:spcBef>
                <a:spcPts val="450"/>
              </a:spcBef>
            </a:pP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1050" spc="-1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value</a:t>
            </a:r>
            <a:r>
              <a:rPr dirty="0" sz="1050" spc="-4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for</a:t>
            </a:r>
            <a:r>
              <a:rPr dirty="0" sz="1050" spc="-1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1B1C1B"/>
                </a:solidFill>
                <a:latin typeface="Calibri"/>
                <a:cs typeface="Calibri"/>
              </a:rPr>
              <a:t>money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Better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suited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choices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Not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on</a:t>
            </a:r>
            <a:r>
              <a:rPr dirty="0" sz="1050" spc="-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discount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1050" spc="-4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B1C1B"/>
                </a:solidFill>
                <a:latin typeface="Calibri"/>
                <a:cs typeface="Calibri"/>
              </a:rPr>
              <a:t>access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find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Unaware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product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Lack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specific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benefit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Tried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and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portion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size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2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B1C1B"/>
                </a:solidFill>
                <a:latin typeface="Calibri"/>
                <a:cs typeface="Calibri"/>
              </a:rPr>
              <a:t>quality</a:t>
            </a:r>
            <a:endParaRPr sz="1050">
              <a:latin typeface="Calibri"/>
              <a:cs typeface="Calibri"/>
            </a:endParaRPr>
          </a:p>
          <a:p>
            <a:pPr marR="103505">
              <a:lnSpc>
                <a:spcPct val="124000"/>
              </a:lnSpc>
              <a:spcBef>
                <a:spcPts val="10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Recommended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against</a:t>
            </a:r>
            <a:r>
              <a:rPr dirty="0" sz="1050" spc="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packaging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trust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brand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unique</a:t>
            </a:r>
            <a:endParaRPr sz="1050">
              <a:latin typeface="Calibri"/>
              <a:cs typeface="Calibri"/>
            </a:endParaRPr>
          </a:p>
          <a:p>
            <a:pPr marR="155575">
              <a:lnSpc>
                <a:spcPts val="1580"/>
              </a:lnSpc>
              <a:spcBef>
                <a:spcPts val="9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come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with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extras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include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gift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reviews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customizable</a:t>
            </a:r>
            <a:endParaRPr sz="1050">
              <a:latin typeface="Calibri"/>
              <a:cs typeface="Calibri"/>
            </a:endParaRPr>
          </a:p>
          <a:p>
            <a:pPr marR="5080">
              <a:lnSpc>
                <a:spcPts val="1580"/>
              </a:lnSpc>
              <a:spcBef>
                <a:spcPts val="8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brand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part</a:t>
            </a:r>
            <a:r>
              <a:rPr dirty="0" sz="105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combo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deal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663438" y="2116988"/>
            <a:ext cx="748665" cy="38112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501650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18%</a:t>
            </a:r>
            <a:endParaRPr sz="105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105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1050">
              <a:latin typeface="Calibri"/>
              <a:cs typeface="Calibri"/>
            </a:endParaRPr>
          </a:p>
          <a:p>
            <a:pPr marL="25082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1050">
              <a:latin typeface="Calibri"/>
              <a:cs typeface="Calibri"/>
            </a:endParaRPr>
          </a:p>
          <a:p>
            <a:pPr marL="22225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10%</a:t>
            </a:r>
            <a:endParaRPr sz="1050">
              <a:latin typeface="Calibri"/>
              <a:cs typeface="Calibri"/>
            </a:endParaRPr>
          </a:p>
          <a:p>
            <a:pPr marL="14732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  <a:p>
            <a:pPr marL="147320">
              <a:lnSpc>
                <a:spcPct val="100000"/>
              </a:lnSpc>
              <a:spcBef>
                <a:spcPts val="32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  <a:p>
            <a:pPr marL="10287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105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575672" y="1856613"/>
            <a:ext cx="2044700" cy="1587500"/>
            <a:chOff x="9575672" y="1856613"/>
            <a:chExt cx="2044700" cy="1587500"/>
          </a:xfrm>
        </p:grpSpPr>
        <p:sp>
          <p:nvSpPr>
            <p:cNvPr id="72" name="object 72"/>
            <p:cNvSpPr/>
            <p:nvPr/>
          </p:nvSpPr>
          <p:spPr>
            <a:xfrm>
              <a:off x="9585197" y="1866138"/>
              <a:ext cx="2025650" cy="1568450"/>
            </a:xfrm>
            <a:custGeom>
              <a:avLst/>
              <a:gdLst/>
              <a:ahLst/>
              <a:cxnLst/>
              <a:rect l="l" t="t" r="r" b="b"/>
              <a:pathLst>
                <a:path w="2025650" h="1568450">
                  <a:moveTo>
                    <a:pt x="2025396" y="0"/>
                  </a:moveTo>
                  <a:lnTo>
                    <a:pt x="0" y="0"/>
                  </a:lnTo>
                  <a:lnTo>
                    <a:pt x="0" y="1568196"/>
                  </a:lnTo>
                  <a:lnTo>
                    <a:pt x="2025396" y="1568196"/>
                  </a:lnTo>
                  <a:lnTo>
                    <a:pt x="202539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585197" y="1866138"/>
              <a:ext cx="2025650" cy="1568450"/>
            </a:xfrm>
            <a:custGeom>
              <a:avLst/>
              <a:gdLst/>
              <a:ahLst/>
              <a:cxnLst/>
              <a:rect l="l" t="t" r="r" b="b"/>
              <a:pathLst>
                <a:path w="2025650" h="1568450">
                  <a:moveTo>
                    <a:pt x="0" y="1568196"/>
                  </a:moveTo>
                  <a:lnTo>
                    <a:pt x="2025396" y="1568196"/>
                  </a:lnTo>
                  <a:lnTo>
                    <a:pt x="2025396" y="0"/>
                  </a:lnTo>
                  <a:lnTo>
                    <a:pt x="0" y="0"/>
                  </a:lnTo>
                  <a:lnTo>
                    <a:pt x="0" y="1568196"/>
                  </a:lnTo>
                  <a:close/>
                </a:path>
              </a:pathLst>
            </a:custGeom>
            <a:ln w="19050">
              <a:solidFill>
                <a:srgbClr val="1B1C1B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9738614" y="2148027"/>
            <a:ext cx="1731645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Despite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value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10">
                <a:latin typeface="Calibri"/>
                <a:cs typeface="Calibri"/>
              </a:rPr>
              <a:t> price-driven </a:t>
            </a:r>
            <a:r>
              <a:rPr dirty="0" sz="1050">
                <a:latin typeface="Calibri"/>
                <a:cs typeface="Calibri"/>
              </a:rPr>
              <a:t>barriers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holding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significant </a:t>
            </a:r>
            <a:r>
              <a:rPr dirty="0" sz="1050">
                <a:latin typeface="Calibri"/>
                <a:cs typeface="Calibri"/>
              </a:rPr>
              <a:t>importance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across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broader </a:t>
            </a:r>
            <a:r>
              <a:rPr dirty="0" sz="1050">
                <a:latin typeface="Calibri"/>
                <a:cs typeface="Calibri"/>
              </a:rPr>
              <a:t>sample;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poor</a:t>
            </a:r>
            <a:r>
              <a:rPr dirty="0" sz="1050" spc="-2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value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for</a:t>
            </a:r>
            <a:r>
              <a:rPr dirty="0" sz="1050" spc="-1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money</a:t>
            </a:r>
            <a:r>
              <a:rPr dirty="0" sz="1050" spc="-40" i="1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is </a:t>
            </a:r>
            <a:r>
              <a:rPr dirty="0" sz="1050">
                <a:latin typeface="Calibri"/>
                <a:cs typeface="Calibri"/>
              </a:rPr>
              <a:t>least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important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Trendy</a:t>
            </a:r>
            <a:r>
              <a:rPr dirty="0" sz="1050" spc="-10" i="1">
                <a:latin typeface="Calibri"/>
                <a:cs typeface="Calibri"/>
              </a:rPr>
              <a:t> Matures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9575672" y="3906392"/>
            <a:ext cx="2044700" cy="2026285"/>
            <a:chOff x="9575672" y="3906392"/>
            <a:chExt cx="2044700" cy="2026285"/>
          </a:xfrm>
        </p:grpSpPr>
        <p:sp>
          <p:nvSpPr>
            <p:cNvPr id="76" name="object 76"/>
            <p:cNvSpPr/>
            <p:nvPr/>
          </p:nvSpPr>
          <p:spPr>
            <a:xfrm>
              <a:off x="9585197" y="3915917"/>
              <a:ext cx="2025650" cy="2007235"/>
            </a:xfrm>
            <a:custGeom>
              <a:avLst/>
              <a:gdLst/>
              <a:ahLst/>
              <a:cxnLst/>
              <a:rect l="l" t="t" r="r" b="b"/>
              <a:pathLst>
                <a:path w="2025650" h="2007235">
                  <a:moveTo>
                    <a:pt x="2025396" y="0"/>
                  </a:moveTo>
                  <a:lnTo>
                    <a:pt x="0" y="0"/>
                  </a:lnTo>
                  <a:lnTo>
                    <a:pt x="0" y="2007107"/>
                  </a:lnTo>
                  <a:lnTo>
                    <a:pt x="2025396" y="2007107"/>
                  </a:lnTo>
                  <a:lnTo>
                    <a:pt x="202539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585197" y="3915917"/>
              <a:ext cx="2025650" cy="2007235"/>
            </a:xfrm>
            <a:custGeom>
              <a:avLst/>
              <a:gdLst/>
              <a:ahLst/>
              <a:cxnLst/>
              <a:rect l="l" t="t" r="r" b="b"/>
              <a:pathLst>
                <a:path w="2025650" h="2007235">
                  <a:moveTo>
                    <a:pt x="0" y="2007107"/>
                  </a:moveTo>
                  <a:lnTo>
                    <a:pt x="2025396" y="2007107"/>
                  </a:lnTo>
                  <a:lnTo>
                    <a:pt x="2025396" y="0"/>
                  </a:lnTo>
                  <a:lnTo>
                    <a:pt x="0" y="0"/>
                  </a:lnTo>
                  <a:lnTo>
                    <a:pt x="0" y="2007107"/>
                  </a:lnTo>
                  <a:close/>
                </a:path>
              </a:pathLst>
            </a:custGeom>
            <a:ln w="19050">
              <a:solidFill>
                <a:srgbClr val="1B1C1B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9741661" y="4338320"/>
            <a:ext cx="1724660" cy="1146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 indent="635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Barriers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higher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importance </a:t>
            </a:r>
            <a:r>
              <a:rPr dirty="0" sz="1050">
                <a:latin typeface="Calibri"/>
                <a:cs typeface="Calibri"/>
              </a:rPr>
              <a:t>include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difficulty</a:t>
            </a:r>
            <a:r>
              <a:rPr dirty="0" sz="1050" spc="-3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to</a:t>
            </a:r>
            <a:r>
              <a:rPr dirty="0" sz="1050" spc="-15" i="1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access</a:t>
            </a:r>
            <a:r>
              <a:rPr dirty="0" sz="1050" spc="-10" i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which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 top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barrier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>
                <a:latin typeface="Calibri"/>
                <a:cs typeface="Calibri"/>
              </a:rPr>
              <a:t>segment,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alongside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don’t</a:t>
            </a:r>
            <a:r>
              <a:rPr dirty="0" sz="1050" spc="-35" i="1">
                <a:latin typeface="Calibri"/>
                <a:cs typeface="Calibri"/>
              </a:rPr>
              <a:t> </a:t>
            </a:r>
            <a:r>
              <a:rPr dirty="0" sz="1050" spc="-20" i="1">
                <a:latin typeface="Calibri"/>
                <a:cs typeface="Calibri"/>
              </a:rPr>
              <a:t>like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the</a:t>
            </a:r>
            <a:r>
              <a:rPr dirty="0" sz="1050" spc="-3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quality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others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don’t</a:t>
            </a:r>
            <a:r>
              <a:rPr dirty="0" sz="1050" spc="-30" i="1">
                <a:latin typeface="Calibri"/>
                <a:cs typeface="Calibri"/>
              </a:rPr>
              <a:t> </a:t>
            </a:r>
            <a:r>
              <a:rPr dirty="0" sz="1050" spc="-20" i="1">
                <a:latin typeface="Calibri"/>
                <a:cs typeface="Calibri"/>
              </a:rPr>
              <a:t>like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the</a:t>
            </a:r>
            <a:r>
              <a:rPr dirty="0" sz="1050" spc="-3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product</a:t>
            </a:r>
            <a:r>
              <a:rPr dirty="0" sz="1050" spc="-40" i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highlighting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50">
                <a:latin typeface="Calibri"/>
                <a:cs typeface="Calibri"/>
              </a:rPr>
              <a:t>a</a:t>
            </a:r>
            <a:r>
              <a:rPr dirty="0" sz="1050" spc="-10">
                <a:latin typeface="Calibri"/>
                <a:cs typeface="Calibri"/>
              </a:rPr>
              <a:t> recommendation</a:t>
            </a:r>
            <a:r>
              <a:rPr dirty="0" sz="1050" spc="4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issue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8927972" y="1745360"/>
            <a:ext cx="2778760" cy="3183890"/>
            <a:chOff x="8927972" y="1745360"/>
            <a:chExt cx="2778760" cy="3183890"/>
          </a:xfrm>
        </p:grpSpPr>
        <p:sp>
          <p:nvSpPr>
            <p:cNvPr id="80" name="object 80"/>
            <p:cNvSpPr/>
            <p:nvPr/>
          </p:nvSpPr>
          <p:spPr>
            <a:xfrm>
              <a:off x="9495281" y="1754885"/>
              <a:ext cx="2202180" cy="0"/>
            </a:xfrm>
            <a:custGeom>
              <a:avLst/>
              <a:gdLst/>
              <a:ahLst/>
              <a:cxnLst/>
              <a:rect l="l" t="t" r="r" b="b"/>
              <a:pathLst>
                <a:path w="2202179" h="0">
                  <a:moveTo>
                    <a:pt x="0" y="0"/>
                  </a:moveTo>
                  <a:lnTo>
                    <a:pt x="2201926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8937497" y="1852421"/>
              <a:ext cx="647700" cy="3067685"/>
            </a:xfrm>
            <a:custGeom>
              <a:avLst/>
              <a:gdLst/>
              <a:ahLst/>
              <a:cxnLst/>
              <a:rect l="l" t="t" r="r" b="b"/>
              <a:pathLst>
                <a:path w="647700" h="3067685">
                  <a:moveTo>
                    <a:pt x="0" y="0"/>
                  </a:moveTo>
                  <a:lnTo>
                    <a:pt x="323850" y="0"/>
                  </a:lnTo>
                  <a:lnTo>
                    <a:pt x="323850" y="797560"/>
                  </a:lnTo>
                  <a:lnTo>
                    <a:pt x="647700" y="797560"/>
                  </a:lnTo>
                </a:path>
                <a:path w="647700" h="3067685">
                  <a:moveTo>
                    <a:pt x="0" y="1799844"/>
                  </a:moveTo>
                  <a:lnTo>
                    <a:pt x="323850" y="1799844"/>
                  </a:lnTo>
                  <a:lnTo>
                    <a:pt x="323850" y="3067304"/>
                  </a:lnTo>
                  <a:lnTo>
                    <a:pt x="647700" y="3067304"/>
                  </a:lnTo>
                </a:path>
              </a:pathLst>
            </a:custGeom>
            <a:ln w="19050">
              <a:solidFill>
                <a:srgbClr val="041F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10281793" y="1481150"/>
            <a:ext cx="6432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Highlights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78663" y="3965194"/>
            <a:ext cx="938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barriers: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91668" y="4209097"/>
            <a:ext cx="2313940" cy="1715135"/>
            <a:chOff x="391668" y="4209097"/>
            <a:chExt cx="2313940" cy="1715135"/>
          </a:xfrm>
        </p:grpSpPr>
        <p:sp>
          <p:nvSpPr>
            <p:cNvPr id="85" name="object 85"/>
            <p:cNvSpPr/>
            <p:nvPr/>
          </p:nvSpPr>
          <p:spPr>
            <a:xfrm>
              <a:off x="391668" y="4213859"/>
              <a:ext cx="2313940" cy="0"/>
            </a:xfrm>
            <a:custGeom>
              <a:avLst/>
              <a:gdLst/>
              <a:ahLst/>
              <a:cxnLst/>
              <a:rect l="l" t="t" r="r" b="b"/>
              <a:pathLst>
                <a:path w="2313940" h="0">
                  <a:moveTo>
                    <a:pt x="2313813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00103" y="5827439"/>
              <a:ext cx="286385" cy="96520"/>
            </a:xfrm>
            <a:custGeom>
              <a:avLst/>
              <a:gdLst/>
              <a:ahLst/>
              <a:cxnLst/>
              <a:rect l="l" t="t" r="r" b="b"/>
              <a:pathLst>
                <a:path w="286384" h="96520">
                  <a:moveTo>
                    <a:pt x="142955" y="0"/>
                  </a:moveTo>
                  <a:lnTo>
                    <a:pt x="130913" y="36147"/>
                  </a:lnTo>
                  <a:lnTo>
                    <a:pt x="0" y="36147"/>
                  </a:lnTo>
                  <a:lnTo>
                    <a:pt x="27697" y="60245"/>
                  </a:lnTo>
                  <a:lnTo>
                    <a:pt x="16859" y="96393"/>
                  </a:lnTo>
                  <a:lnTo>
                    <a:pt x="48169" y="74704"/>
                  </a:lnTo>
                  <a:lnTo>
                    <a:pt x="72978" y="74704"/>
                  </a:lnTo>
                  <a:lnTo>
                    <a:pt x="68644" y="60245"/>
                  </a:lnTo>
                  <a:lnTo>
                    <a:pt x="95562" y="36821"/>
                  </a:lnTo>
                  <a:lnTo>
                    <a:pt x="137238" y="36821"/>
                  </a:lnTo>
                  <a:lnTo>
                    <a:pt x="142955" y="19664"/>
                  </a:lnTo>
                  <a:lnTo>
                    <a:pt x="149506" y="19664"/>
                  </a:lnTo>
                  <a:lnTo>
                    <a:pt x="142955" y="0"/>
                  </a:lnTo>
                  <a:close/>
                </a:path>
                <a:path w="286384" h="96520">
                  <a:moveTo>
                    <a:pt x="72978" y="74704"/>
                  </a:moveTo>
                  <a:lnTo>
                    <a:pt x="48169" y="74704"/>
                  </a:lnTo>
                  <a:lnTo>
                    <a:pt x="79480" y="96393"/>
                  </a:lnTo>
                  <a:lnTo>
                    <a:pt x="72978" y="74704"/>
                  </a:lnTo>
                  <a:close/>
                </a:path>
                <a:path w="286384" h="96520">
                  <a:moveTo>
                    <a:pt x="137238" y="36821"/>
                  </a:moveTo>
                  <a:lnTo>
                    <a:pt x="95562" y="36821"/>
                  </a:lnTo>
                  <a:lnTo>
                    <a:pt x="122483" y="60245"/>
                  </a:lnTo>
                  <a:lnTo>
                    <a:pt x="111645" y="96393"/>
                  </a:lnTo>
                  <a:lnTo>
                    <a:pt x="133618" y="81172"/>
                  </a:lnTo>
                  <a:lnTo>
                    <a:pt x="122695" y="81172"/>
                  </a:lnTo>
                  <a:lnTo>
                    <a:pt x="129589" y="58188"/>
                  </a:lnTo>
                  <a:lnTo>
                    <a:pt x="111406" y="42366"/>
                  </a:lnTo>
                  <a:lnTo>
                    <a:pt x="135390" y="42366"/>
                  </a:lnTo>
                  <a:lnTo>
                    <a:pt x="137238" y="36821"/>
                  </a:lnTo>
                  <a:close/>
                </a:path>
                <a:path w="286384" h="96520">
                  <a:moveTo>
                    <a:pt x="153877" y="74704"/>
                  </a:moveTo>
                  <a:lnTo>
                    <a:pt x="142955" y="74704"/>
                  </a:lnTo>
                  <a:lnTo>
                    <a:pt x="174266" y="96393"/>
                  </a:lnTo>
                  <a:lnTo>
                    <a:pt x="169702" y="81172"/>
                  </a:lnTo>
                  <a:lnTo>
                    <a:pt x="163213" y="81172"/>
                  </a:lnTo>
                  <a:lnTo>
                    <a:pt x="153877" y="74704"/>
                  </a:lnTo>
                  <a:close/>
                </a:path>
                <a:path w="286384" h="96520">
                  <a:moveTo>
                    <a:pt x="232024" y="36821"/>
                  </a:moveTo>
                  <a:lnTo>
                    <a:pt x="190348" y="36821"/>
                  </a:lnTo>
                  <a:lnTo>
                    <a:pt x="217269" y="60245"/>
                  </a:lnTo>
                  <a:lnTo>
                    <a:pt x="206431" y="96393"/>
                  </a:lnTo>
                  <a:lnTo>
                    <a:pt x="228404" y="81172"/>
                  </a:lnTo>
                  <a:lnTo>
                    <a:pt x="217481" y="81172"/>
                  </a:lnTo>
                  <a:lnTo>
                    <a:pt x="224376" y="58188"/>
                  </a:lnTo>
                  <a:lnTo>
                    <a:pt x="206193" y="42366"/>
                  </a:lnTo>
                  <a:lnTo>
                    <a:pt x="230177" y="42366"/>
                  </a:lnTo>
                  <a:lnTo>
                    <a:pt x="232024" y="36821"/>
                  </a:lnTo>
                  <a:close/>
                </a:path>
                <a:path w="286384" h="96520">
                  <a:moveTo>
                    <a:pt x="248664" y="74704"/>
                  </a:moveTo>
                  <a:lnTo>
                    <a:pt x="237741" y="74704"/>
                  </a:lnTo>
                  <a:lnTo>
                    <a:pt x="269060" y="96393"/>
                  </a:lnTo>
                  <a:lnTo>
                    <a:pt x="264491" y="81172"/>
                  </a:lnTo>
                  <a:lnTo>
                    <a:pt x="258001" y="81172"/>
                  </a:lnTo>
                  <a:lnTo>
                    <a:pt x="248664" y="74704"/>
                  </a:lnTo>
                  <a:close/>
                </a:path>
                <a:path w="286384" h="96520">
                  <a:moveTo>
                    <a:pt x="142955" y="67138"/>
                  </a:moveTo>
                  <a:lnTo>
                    <a:pt x="122695" y="81172"/>
                  </a:lnTo>
                  <a:lnTo>
                    <a:pt x="133618" y="81172"/>
                  </a:lnTo>
                  <a:lnTo>
                    <a:pt x="142955" y="74704"/>
                  </a:lnTo>
                  <a:lnTo>
                    <a:pt x="153877" y="74704"/>
                  </a:lnTo>
                  <a:lnTo>
                    <a:pt x="142955" y="67138"/>
                  </a:lnTo>
                  <a:close/>
                </a:path>
                <a:path w="286384" h="96520">
                  <a:moveTo>
                    <a:pt x="149506" y="19664"/>
                  </a:moveTo>
                  <a:lnTo>
                    <a:pt x="142955" y="19664"/>
                  </a:lnTo>
                  <a:lnTo>
                    <a:pt x="150517" y="42366"/>
                  </a:lnTo>
                  <a:lnTo>
                    <a:pt x="174507" y="42366"/>
                  </a:lnTo>
                  <a:lnTo>
                    <a:pt x="156321" y="58188"/>
                  </a:lnTo>
                  <a:lnTo>
                    <a:pt x="163213" y="81172"/>
                  </a:lnTo>
                  <a:lnTo>
                    <a:pt x="169702" y="81172"/>
                  </a:lnTo>
                  <a:lnTo>
                    <a:pt x="163427" y="60245"/>
                  </a:lnTo>
                  <a:lnTo>
                    <a:pt x="190348" y="36821"/>
                  </a:lnTo>
                  <a:lnTo>
                    <a:pt x="232024" y="36821"/>
                  </a:lnTo>
                  <a:lnTo>
                    <a:pt x="232249" y="36147"/>
                  </a:lnTo>
                  <a:lnTo>
                    <a:pt x="154998" y="36147"/>
                  </a:lnTo>
                  <a:lnTo>
                    <a:pt x="149506" y="19664"/>
                  </a:lnTo>
                  <a:close/>
                </a:path>
                <a:path w="286384" h="96520">
                  <a:moveTo>
                    <a:pt x="237741" y="67138"/>
                  </a:moveTo>
                  <a:lnTo>
                    <a:pt x="217481" y="81172"/>
                  </a:lnTo>
                  <a:lnTo>
                    <a:pt x="228404" y="81172"/>
                  </a:lnTo>
                  <a:lnTo>
                    <a:pt x="237741" y="74704"/>
                  </a:lnTo>
                  <a:lnTo>
                    <a:pt x="248664" y="74704"/>
                  </a:lnTo>
                  <a:lnTo>
                    <a:pt x="237741" y="67138"/>
                  </a:lnTo>
                  <a:close/>
                </a:path>
                <a:path w="286384" h="96520">
                  <a:moveTo>
                    <a:pt x="244293" y="19664"/>
                  </a:moveTo>
                  <a:lnTo>
                    <a:pt x="237741" y="19664"/>
                  </a:lnTo>
                  <a:lnTo>
                    <a:pt x="245304" y="42366"/>
                  </a:lnTo>
                  <a:lnTo>
                    <a:pt x="269293" y="42366"/>
                  </a:lnTo>
                  <a:lnTo>
                    <a:pt x="251112" y="58188"/>
                  </a:lnTo>
                  <a:lnTo>
                    <a:pt x="258001" y="81172"/>
                  </a:lnTo>
                  <a:lnTo>
                    <a:pt x="264491" y="81172"/>
                  </a:lnTo>
                  <a:lnTo>
                    <a:pt x="258208" y="60245"/>
                  </a:lnTo>
                  <a:lnTo>
                    <a:pt x="285919" y="36147"/>
                  </a:lnTo>
                  <a:lnTo>
                    <a:pt x="249784" y="36147"/>
                  </a:lnTo>
                  <a:lnTo>
                    <a:pt x="244293" y="19664"/>
                  </a:lnTo>
                  <a:close/>
                </a:path>
                <a:path w="286384" h="96520">
                  <a:moveTo>
                    <a:pt x="48169" y="0"/>
                  </a:moveTo>
                  <a:lnTo>
                    <a:pt x="36127" y="36147"/>
                  </a:lnTo>
                  <a:lnTo>
                    <a:pt x="60212" y="36147"/>
                  </a:lnTo>
                  <a:lnTo>
                    <a:pt x="48169" y="0"/>
                  </a:lnTo>
                  <a:close/>
                </a:path>
                <a:path w="286384" h="96520">
                  <a:moveTo>
                    <a:pt x="237741" y="0"/>
                  </a:moveTo>
                  <a:lnTo>
                    <a:pt x="225699" y="36147"/>
                  </a:lnTo>
                  <a:lnTo>
                    <a:pt x="232249" y="36147"/>
                  </a:lnTo>
                  <a:lnTo>
                    <a:pt x="237741" y="19664"/>
                  </a:lnTo>
                  <a:lnTo>
                    <a:pt x="244293" y="19664"/>
                  </a:lnTo>
                  <a:lnTo>
                    <a:pt x="2377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343" y="5134007"/>
              <a:ext cx="223862" cy="248756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91668" y="4951475"/>
              <a:ext cx="2313940" cy="614680"/>
            </a:xfrm>
            <a:custGeom>
              <a:avLst/>
              <a:gdLst/>
              <a:ahLst/>
              <a:cxnLst/>
              <a:rect l="l" t="t" r="r" b="b"/>
              <a:pathLst>
                <a:path w="2313940" h="614679">
                  <a:moveTo>
                    <a:pt x="2313813" y="0"/>
                  </a:moveTo>
                  <a:lnTo>
                    <a:pt x="0" y="0"/>
                  </a:lnTo>
                </a:path>
                <a:path w="2313940" h="614679">
                  <a:moveTo>
                    <a:pt x="2313813" y="614172"/>
                  </a:moveTo>
                  <a:lnTo>
                    <a:pt x="0" y="614172"/>
                  </a:lnTo>
                </a:path>
              </a:pathLst>
            </a:custGeom>
            <a:ln w="9525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942" y="4526219"/>
              <a:ext cx="236063" cy="237389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905052" y="5153659"/>
            <a:ext cx="1584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suited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choices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(25%)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91336" y="5768441"/>
            <a:ext cx="13773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dirty="0" sz="1100" spc="-3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1100" spc="-1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(25%)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94689" y="4538852"/>
            <a:ext cx="13982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dirty="0" sz="1100" spc="-3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100" spc="-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(33%)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364229" y="1386077"/>
            <a:ext cx="8437245" cy="4762500"/>
          </a:xfrm>
          <a:custGeom>
            <a:avLst/>
            <a:gdLst/>
            <a:ahLst/>
            <a:cxnLst/>
            <a:rect l="l" t="t" r="r" b="b"/>
            <a:pathLst>
              <a:path w="8437245" h="4762500">
                <a:moveTo>
                  <a:pt x="0" y="4762500"/>
                </a:moveTo>
                <a:lnTo>
                  <a:pt x="8436864" y="4762500"/>
                </a:lnTo>
                <a:lnTo>
                  <a:pt x="8436864" y="0"/>
                </a:lnTo>
                <a:lnTo>
                  <a:pt x="0" y="0"/>
                </a:lnTo>
                <a:lnTo>
                  <a:pt x="0" y="4762500"/>
                </a:lnTo>
                <a:close/>
              </a:path>
            </a:pathLst>
          </a:custGeom>
          <a:ln w="19050">
            <a:solidFill>
              <a:srgbClr val="0317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10342244" y="1126997"/>
            <a:ext cx="14706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CC0000"/>
                </a:solidFill>
                <a:latin typeface="Calibri"/>
                <a:cs typeface="Calibri"/>
              </a:rPr>
              <a:t>Directional:</a:t>
            </a:r>
            <a:r>
              <a:rPr dirty="0" sz="1100" spc="-35" b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CC0000"/>
                </a:solidFill>
                <a:latin typeface="Calibri"/>
                <a:cs typeface="Calibri"/>
              </a:rPr>
              <a:t>low</a:t>
            </a:r>
            <a:r>
              <a:rPr dirty="0" sz="1100" spc="-25" i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CC0000"/>
                </a:solidFill>
                <a:latin typeface="Calibri"/>
                <a:cs typeface="Calibri"/>
              </a:rPr>
              <a:t>base</a:t>
            </a:r>
            <a:r>
              <a:rPr dirty="0" sz="1100" spc="-35" i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CC0000"/>
                </a:solidFill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37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4438" y="407328"/>
              <a:ext cx="75810" cy="758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0603" y="250206"/>
              <a:ext cx="151620" cy="232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595702" y="217698"/>
              <a:ext cx="303530" cy="227965"/>
            </a:xfrm>
            <a:custGeom>
              <a:avLst/>
              <a:gdLst/>
              <a:ahLst/>
              <a:cxnLst/>
              <a:rect l="l" t="t" r="r" b="b"/>
              <a:pathLst>
                <a:path w="303529" h="227965">
                  <a:moveTo>
                    <a:pt x="303240" y="0"/>
                  </a:moveTo>
                  <a:lnTo>
                    <a:pt x="0" y="0"/>
                  </a:lnTo>
                  <a:lnTo>
                    <a:pt x="0" y="227555"/>
                  </a:lnTo>
                  <a:lnTo>
                    <a:pt x="32490" y="227555"/>
                  </a:lnTo>
                  <a:lnTo>
                    <a:pt x="36746" y="206467"/>
                  </a:lnTo>
                  <a:lnTo>
                    <a:pt x="48351" y="189245"/>
                  </a:lnTo>
                  <a:lnTo>
                    <a:pt x="65563" y="177633"/>
                  </a:lnTo>
                  <a:lnTo>
                    <a:pt x="86640" y="173375"/>
                  </a:lnTo>
                  <a:lnTo>
                    <a:pt x="303240" y="173375"/>
                  </a:lnTo>
                  <a:lnTo>
                    <a:pt x="303240" y="147129"/>
                  </a:lnTo>
                  <a:lnTo>
                    <a:pt x="107055" y="147129"/>
                  </a:lnTo>
                  <a:lnTo>
                    <a:pt x="100778" y="140840"/>
                  </a:lnTo>
                  <a:lnTo>
                    <a:pt x="100787" y="135788"/>
                  </a:lnTo>
                  <a:lnTo>
                    <a:pt x="103905" y="132632"/>
                  </a:lnTo>
                  <a:lnTo>
                    <a:pt x="147965" y="91491"/>
                  </a:lnTo>
                  <a:lnTo>
                    <a:pt x="150009" y="89446"/>
                  </a:lnTo>
                  <a:lnTo>
                    <a:pt x="130795" y="89446"/>
                  </a:lnTo>
                  <a:lnTo>
                    <a:pt x="123615" y="86407"/>
                  </a:lnTo>
                  <a:lnTo>
                    <a:pt x="118931" y="80709"/>
                  </a:lnTo>
                  <a:lnTo>
                    <a:pt x="113183" y="74158"/>
                  </a:lnTo>
                  <a:lnTo>
                    <a:pt x="107686" y="67398"/>
                  </a:lnTo>
                  <a:lnTo>
                    <a:pt x="102446" y="60436"/>
                  </a:lnTo>
                  <a:lnTo>
                    <a:pt x="97470" y="53281"/>
                  </a:lnTo>
                  <a:lnTo>
                    <a:pt x="99830" y="50929"/>
                  </a:lnTo>
                  <a:lnTo>
                    <a:pt x="105489" y="50929"/>
                  </a:lnTo>
                  <a:lnTo>
                    <a:pt x="102646" y="48084"/>
                  </a:lnTo>
                  <a:lnTo>
                    <a:pt x="106436" y="44292"/>
                  </a:lnTo>
                  <a:lnTo>
                    <a:pt x="112095" y="44292"/>
                  </a:lnTo>
                  <a:lnTo>
                    <a:pt x="109270" y="41465"/>
                  </a:lnTo>
                  <a:lnTo>
                    <a:pt x="113060" y="37673"/>
                  </a:lnTo>
                  <a:lnTo>
                    <a:pt x="118687" y="37673"/>
                  </a:lnTo>
                  <a:lnTo>
                    <a:pt x="115881" y="34869"/>
                  </a:lnTo>
                  <a:lnTo>
                    <a:pt x="118232" y="32507"/>
                  </a:lnTo>
                  <a:lnTo>
                    <a:pt x="303240" y="32507"/>
                  </a:lnTo>
                  <a:lnTo>
                    <a:pt x="303240" y="0"/>
                  </a:lnTo>
                  <a:close/>
                </a:path>
                <a:path w="303529" h="227965">
                  <a:moveTo>
                    <a:pt x="303240" y="173375"/>
                  </a:moveTo>
                  <a:lnTo>
                    <a:pt x="86640" y="173375"/>
                  </a:lnTo>
                  <a:lnTo>
                    <a:pt x="107717" y="177633"/>
                  </a:lnTo>
                  <a:lnTo>
                    <a:pt x="124929" y="189245"/>
                  </a:lnTo>
                  <a:lnTo>
                    <a:pt x="136535" y="206467"/>
                  </a:lnTo>
                  <a:lnTo>
                    <a:pt x="140790" y="227555"/>
                  </a:lnTo>
                  <a:lnTo>
                    <a:pt x="303241" y="227555"/>
                  </a:lnTo>
                  <a:lnTo>
                    <a:pt x="303240" y="173375"/>
                  </a:lnTo>
                  <a:close/>
                </a:path>
                <a:path w="303529" h="227965">
                  <a:moveTo>
                    <a:pt x="155466" y="99930"/>
                  </a:moveTo>
                  <a:lnTo>
                    <a:pt x="154594" y="100855"/>
                  </a:lnTo>
                  <a:lnTo>
                    <a:pt x="115267" y="143992"/>
                  </a:lnTo>
                  <a:lnTo>
                    <a:pt x="112131" y="147129"/>
                  </a:lnTo>
                  <a:lnTo>
                    <a:pt x="200614" y="147129"/>
                  </a:lnTo>
                  <a:lnTo>
                    <a:pt x="197404" y="143992"/>
                  </a:lnTo>
                  <a:lnTo>
                    <a:pt x="165455" y="110075"/>
                  </a:lnTo>
                  <a:lnTo>
                    <a:pt x="167360" y="109610"/>
                  </a:lnTo>
                  <a:lnTo>
                    <a:pt x="169083" y="108599"/>
                  </a:lnTo>
                  <a:lnTo>
                    <a:pt x="170419" y="107163"/>
                  </a:lnTo>
                  <a:lnTo>
                    <a:pt x="173695" y="103483"/>
                  </a:lnTo>
                  <a:lnTo>
                    <a:pt x="162730" y="103483"/>
                  </a:lnTo>
                  <a:lnTo>
                    <a:pt x="157437" y="100855"/>
                  </a:lnTo>
                  <a:lnTo>
                    <a:pt x="155466" y="99930"/>
                  </a:lnTo>
                  <a:close/>
                </a:path>
                <a:path w="303529" h="227965">
                  <a:moveTo>
                    <a:pt x="303240" y="101343"/>
                  </a:moveTo>
                  <a:lnTo>
                    <a:pt x="175599" y="101343"/>
                  </a:lnTo>
                  <a:lnTo>
                    <a:pt x="208748" y="132632"/>
                  </a:lnTo>
                  <a:lnTo>
                    <a:pt x="211826" y="135788"/>
                  </a:lnTo>
                  <a:lnTo>
                    <a:pt x="211813" y="140840"/>
                  </a:lnTo>
                  <a:lnTo>
                    <a:pt x="208748" y="143992"/>
                  </a:lnTo>
                  <a:lnTo>
                    <a:pt x="205539" y="147129"/>
                  </a:lnTo>
                  <a:lnTo>
                    <a:pt x="303240" y="147129"/>
                  </a:lnTo>
                  <a:lnTo>
                    <a:pt x="303240" y="101343"/>
                  </a:lnTo>
                  <a:close/>
                </a:path>
                <a:path w="303529" h="227965">
                  <a:moveTo>
                    <a:pt x="303240" y="38797"/>
                  </a:moveTo>
                  <a:lnTo>
                    <a:pt x="204001" y="38797"/>
                  </a:lnTo>
                  <a:lnTo>
                    <a:pt x="206091" y="40887"/>
                  </a:lnTo>
                  <a:lnTo>
                    <a:pt x="206839" y="42253"/>
                  </a:lnTo>
                  <a:lnTo>
                    <a:pt x="164336" y="101754"/>
                  </a:lnTo>
                  <a:lnTo>
                    <a:pt x="162730" y="103483"/>
                  </a:lnTo>
                  <a:lnTo>
                    <a:pt x="173695" y="103483"/>
                  </a:lnTo>
                  <a:lnTo>
                    <a:pt x="175599" y="101343"/>
                  </a:lnTo>
                  <a:lnTo>
                    <a:pt x="303240" y="101343"/>
                  </a:lnTo>
                  <a:lnTo>
                    <a:pt x="303240" y="38797"/>
                  </a:lnTo>
                  <a:close/>
                </a:path>
                <a:path w="303529" h="227965">
                  <a:moveTo>
                    <a:pt x="303240" y="32507"/>
                  </a:moveTo>
                  <a:lnTo>
                    <a:pt x="118232" y="32507"/>
                  </a:lnTo>
                  <a:lnTo>
                    <a:pt x="125403" y="37453"/>
                  </a:lnTo>
                  <a:lnTo>
                    <a:pt x="132345" y="42710"/>
                  </a:lnTo>
                  <a:lnTo>
                    <a:pt x="139046" y="48270"/>
                  </a:lnTo>
                  <a:lnTo>
                    <a:pt x="145496" y="54125"/>
                  </a:lnTo>
                  <a:lnTo>
                    <a:pt x="151191" y="58812"/>
                  </a:lnTo>
                  <a:lnTo>
                    <a:pt x="154224" y="65995"/>
                  </a:lnTo>
                  <a:lnTo>
                    <a:pt x="153731" y="71982"/>
                  </a:lnTo>
                  <a:lnTo>
                    <a:pt x="153619" y="73350"/>
                  </a:lnTo>
                  <a:lnTo>
                    <a:pt x="153524" y="73842"/>
                  </a:lnTo>
                  <a:lnTo>
                    <a:pt x="153438" y="74524"/>
                  </a:lnTo>
                  <a:lnTo>
                    <a:pt x="142414" y="85568"/>
                  </a:lnTo>
                  <a:lnTo>
                    <a:pt x="138907" y="88836"/>
                  </a:lnTo>
                  <a:lnTo>
                    <a:pt x="138141" y="88836"/>
                  </a:lnTo>
                  <a:lnTo>
                    <a:pt x="130795" y="89446"/>
                  </a:lnTo>
                  <a:lnTo>
                    <a:pt x="150009" y="89446"/>
                  </a:lnTo>
                  <a:lnTo>
                    <a:pt x="198541" y="40887"/>
                  </a:lnTo>
                  <a:lnTo>
                    <a:pt x="200599" y="38797"/>
                  </a:lnTo>
                  <a:lnTo>
                    <a:pt x="303240" y="38797"/>
                  </a:lnTo>
                  <a:lnTo>
                    <a:pt x="303240" y="32507"/>
                  </a:lnTo>
                  <a:close/>
                </a:path>
                <a:path w="303529" h="227965">
                  <a:moveTo>
                    <a:pt x="105489" y="50929"/>
                  </a:moveTo>
                  <a:lnTo>
                    <a:pt x="99830" y="50929"/>
                  </a:lnTo>
                  <a:lnTo>
                    <a:pt x="127492" y="78605"/>
                  </a:lnTo>
                  <a:lnTo>
                    <a:pt x="128760" y="78605"/>
                  </a:lnTo>
                  <a:lnTo>
                    <a:pt x="130321" y="77048"/>
                  </a:lnTo>
                  <a:lnTo>
                    <a:pt x="130325" y="75779"/>
                  </a:lnTo>
                  <a:lnTo>
                    <a:pt x="105489" y="50929"/>
                  </a:lnTo>
                  <a:close/>
                </a:path>
                <a:path w="303529" h="227965">
                  <a:moveTo>
                    <a:pt x="112095" y="44292"/>
                  </a:moveTo>
                  <a:lnTo>
                    <a:pt x="106436" y="44292"/>
                  </a:lnTo>
                  <a:lnTo>
                    <a:pt x="134116" y="71982"/>
                  </a:lnTo>
                  <a:lnTo>
                    <a:pt x="135384" y="71982"/>
                  </a:lnTo>
                  <a:lnTo>
                    <a:pt x="136945" y="70420"/>
                  </a:lnTo>
                  <a:lnTo>
                    <a:pt x="136941" y="69151"/>
                  </a:lnTo>
                  <a:lnTo>
                    <a:pt x="112095" y="44292"/>
                  </a:lnTo>
                  <a:close/>
                </a:path>
                <a:path w="303529" h="227965">
                  <a:moveTo>
                    <a:pt x="118687" y="37673"/>
                  </a:moveTo>
                  <a:lnTo>
                    <a:pt x="113060" y="37673"/>
                  </a:lnTo>
                  <a:lnTo>
                    <a:pt x="140736" y="65363"/>
                  </a:lnTo>
                  <a:lnTo>
                    <a:pt x="142004" y="65363"/>
                  </a:lnTo>
                  <a:lnTo>
                    <a:pt x="143565" y="63796"/>
                  </a:lnTo>
                  <a:lnTo>
                    <a:pt x="143565" y="62528"/>
                  </a:lnTo>
                  <a:lnTo>
                    <a:pt x="118687" y="37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0"/>
            <a:ext cx="3096895" cy="6858000"/>
          </a:xfrm>
          <a:custGeom>
            <a:avLst/>
            <a:gdLst/>
            <a:ahLst/>
            <a:cxnLst/>
            <a:rect l="l" t="t" r="r" b="b"/>
            <a:pathLst>
              <a:path w="3096895" h="6858000">
                <a:moveTo>
                  <a:pt x="3096768" y="0"/>
                </a:moveTo>
                <a:lnTo>
                  <a:pt x="0" y="0"/>
                </a:lnTo>
                <a:lnTo>
                  <a:pt x="0" y="6858000"/>
                </a:lnTo>
                <a:lnTo>
                  <a:pt x="3096768" y="6858000"/>
                </a:lnTo>
                <a:lnTo>
                  <a:pt x="3096768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663" y="2313558"/>
            <a:ext cx="13589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FFFFFF"/>
                </a:solidFill>
                <a:latin typeface="Calibri"/>
                <a:cs typeface="Calibri"/>
              </a:rPr>
              <a:t>Trendy</a:t>
            </a:r>
            <a:r>
              <a:rPr dirty="0" sz="1600" spc="-7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Matures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3096895" cy="3815079"/>
            <a:chOff x="0" y="0"/>
            <a:chExt cx="3096895" cy="3815079"/>
          </a:xfrm>
        </p:grpSpPr>
        <p:sp>
          <p:nvSpPr>
            <p:cNvPr id="13" name="object 13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704088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704088" y="513588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0" y="513588"/>
                  </a:moveTo>
                  <a:lnTo>
                    <a:pt x="704088" y="513588"/>
                  </a:lnTo>
                  <a:lnTo>
                    <a:pt x="704088" y="0"/>
                  </a:lnTo>
                  <a:lnTo>
                    <a:pt x="0" y="0"/>
                  </a:lnTo>
                  <a:lnTo>
                    <a:pt x="0" y="5135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6614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61416" y="512063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0" y="512063"/>
                  </a:moveTo>
                  <a:lnTo>
                    <a:pt x="661416" y="512063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62099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434339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4339" y="512063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62099" y="2743200"/>
              <a:ext cx="434340" cy="512445"/>
            </a:xfrm>
            <a:custGeom>
              <a:avLst/>
              <a:gdLst/>
              <a:ahLst/>
              <a:cxnLst/>
              <a:rect l="l" t="t" r="r" b="b"/>
              <a:pathLst>
                <a:path w="434339" h="512445">
                  <a:moveTo>
                    <a:pt x="0" y="512063"/>
                  </a:moveTo>
                  <a:lnTo>
                    <a:pt x="434339" y="512063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77567" y="3296411"/>
              <a:ext cx="828040" cy="512445"/>
            </a:xfrm>
            <a:custGeom>
              <a:avLst/>
              <a:gdLst/>
              <a:ahLst/>
              <a:cxnLst/>
              <a:rect l="l" t="t" r="r" b="b"/>
              <a:pathLst>
                <a:path w="828039" h="512445">
                  <a:moveTo>
                    <a:pt x="827532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827532" y="512063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77567" y="3296411"/>
              <a:ext cx="828040" cy="512445"/>
            </a:xfrm>
            <a:custGeom>
              <a:avLst/>
              <a:gdLst/>
              <a:ahLst/>
              <a:cxnLst/>
              <a:rect l="l" t="t" r="r" b="b"/>
              <a:pathLst>
                <a:path w="828039" h="512445">
                  <a:moveTo>
                    <a:pt x="0" y="512063"/>
                  </a:moveTo>
                  <a:lnTo>
                    <a:pt x="827532" y="512063"/>
                  </a:lnTo>
                  <a:lnTo>
                    <a:pt x="827532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62099" y="3296411"/>
              <a:ext cx="266700" cy="512445"/>
            </a:xfrm>
            <a:custGeom>
              <a:avLst/>
              <a:gdLst/>
              <a:ahLst/>
              <a:cxnLst/>
              <a:rect l="l" t="t" r="r" b="b"/>
              <a:pathLst>
                <a:path w="266700" h="512445">
                  <a:moveTo>
                    <a:pt x="266700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266700" y="512063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62099" y="3296411"/>
              <a:ext cx="266700" cy="512445"/>
            </a:xfrm>
            <a:custGeom>
              <a:avLst/>
              <a:gdLst/>
              <a:ahLst/>
              <a:cxnLst/>
              <a:rect l="l" t="t" r="r" b="b"/>
              <a:pathLst>
                <a:path w="266700" h="512445">
                  <a:moveTo>
                    <a:pt x="0" y="512063"/>
                  </a:moveTo>
                  <a:lnTo>
                    <a:pt x="266700" y="512063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667" y="3296411"/>
              <a:ext cx="459105" cy="512445"/>
            </a:xfrm>
            <a:custGeom>
              <a:avLst/>
              <a:gdLst/>
              <a:ahLst/>
              <a:cxnLst/>
              <a:rect l="l" t="t" r="r" b="b"/>
              <a:pathLst>
                <a:path w="459105" h="512445">
                  <a:moveTo>
                    <a:pt x="458723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58723" y="512063"/>
                  </a:lnTo>
                  <a:lnTo>
                    <a:pt x="45872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1667" y="3296411"/>
              <a:ext cx="459105" cy="512445"/>
            </a:xfrm>
            <a:custGeom>
              <a:avLst/>
              <a:gdLst/>
              <a:ahLst/>
              <a:cxnLst/>
              <a:rect l="l" t="t" r="r" b="b"/>
              <a:pathLst>
                <a:path w="459105" h="512445">
                  <a:moveTo>
                    <a:pt x="0" y="512063"/>
                  </a:moveTo>
                  <a:lnTo>
                    <a:pt x="458723" y="512063"/>
                  </a:lnTo>
                  <a:lnTo>
                    <a:pt x="458723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97635" y="3296411"/>
              <a:ext cx="615950" cy="512445"/>
            </a:xfrm>
            <a:custGeom>
              <a:avLst/>
              <a:gdLst/>
              <a:ahLst/>
              <a:cxnLst/>
              <a:rect l="l" t="t" r="r" b="b"/>
              <a:pathLst>
                <a:path w="615950" h="512445">
                  <a:moveTo>
                    <a:pt x="615695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15695" y="512063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7635" y="3296411"/>
              <a:ext cx="615950" cy="512445"/>
            </a:xfrm>
            <a:custGeom>
              <a:avLst/>
              <a:gdLst/>
              <a:ahLst/>
              <a:cxnLst/>
              <a:rect l="l" t="t" r="r" b="b"/>
              <a:pathLst>
                <a:path w="615950" h="512445">
                  <a:moveTo>
                    <a:pt x="0" y="512063"/>
                  </a:moveTo>
                  <a:lnTo>
                    <a:pt x="615695" y="512063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69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2062" y="2914178"/>
              <a:ext cx="173591" cy="172451"/>
            </a:xfrm>
            <a:prstGeom prst="rect">
              <a:avLst/>
            </a:prstGeom>
          </p:spPr>
        </p:pic>
        <p:pic>
          <p:nvPicPr>
            <p:cNvPr id="30" name="object 30" descr="97,800+ Middle Aged Man Laptop Stock Photos, Pictures &amp; Royalty-Free Images  - iStock | Middle aged man tablet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096767" cy="2197608"/>
            </a:xfrm>
            <a:prstGeom prst="rect">
              <a:avLst/>
            </a:prstGeom>
          </p:spPr>
        </p:pic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Channel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&amp;</a:t>
            </a:r>
            <a:r>
              <a:rPr dirty="0" spc="-8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Brand: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/>
              <a:t>drive</a:t>
            </a:r>
            <a:r>
              <a:rPr dirty="0" spc="-70"/>
              <a:t> </a:t>
            </a:r>
            <a:r>
              <a:rPr dirty="0"/>
              <a:t>online</a:t>
            </a:r>
            <a:r>
              <a:rPr dirty="0" spc="-65"/>
              <a:t> </a:t>
            </a:r>
            <a:r>
              <a:rPr dirty="0"/>
              <a:t>store</a:t>
            </a:r>
            <a:r>
              <a:rPr dirty="0" spc="-65"/>
              <a:t> </a:t>
            </a:r>
            <a:r>
              <a:rPr dirty="0" spc="-10"/>
              <a:t>traffic</a:t>
            </a:r>
            <a:r>
              <a:rPr dirty="0" spc="-80"/>
              <a:t> </a:t>
            </a:r>
            <a:r>
              <a:rPr dirty="0"/>
              <a:t>through</a:t>
            </a:r>
            <a:r>
              <a:rPr dirty="0" spc="-70"/>
              <a:t> </a:t>
            </a:r>
            <a:r>
              <a:rPr dirty="0" spc="-10"/>
              <a:t>offerings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352038" y="6345428"/>
            <a:ext cx="7392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1.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Ordered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overall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importance;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2.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Percentages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channel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(i.e.,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online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sales,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in-store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in-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store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sales)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663" y="3965194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highlights: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1668" y="4213859"/>
            <a:ext cx="2313940" cy="0"/>
          </a:xfrm>
          <a:custGeom>
            <a:avLst/>
            <a:gdLst/>
            <a:ahLst/>
            <a:cxnLst/>
            <a:rect l="l" t="t" r="r" b="b"/>
            <a:pathLst>
              <a:path w="2313940" h="0">
                <a:moveTo>
                  <a:pt x="231381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6474333" y="1235963"/>
            <a:ext cx="5520690" cy="1732914"/>
            <a:chOff x="6474333" y="1235963"/>
            <a:chExt cx="5520690" cy="1732914"/>
          </a:xfrm>
        </p:grpSpPr>
        <p:sp>
          <p:nvSpPr>
            <p:cNvPr id="36" name="object 36"/>
            <p:cNvSpPr/>
            <p:nvPr/>
          </p:nvSpPr>
          <p:spPr>
            <a:xfrm>
              <a:off x="6483858" y="1309877"/>
              <a:ext cx="5501640" cy="1649095"/>
            </a:xfrm>
            <a:custGeom>
              <a:avLst/>
              <a:gdLst/>
              <a:ahLst/>
              <a:cxnLst/>
              <a:rect l="l" t="t" r="r" b="b"/>
              <a:pathLst>
                <a:path w="5501640" h="1649095">
                  <a:moveTo>
                    <a:pt x="0" y="1648968"/>
                  </a:moveTo>
                  <a:lnTo>
                    <a:pt x="5501640" y="1648968"/>
                  </a:lnTo>
                  <a:lnTo>
                    <a:pt x="5501640" y="0"/>
                  </a:lnTo>
                  <a:lnTo>
                    <a:pt x="0" y="0"/>
                  </a:lnTo>
                  <a:lnTo>
                    <a:pt x="0" y="1648968"/>
                  </a:lnTo>
                  <a:close/>
                </a:path>
              </a:pathLst>
            </a:custGeom>
            <a:ln w="1904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48700" y="1235963"/>
              <a:ext cx="1169035" cy="140335"/>
            </a:xfrm>
            <a:custGeom>
              <a:avLst/>
              <a:gdLst/>
              <a:ahLst/>
              <a:cxnLst/>
              <a:rect l="l" t="t" r="r" b="b"/>
              <a:pathLst>
                <a:path w="1169034" h="140334">
                  <a:moveTo>
                    <a:pt x="1168907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1168907" y="14020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3354704" y="1300352"/>
            <a:ext cx="2985135" cy="4669155"/>
            <a:chOff x="3354704" y="1300352"/>
            <a:chExt cx="2985135" cy="4669155"/>
          </a:xfrm>
        </p:grpSpPr>
        <p:sp>
          <p:nvSpPr>
            <p:cNvPr id="39" name="object 39"/>
            <p:cNvSpPr/>
            <p:nvPr/>
          </p:nvSpPr>
          <p:spPr>
            <a:xfrm>
              <a:off x="3364229" y="1309877"/>
              <a:ext cx="2966085" cy="4650105"/>
            </a:xfrm>
            <a:custGeom>
              <a:avLst/>
              <a:gdLst/>
              <a:ahLst/>
              <a:cxnLst/>
              <a:rect l="l" t="t" r="r" b="b"/>
              <a:pathLst>
                <a:path w="2966085" h="4650105">
                  <a:moveTo>
                    <a:pt x="0" y="4649724"/>
                  </a:moveTo>
                  <a:lnTo>
                    <a:pt x="2965704" y="4649724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4631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0445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4631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20445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84631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0445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4631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20445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846320" y="23827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04459" y="25199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846320" y="26570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19118" y="293141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84631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20445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562600" y="293141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6320" y="30685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84631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846320" y="320573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619118" y="3480054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846320" y="348005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562600" y="3480054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84631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20445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19118" y="375437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1227226" y="137159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846320" y="37543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19119" y="3754373"/>
              <a:ext cx="2649220" cy="274320"/>
            </a:xfrm>
            <a:custGeom>
              <a:avLst/>
              <a:gdLst/>
              <a:ahLst/>
              <a:cxnLst/>
              <a:rect l="l" t="t" r="r" b="b"/>
              <a:pathLst>
                <a:path w="2649220" h="274320">
                  <a:moveTo>
                    <a:pt x="1227226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1227226" y="274320"/>
                  </a:lnTo>
                  <a:lnTo>
                    <a:pt x="1227226" y="137160"/>
                  </a:lnTo>
                  <a:close/>
                </a:path>
                <a:path w="2649220" h="274320">
                  <a:moveTo>
                    <a:pt x="2648762" y="0"/>
                  </a:moveTo>
                  <a:lnTo>
                    <a:pt x="1943481" y="0"/>
                  </a:lnTo>
                  <a:lnTo>
                    <a:pt x="1943481" y="137160"/>
                  </a:lnTo>
                  <a:lnTo>
                    <a:pt x="2648762" y="137160"/>
                  </a:lnTo>
                  <a:lnTo>
                    <a:pt x="2648762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846319" y="38915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204459" y="38915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562600" y="389153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846319" y="402869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846320" y="40286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204459" y="416585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84631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20445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846320" y="44401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84631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20445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84631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20445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846320" y="4851654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619118" y="498881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846320" y="498881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562600" y="498881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846320" y="51259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846320" y="526313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84631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20445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84631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20445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846320" y="5674677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612768" y="1701800"/>
              <a:ext cx="2661920" cy="4116704"/>
            </a:xfrm>
            <a:custGeom>
              <a:avLst/>
              <a:gdLst/>
              <a:ahLst/>
              <a:cxnLst/>
              <a:rect l="l" t="t" r="r" b="b"/>
              <a:pathLst>
                <a:path w="2661920" h="4116704">
                  <a:moveTo>
                    <a:pt x="1233551" y="0"/>
                  </a:moveTo>
                  <a:lnTo>
                    <a:pt x="1233551" y="4116387"/>
                  </a:lnTo>
                </a:path>
                <a:path w="2661920" h="4116704">
                  <a:moveTo>
                    <a:pt x="1591690" y="0"/>
                  </a:moveTo>
                  <a:lnTo>
                    <a:pt x="1591690" y="4116387"/>
                  </a:lnTo>
                </a:path>
                <a:path w="2661920" h="4116704">
                  <a:moveTo>
                    <a:pt x="1949830" y="0"/>
                  </a:moveTo>
                  <a:lnTo>
                    <a:pt x="1949830" y="4116387"/>
                  </a:lnTo>
                </a:path>
                <a:path w="2661920" h="4116704">
                  <a:moveTo>
                    <a:pt x="0" y="132207"/>
                  </a:moveTo>
                  <a:lnTo>
                    <a:pt x="2661411" y="132207"/>
                  </a:lnTo>
                </a:path>
                <a:path w="2661920" h="4116704">
                  <a:moveTo>
                    <a:pt x="0" y="269366"/>
                  </a:moveTo>
                  <a:lnTo>
                    <a:pt x="2661411" y="269366"/>
                  </a:lnTo>
                </a:path>
                <a:path w="2661920" h="4116704">
                  <a:moveTo>
                    <a:pt x="0" y="406526"/>
                  </a:moveTo>
                  <a:lnTo>
                    <a:pt x="2661411" y="406526"/>
                  </a:lnTo>
                </a:path>
                <a:path w="2661920" h="4116704">
                  <a:moveTo>
                    <a:pt x="0" y="543687"/>
                  </a:moveTo>
                  <a:lnTo>
                    <a:pt x="2661411" y="543687"/>
                  </a:lnTo>
                </a:path>
                <a:path w="2661920" h="4116704">
                  <a:moveTo>
                    <a:pt x="0" y="680974"/>
                  </a:moveTo>
                  <a:lnTo>
                    <a:pt x="2661411" y="680974"/>
                  </a:lnTo>
                </a:path>
                <a:path w="2661920" h="4116704">
                  <a:moveTo>
                    <a:pt x="0" y="818134"/>
                  </a:moveTo>
                  <a:lnTo>
                    <a:pt x="2661411" y="818134"/>
                  </a:lnTo>
                </a:path>
                <a:path w="2661920" h="4116704">
                  <a:moveTo>
                    <a:pt x="0" y="955294"/>
                  </a:moveTo>
                  <a:lnTo>
                    <a:pt x="2661411" y="955294"/>
                  </a:lnTo>
                </a:path>
                <a:path w="2661920" h="4116704">
                  <a:moveTo>
                    <a:pt x="0" y="1092453"/>
                  </a:moveTo>
                  <a:lnTo>
                    <a:pt x="2661411" y="1092453"/>
                  </a:lnTo>
                </a:path>
                <a:path w="2661920" h="4116704">
                  <a:moveTo>
                    <a:pt x="0" y="1229614"/>
                  </a:moveTo>
                  <a:lnTo>
                    <a:pt x="2661411" y="1229614"/>
                  </a:lnTo>
                </a:path>
                <a:path w="2661920" h="4116704">
                  <a:moveTo>
                    <a:pt x="0" y="1366774"/>
                  </a:moveTo>
                  <a:lnTo>
                    <a:pt x="2661411" y="1366774"/>
                  </a:lnTo>
                </a:path>
                <a:path w="2661920" h="4116704">
                  <a:moveTo>
                    <a:pt x="0" y="1503934"/>
                  </a:moveTo>
                  <a:lnTo>
                    <a:pt x="2661411" y="1503934"/>
                  </a:lnTo>
                </a:path>
                <a:path w="2661920" h="4116704">
                  <a:moveTo>
                    <a:pt x="0" y="1641094"/>
                  </a:moveTo>
                  <a:lnTo>
                    <a:pt x="2661411" y="1641094"/>
                  </a:lnTo>
                </a:path>
                <a:path w="2661920" h="4116704">
                  <a:moveTo>
                    <a:pt x="0" y="1778253"/>
                  </a:moveTo>
                  <a:lnTo>
                    <a:pt x="2661411" y="1778253"/>
                  </a:lnTo>
                </a:path>
                <a:path w="2661920" h="4116704">
                  <a:moveTo>
                    <a:pt x="0" y="1915414"/>
                  </a:moveTo>
                  <a:lnTo>
                    <a:pt x="2661411" y="1915414"/>
                  </a:lnTo>
                </a:path>
                <a:path w="2661920" h="4116704">
                  <a:moveTo>
                    <a:pt x="0" y="2052574"/>
                  </a:moveTo>
                  <a:lnTo>
                    <a:pt x="2661411" y="2052574"/>
                  </a:lnTo>
                </a:path>
                <a:path w="2661920" h="4116704">
                  <a:moveTo>
                    <a:pt x="0" y="2189734"/>
                  </a:moveTo>
                  <a:lnTo>
                    <a:pt x="2661411" y="2189734"/>
                  </a:lnTo>
                </a:path>
                <a:path w="2661920" h="4116704">
                  <a:moveTo>
                    <a:pt x="0" y="2326894"/>
                  </a:moveTo>
                  <a:lnTo>
                    <a:pt x="2661411" y="2326894"/>
                  </a:lnTo>
                </a:path>
                <a:path w="2661920" h="4116704">
                  <a:moveTo>
                    <a:pt x="0" y="2464054"/>
                  </a:moveTo>
                  <a:lnTo>
                    <a:pt x="2661411" y="2464054"/>
                  </a:lnTo>
                </a:path>
                <a:path w="2661920" h="4116704">
                  <a:moveTo>
                    <a:pt x="0" y="2601214"/>
                  </a:moveTo>
                  <a:lnTo>
                    <a:pt x="2661411" y="2601214"/>
                  </a:lnTo>
                </a:path>
                <a:path w="2661920" h="4116704">
                  <a:moveTo>
                    <a:pt x="0" y="2738374"/>
                  </a:moveTo>
                  <a:lnTo>
                    <a:pt x="2661411" y="2738374"/>
                  </a:lnTo>
                </a:path>
                <a:path w="2661920" h="4116704">
                  <a:moveTo>
                    <a:pt x="0" y="2875534"/>
                  </a:moveTo>
                  <a:lnTo>
                    <a:pt x="2661411" y="2875534"/>
                  </a:lnTo>
                </a:path>
                <a:path w="2661920" h="4116704">
                  <a:moveTo>
                    <a:pt x="0" y="3012694"/>
                  </a:moveTo>
                  <a:lnTo>
                    <a:pt x="2661411" y="3012694"/>
                  </a:lnTo>
                </a:path>
                <a:path w="2661920" h="4116704">
                  <a:moveTo>
                    <a:pt x="0" y="3149854"/>
                  </a:moveTo>
                  <a:lnTo>
                    <a:pt x="2661411" y="3149854"/>
                  </a:lnTo>
                </a:path>
                <a:path w="2661920" h="4116704">
                  <a:moveTo>
                    <a:pt x="0" y="3287014"/>
                  </a:moveTo>
                  <a:lnTo>
                    <a:pt x="2661411" y="3287014"/>
                  </a:lnTo>
                </a:path>
                <a:path w="2661920" h="4116704">
                  <a:moveTo>
                    <a:pt x="0" y="3424174"/>
                  </a:moveTo>
                  <a:lnTo>
                    <a:pt x="2661411" y="3424174"/>
                  </a:lnTo>
                </a:path>
                <a:path w="2661920" h="4116704">
                  <a:moveTo>
                    <a:pt x="0" y="3561334"/>
                  </a:moveTo>
                  <a:lnTo>
                    <a:pt x="2661411" y="3561334"/>
                  </a:lnTo>
                </a:path>
                <a:path w="2661920" h="4116704">
                  <a:moveTo>
                    <a:pt x="0" y="3698494"/>
                  </a:moveTo>
                  <a:lnTo>
                    <a:pt x="2661411" y="3698494"/>
                  </a:lnTo>
                </a:path>
                <a:path w="2661920" h="4116704">
                  <a:moveTo>
                    <a:pt x="0" y="3835654"/>
                  </a:moveTo>
                  <a:lnTo>
                    <a:pt x="2661411" y="3835654"/>
                  </a:lnTo>
                </a:path>
                <a:path w="2661920" h="4116704">
                  <a:moveTo>
                    <a:pt x="0" y="3972877"/>
                  </a:moveTo>
                  <a:lnTo>
                    <a:pt x="2661411" y="3972877"/>
                  </a:lnTo>
                </a:path>
                <a:path w="2661920" h="4116704">
                  <a:moveTo>
                    <a:pt x="6350" y="0"/>
                  </a:moveTo>
                  <a:lnTo>
                    <a:pt x="6350" y="4116387"/>
                  </a:lnTo>
                </a:path>
                <a:path w="2661920" h="4116704">
                  <a:moveTo>
                    <a:pt x="2655061" y="0"/>
                  </a:moveTo>
                  <a:lnTo>
                    <a:pt x="2655061" y="4116387"/>
                  </a:lnTo>
                </a:path>
                <a:path w="2661920" h="4116704">
                  <a:moveTo>
                    <a:pt x="0" y="6350"/>
                  </a:moveTo>
                  <a:lnTo>
                    <a:pt x="2661411" y="6350"/>
                  </a:lnTo>
                </a:path>
                <a:path w="2661920" h="4116704">
                  <a:moveTo>
                    <a:pt x="0" y="4110037"/>
                  </a:moveTo>
                  <a:lnTo>
                    <a:pt x="2661411" y="41100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1" name="object 9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00543" y="1874520"/>
            <a:ext cx="135635" cy="164591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8035" y="1905000"/>
            <a:ext cx="297179" cy="103632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48139" y="1894332"/>
            <a:ext cx="193501" cy="124967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58500" y="1886711"/>
            <a:ext cx="283464" cy="14020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34318" y="1931077"/>
            <a:ext cx="402243" cy="51477"/>
          </a:xfrm>
          <a:prstGeom prst="rect">
            <a:avLst/>
          </a:prstGeom>
        </p:spPr>
      </p:pic>
      <p:grpSp>
        <p:nvGrpSpPr>
          <p:cNvPr id="96" name="object 96"/>
          <p:cNvGrpSpPr/>
          <p:nvPr/>
        </p:nvGrpSpPr>
        <p:grpSpPr>
          <a:xfrm>
            <a:off x="9700259" y="1894332"/>
            <a:ext cx="243840" cy="123825"/>
            <a:chOff x="9700259" y="1894332"/>
            <a:chExt cx="243840" cy="123825"/>
          </a:xfrm>
        </p:grpSpPr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00259" y="1894332"/>
              <a:ext cx="117346" cy="12344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40467" y="1894332"/>
              <a:ext cx="103630" cy="123444"/>
            </a:xfrm>
            <a:prstGeom prst="rect">
              <a:avLst/>
            </a:prstGeom>
          </p:spPr>
        </p:pic>
      </p:grpSp>
      <p:pic>
        <p:nvPicPr>
          <p:cNvPr id="99" name="object 99" descr="Lidl - Wikipedia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38816" y="1883664"/>
            <a:ext cx="144779" cy="144779"/>
          </a:xfrm>
          <a:prstGeom prst="rect">
            <a:avLst/>
          </a:prstGeom>
        </p:spPr>
      </p:pic>
      <p:pic>
        <p:nvPicPr>
          <p:cNvPr id="100" name="object 100" descr="Koro_logo_Vektor | KoRo Handels GmbH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13474" y="1894322"/>
            <a:ext cx="139680" cy="127903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11297411" y="1688592"/>
            <a:ext cx="582295" cy="1135380"/>
            <a:chOff x="11297411" y="1688592"/>
            <a:chExt cx="582295" cy="1135380"/>
          </a:xfrm>
        </p:grpSpPr>
        <p:sp>
          <p:nvSpPr>
            <p:cNvPr id="102" name="object 102"/>
            <p:cNvSpPr/>
            <p:nvPr/>
          </p:nvSpPr>
          <p:spPr>
            <a:xfrm>
              <a:off x="11297411" y="1688592"/>
              <a:ext cx="582295" cy="1135380"/>
            </a:xfrm>
            <a:custGeom>
              <a:avLst/>
              <a:gdLst/>
              <a:ahLst/>
              <a:cxnLst/>
              <a:rect l="l" t="t" r="r" b="b"/>
              <a:pathLst>
                <a:path w="582295" h="1135380">
                  <a:moveTo>
                    <a:pt x="582168" y="0"/>
                  </a:moveTo>
                  <a:lnTo>
                    <a:pt x="0" y="0"/>
                  </a:lnTo>
                  <a:lnTo>
                    <a:pt x="0" y="1135379"/>
                  </a:lnTo>
                  <a:lnTo>
                    <a:pt x="582168" y="1135379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FFCC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The Amazon Logo: Inspiring Insights for Business Owners and Marketers -  crowdspring Blog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43715" y="1912620"/>
              <a:ext cx="289559" cy="88391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3606800" y="1699386"/>
            <a:ext cx="7620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Functional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attribute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901946" y="1699386"/>
            <a:ext cx="2470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Brand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221985" y="1699386"/>
            <a:ext cx="324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613272" y="1699386"/>
            <a:ext cx="606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Scores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606800" y="1807311"/>
            <a:ext cx="82676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Tastes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Healthy</a:t>
            </a:r>
            <a:r>
              <a:rPr dirty="0" sz="800" spc="-4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ingredients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quality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606800" y="2233422"/>
            <a:ext cx="9740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All-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natural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organic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606800" y="2370582"/>
            <a:ext cx="10693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for</a:t>
            </a:r>
            <a:r>
              <a:rPr dirty="0" sz="800" spc="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everyday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eating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606800" y="2507742"/>
            <a:ext cx="8985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No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artificial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additives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606800" y="2630271"/>
            <a:ext cx="7569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Great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value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Affordably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priced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Premium</a:t>
            </a:r>
            <a:r>
              <a:rPr dirty="0" sz="800" spc="-4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606800" y="3056077"/>
            <a:ext cx="6019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373754" y="3193795"/>
            <a:ext cx="18243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protein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606800" y="3330955"/>
            <a:ext cx="10210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Provide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energy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boost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606800" y="3468115"/>
            <a:ext cx="5130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Sustainable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606800" y="3605276"/>
            <a:ext cx="6540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Locally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sourced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06800" y="3742435"/>
            <a:ext cx="12122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Fair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ethnical</a:t>
            </a:r>
            <a:r>
              <a:rPr dirty="0" sz="800" spc="-1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production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06800" y="3879596"/>
            <a:ext cx="6845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Vegan</a:t>
            </a:r>
            <a:r>
              <a:rPr dirty="0" sz="800" spc="-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kind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606800" y="4016755"/>
            <a:ext cx="1125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Many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products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flavors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606800" y="4153915"/>
            <a:ext cx="657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Low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calories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606800" y="4291076"/>
            <a:ext cx="11017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Versatility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cook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606800" y="4428490"/>
            <a:ext cx="911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Available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everywhere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373754" y="4565650"/>
            <a:ext cx="18243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Unique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original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06800" y="4702809"/>
            <a:ext cx="8026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Easily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recognizable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606800" y="4839970"/>
            <a:ext cx="8242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Socially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responsible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06800" y="4977129"/>
            <a:ext cx="10890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Transparent</a:t>
            </a:r>
            <a:r>
              <a:rPr dirty="0" sz="800" spc="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supply</a:t>
            </a:r>
            <a:r>
              <a:rPr dirty="0" sz="800" spc="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606800" y="5114290"/>
            <a:ext cx="3371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606800" y="5251450"/>
            <a:ext cx="6870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Popular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373754" y="5388609"/>
            <a:ext cx="18243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Availability</a:t>
            </a:r>
            <a:r>
              <a:rPr dirty="0" sz="800" spc="6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mass-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prod.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606800" y="5525820"/>
            <a:ext cx="4933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Gluten-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free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606800" y="5662676"/>
            <a:ext cx="7296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Modern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new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4492752" y="1235963"/>
            <a:ext cx="1070610" cy="4580890"/>
            <a:chOff x="4492752" y="1235963"/>
            <a:chExt cx="1070610" cy="4580890"/>
          </a:xfrm>
        </p:grpSpPr>
        <p:pic>
          <p:nvPicPr>
            <p:cNvPr id="134" name="object 134" descr="Koro_logo_Vektor | KoRo Handels GmbH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4121" y="1469042"/>
              <a:ext cx="198054" cy="181758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4849368" y="1447800"/>
              <a:ext cx="708660" cy="4364355"/>
            </a:xfrm>
            <a:custGeom>
              <a:avLst/>
              <a:gdLst/>
              <a:ahLst/>
              <a:cxnLst/>
              <a:rect l="l" t="t" r="r" b="b"/>
              <a:pathLst>
                <a:path w="708660" h="4364355">
                  <a:moveTo>
                    <a:pt x="0" y="0"/>
                  </a:moveTo>
                  <a:lnTo>
                    <a:pt x="0" y="4364037"/>
                  </a:lnTo>
                </a:path>
                <a:path w="708660" h="4364355">
                  <a:moveTo>
                    <a:pt x="708660" y="0"/>
                  </a:moveTo>
                  <a:lnTo>
                    <a:pt x="708660" y="4364037"/>
                  </a:lnTo>
                </a:path>
              </a:pathLst>
            </a:custGeom>
            <a:ln w="9525">
              <a:solidFill>
                <a:srgbClr val="30333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4492752" y="1235963"/>
              <a:ext cx="707390" cy="140335"/>
            </a:xfrm>
            <a:custGeom>
              <a:avLst/>
              <a:gdLst/>
              <a:ahLst/>
              <a:cxnLst/>
              <a:rect l="l" t="t" r="r" b="b"/>
              <a:pathLst>
                <a:path w="707389" h="140334">
                  <a:moveTo>
                    <a:pt x="707136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707136" y="140208"/>
                  </a:lnTo>
                  <a:lnTo>
                    <a:pt x="707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/>
          <p:cNvSpPr txBox="1"/>
          <p:nvPr/>
        </p:nvSpPr>
        <p:spPr>
          <a:xfrm>
            <a:off x="4509770" y="1217803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1</a:t>
            </a:r>
            <a:endParaRPr baseline="27777" sz="900">
              <a:latin typeface="Calibri"/>
              <a:cs typeface="Calibr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8662669" y="1217803"/>
            <a:ext cx="1144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2</a:t>
            </a:r>
            <a:endParaRPr baseline="27777" sz="900">
              <a:latin typeface="Calibri"/>
              <a:cs typeface="Calibri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7133843" y="1478280"/>
            <a:ext cx="4197350" cy="123825"/>
            <a:chOff x="7133843" y="1478280"/>
            <a:chExt cx="4197350" cy="123825"/>
          </a:xfrm>
        </p:grpSpPr>
        <p:sp>
          <p:nvSpPr>
            <p:cNvPr id="140" name="object 140"/>
            <p:cNvSpPr/>
            <p:nvPr/>
          </p:nvSpPr>
          <p:spPr>
            <a:xfrm>
              <a:off x="7133843" y="1501140"/>
              <a:ext cx="4197350" cy="76200"/>
            </a:xfrm>
            <a:custGeom>
              <a:avLst/>
              <a:gdLst/>
              <a:ahLst/>
              <a:cxnLst/>
              <a:rect l="l" t="t" r="r" b="b"/>
              <a:pathLst>
                <a:path w="41973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0"/>
                  </a:lnTo>
                  <a:lnTo>
                    <a:pt x="38100" y="46100"/>
                  </a:lnTo>
                  <a:lnTo>
                    <a:pt x="38100" y="30225"/>
                  </a:lnTo>
                  <a:lnTo>
                    <a:pt x="74615" y="30225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197350" h="76200">
                  <a:moveTo>
                    <a:pt x="4159250" y="0"/>
                  </a:moveTo>
                  <a:lnTo>
                    <a:pt x="4144402" y="2988"/>
                  </a:lnTo>
                  <a:lnTo>
                    <a:pt x="4132294" y="11144"/>
                  </a:lnTo>
                  <a:lnTo>
                    <a:pt x="4124138" y="23252"/>
                  </a:lnTo>
                  <a:lnTo>
                    <a:pt x="4121150" y="38100"/>
                  </a:lnTo>
                  <a:lnTo>
                    <a:pt x="4124138" y="52947"/>
                  </a:lnTo>
                  <a:lnTo>
                    <a:pt x="4132294" y="65055"/>
                  </a:lnTo>
                  <a:lnTo>
                    <a:pt x="4144402" y="73211"/>
                  </a:lnTo>
                  <a:lnTo>
                    <a:pt x="4159250" y="76200"/>
                  </a:lnTo>
                  <a:lnTo>
                    <a:pt x="4174097" y="73211"/>
                  </a:lnTo>
                  <a:lnTo>
                    <a:pt x="4186205" y="65055"/>
                  </a:lnTo>
                  <a:lnTo>
                    <a:pt x="4194361" y="52947"/>
                  </a:lnTo>
                  <a:lnTo>
                    <a:pt x="4195739" y="46100"/>
                  </a:lnTo>
                  <a:lnTo>
                    <a:pt x="4159250" y="46100"/>
                  </a:lnTo>
                  <a:lnTo>
                    <a:pt x="4159250" y="30225"/>
                  </a:lnTo>
                  <a:lnTo>
                    <a:pt x="4195765" y="30225"/>
                  </a:lnTo>
                  <a:lnTo>
                    <a:pt x="4194361" y="23252"/>
                  </a:lnTo>
                  <a:lnTo>
                    <a:pt x="4186205" y="11144"/>
                  </a:lnTo>
                  <a:lnTo>
                    <a:pt x="4174097" y="2988"/>
                  </a:lnTo>
                  <a:lnTo>
                    <a:pt x="4159250" y="0"/>
                  </a:lnTo>
                  <a:close/>
                </a:path>
                <a:path w="4197350" h="76200">
                  <a:moveTo>
                    <a:pt x="74615" y="30225"/>
                  </a:moveTo>
                  <a:lnTo>
                    <a:pt x="38100" y="30225"/>
                  </a:lnTo>
                  <a:lnTo>
                    <a:pt x="38100" y="46100"/>
                  </a:lnTo>
                  <a:lnTo>
                    <a:pt x="74589" y="46100"/>
                  </a:lnTo>
                  <a:lnTo>
                    <a:pt x="76200" y="38100"/>
                  </a:lnTo>
                  <a:lnTo>
                    <a:pt x="74615" y="30225"/>
                  </a:lnTo>
                  <a:close/>
                </a:path>
                <a:path w="4197350" h="76200">
                  <a:moveTo>
                    <a:pt x="4122734" y="30225"/>
                  </a:moveTo>
                  <a:lnTo>
                    <a:pt x="74615" y="30225"/>
                  </a:lnTo>
                  <a:lnTo>
                    <a:pt x="76200" y="38100"/>
                  </a:lnTo>
                  <a:lnTo>
                    <a:pt x="74589" y="46100"/>
                  </a:lnTo>
                  <a:lnTo>
                    <a:pt x="4122760" y="46100"/>
                  </a:lnTo>
                  <a:lnTo>
                    <a:pt x="4121150" y="38100"/>
                  </a:lnTo>
                  <a:lnTo>
                    <a:pt x="4122734" y="30225"/>
                  </a:lnTo>
                  <a:close/>
                </a:path>
                <a:path w="4197350" h="76200">
                  <a:moveTo>
                    <a:pt x="4195765" y="30225"/>
                  </a:moveTo>
                  <a:lnTo>
                    <a:pt x="4159250" y="30225"/>
                  </a:lnTo>
                  <a:lnTo>
                    <a:pt x="4159250" y="46100"/>
                  </a:lnTo>
                  <a:lnTo>
                    <a:pt x="4195739" y="46100"/>
                  </a:lnTo>
                  <a:lnTo>
                    <a:pt x="4197350" y="38100"/>
                  </a:lnTo>
                  <a:lnTo>
                    <a:pt x="4195765" y="30225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953499" y="1478280"/>
              <a:ext cx="866140" cy="123825"/>
            </a:xfrm>
            <a:custGeom>
              <a:avLst/>
              <a:gdLst/>
              <a:ahLst/>
              <a:cxnLst/>
              <a:rect l="l" t="t" r="r" b="b"/>
              <a:pathLst>
                <a:path w="866140" h="123825">
                  <a:moveTo>
                    <a:pt x="865631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865631" y="123444"/>
                  </a:lnTo>
                  <a:lnTo>
                    <a:pt x="86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/>
          <p:cNvSpPr txBox="1"/>
          <p:nvPr/>
        </p:nvSpPr>
        <p:spPr>
          <a:xfrm>
            <a:off x="9049639" y="1458213"/>
            <a:ext cx="6769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In-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8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specific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143" name="object 143"/>
          <p:cNvGraphicFramePr>
            <a:graphicFrameLocks noGrp="1"/>
          </p:cNvGraphicFramePr>
          <p:nvPr/>
        </p:nvGraphicFramePr>
        <p:xfrm>
          <a:off x="6576441" y="1679829"/>
          <a:ext cx="539305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/>
                <a:gridCol w="587375"/>
                <a:gridCol w="590550"/>
                <a:gridCol w="587375"/>
                <a:gridCol w="588644"/>
                <a:gridCol w="587374"/>
                <a:gridCol w="588645"/>
                <a:gridCol w="589279"/>
                <a:gridCol w="588010"/>
              </a:tblGrid>
              <a:tr h="194310">
                <a:tc row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Supermarkets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Drugstores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Discount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Specialty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BE9900"/>
                          </a:solidFill>
                          <a:latin typeface="Calibri"/>
                          <a:cs typeface="Calibri"/>
                        </a:rPr>
                        <a:t>Mktplace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2139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9525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16%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6%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46%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FFCC00">
                        <a:alpha val="10195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44" name="object 144"/>
          <p:cNvGrpSpPr/>
          <p:nvPr/>
        </p:nvGrpSpPr>
        <p:grpSpPr>
          <a:xfrm>
            <a:off x="6474333" y="3055620"/>
            <a:ext cx="2701290" cy="1368425"/>
            <a:chOff x="6474333" y="3055620"/>
            <a:chExt cx="2701290" cy="1368425"/>
          </a:xfrm>
        </p:grpSpPr>
        <p:sp>
          <p:nvSpPr>
            <p:cNvPr id="145" name="object 145"/>
            <p:cNvSpPr/>
            <p:nvPr/>
          </p:nvSpPr>
          <p:spPr>
            <a:xfrm>
              <a:off x="6483858" y="3120390"/>
              <a:ext cx="2682240" cy="1294130"/>
            </a:xfrm>
            <a:custGeom>
              <a:avLst/>
              <a:gdLst/>
              <a:ahLst/>
              <a:cxnLst/>
              <a:rect l="l" t="t" r="r" b="b"/>
              <a:pathLst>
                <a:path w="2682240" h="1294129">
                  <a:moveTo>
                    <a:pt x="0" y="1293875"/>
                  </a:moveTo>
                  <a:lnTo>
                    <a:pt x="2682240" y="1293875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293875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353300" y="3055620"/>
              <a:ext cx="940435" cy="139065"/>
            </a:xfrm>
            <a:custGeom>
              <a:avLst/>
              <a:gdLst/>
              <a:ahLst/>
              <a:cxnLst/>
              <a:rect l="l" t="t" r="r" b="b"/>
              <a:pathLst>
                <a:path w="940434" h="139064">
                  <a:moveTo>
                    <a:pt x="940307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940307" y="138684"/>
                  </a:lnTo>
                  <a:lnTo>
                    <a:pt x="940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/>
          <p:cNvGrpSpPr/>
          <p:nvPr/>
        </p:nvGrpSpPr>
        <p:grpSpPr>
          <a:xfrm>
            <a:off x="6474333" y="4507991"/>
            <a:ext cx="2701290" cy="1473835"/>
            <a:chOff x="6474333" y="4507991"/>
            <a:chExt cx="2701290" cy="1473835"/>
          </a:xfrm>
        </p:grpSpPr>
        <p:sp>
          <p:nvSpPr>
            <p:cNvPr id="148" name="object 148"/>
            <p:cNvSpPr/>
            <p:nvPr/>
          </p:nvSpPr>
          <p:spPr>
            <a:xfrm>
              <a:off x="6483858" y="4586477"/>
              <a:ext cx="2682240" cy="1385570"/>
            </a:xfrm>
            <a:custGeom>
              <a:avLst/>
              <a:gdLst/>
              <a:ahLst/>
              <a:cxnLst/>
              <a:rect l="l" t="t" r="r" b="b"/>
              <a:pathLst>
                <a:path w="2682240" h="1385570">
                  <a:moveTo>
                    <a:pt x="0" y="1385316"/>
                  </a:moveTo>
                  <a:lnTo>
                    <a:pt x="2682240" y="1385316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385316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7574280" y="4507991"/>
              <a:ext cx="498475" cy="140335"/>
            </a:xfrm>
            <a:custGeom>
              <a:avLst/>
              <a:gdLst/>
              <a:ahLst/>
              <a:cxnLst/>
              <a:rect l="l" t="t" r="r" b="b"/>
              <a:pathLst>
                <a:path w="498475" h="140335">
                  <a:moveTo>
                    <a:pt x="498348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498348" y="140207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0" name="object 15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17232" y="2240660"/>
            <a:ext cx="137922" cy="139446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03972" y="2240660"/>
            <a:ext cx="139446" cy="139446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92236" y="2240660"/>
            <a:ext cx="139446" cy="139446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80501" y="2240660"/>
            <a:ext cx="139446" cy="139446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32032" y="2240660"/>
            <a:ext cx="137922" cy="139446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68765" y="2240660"/>
            <a:ext cx="137921" cy="139446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755505" y="2240660"/>
            <a:ext cx="139446" cy="139446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43768" y="2240660"/>
            <a:ext cx="139446" cy="139446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518772" y="2240660"/>
            <a:ext cx="139446" cy="139446"/>
          </a:xfrm>
          <a:prstGeom prst="rect">
            <a:avLst/>
          </a:prstGeom>
        </p:spPr>
      </p:pic>
      <p:sp>
        <p:nvSpPr>
          <p:cNvPr id="159" name="object 159"/>
          <p:cNvSpPr txBox="1"/>
          <p:nvPr/>
        </p:nvSpPr>
        <p:spPr>
          <a:xfrm>
            <a:off x="7432040" y="3036823"/>
            <a:ext cx="784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7651242" y="4490466"/>
            <a:ext cx="344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9333356" y="3055620"/>
            <a:ext cx="2661920" cy="2926080"/>
            <a:chOff x="9333356" y="3055620"/>
            <a:chExt cx="2661920" cy="2926080"/>
          </a:xfrm>
        </p:grpSpPr>
        <p:sp>
          <p:nvSpPr>
            <p:cNvPr id="162" name="object 162"/>
            <p:cNvSpPr/>
            <p:nvPr/>
          </p:nvSpPr>
          <p:spPr>
            <a:xfrm>
              <a:off x="9342881" y="3118866"/>
              <a:ext cx="2642870" cy="2853055"/>
            </a:xfrm>
            <a:custGeom>
              <a:avLst/>
              <a:gdLst/>
              <a:ahLst/>
              <a:cxnLst/>
              <a:rect l="l" t="t" r="r" b="b"/>
              <a:pathLst>
                <a:path w="2642870" h="2853054">
                  <a:moveTo>
                    <a:pt x="0" y="2852927"/>
                  </a:moveTo>
                  <a:lnTo>
                    <a:pt x="2642616" y="2852927"/>
                  </a:lnTo>
                  <a:lnTo>
                    <a:pt x="2642616" y="0"/>
                  </a:lnTo>
                  <a:lnTo>
                    <a:pt x="0" y="0"/>
                  </a:lnTo>
                  <a:lnTo>
                    <a:pt x="0" y="2852927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067543" y="3055620"/>
              <a:ext cx="1193800" cy="139065"/>
            </a:xfrm>
            <a:custGeom>
              <a:avLst/>
              <a:gdLst/>
              <a:ahLst/>
              <a:cxnLst/>
              <a:rect l="l" t="t" r="r" b="b"/>
              <a:pathLst>
                <a:path w="1193800" h="139064">
                  <a:moveTo>
                    <a:pt x="1193292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1193292" y="138684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4" name="object 164"/>
          <p:cNvSpPr txBox="1"/>
          <p:nvPr/>
        </p:nvSpPr>
        <p:spPr>
          <a:xfrm>
            <a:off x="10171938" y="3036823"/>
            <a:ext cx="984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Sources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of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Influence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8938386" y="4744211"/>
            <a:ext cx="103505" cy="1075055"/>
            <a:chOff x="8938386" y="4744211"/>
            <a:chExt cx="103505" cy="1075055"/>
          </a:xfrm>
        </p:grpSpPr>
        <p:sp>
          <p:nvSpPr>
            <p:cNvPr id="166" name="object 166"/>
            <p:cNvSpPr/>
            <p:nvPr/>
          </p:nvSpPr>
          <p:spPr>
            <a:xfrm>
              <a:off x="8938386" y="4744211"/>
              <a:ext cx="103505" cy="1075055"/>
            </a:xfrm>
            <a:custGeom>
              <a:avLst/>
              <a:gdLst/>
              <a:ahLst/>
              <a:cxnLst/>
              <a:rect l="l" t="t" r="r" b="b"/>
              <a:pathLst>
                <a:path w="103504" h="1075054">
                  <a:moveTo>
                    <a:pt x="7112" y="978712"/>
                  </a:moveTo>
                  <a:lnTo>
                    <a:pt x="1016" y="982243"/>
                  </a:lnTo>
                  <a:lnTo>
                    <a:pt x="0" y="986129"/>
                  </a:lnTo>
                  <a:lnTo>
                    <a:pt x="51689" y="1074762"/>
                  </a:lnTo>
                  <a:lnTo>
                    <a:pt x="59034" y="1062164"/>
                  </a:lnTo>
                  <a:lnTo>
                    <a:pt x="45339" y="1062164"/>
                  </a:lnTo>
                  <a:lnTo>
                    <a:pt x="45339" y="1038719"/>
                  </a:lnTo>
                  <a:lnTo>
                    <a:pt x="10922" y="979728"/>
                  </a:lnTo>
                  <a:lnTo>
                    <a:pt x="7112" y="978712"/>
                  </a:lnTo>
                  <a:close/>
                </a:path>
                <a:path w="103504" h="1075054">
                  <a:moveTo>
                    <a:pt x="45339" y="1038719"/>
                  </a:moveTo>
                  <a:lnTo>
                    <a:pt x="45339" y="1062164"/>
                  </a:lnTo>
                  <a:lnTo>
                    <a:pt x="58039" y="1062164"/>
                  </a:lnTo>
                  <a:lnTo>
                    <a:pt x="58039" y="1058964"/>
                  </a:lnTo>
                  <a:lnTo>
                    <a:pt x="46228" y="1058964"/>
                  </a:lnTo>
                  <a:lnTo>
                    <a:pt x="51689" y="1049603"/>
                  </a:lnTo>
                  <a:lnTo>
                    <a:pt x="45339" y="1038719"/>
                  </a:lnTo>
                  <a:close/>
                </a:path>
                <a:path w="103504" h="1075054">
                  <a:moveTo>
                    <a:pt x="96266" y="978712"/>
                  </a:moveTo>
                  <a:lnTo>
                    <a:pt x="92456" y="979728"/>
                  </a:lnTo>
                  <a:lnTo>
                    <a:pt x="58039" y="1038719"/>
                  </a:lnTo>
                  <a:lnTo>
                    <a:pt x="58039" y="1062164"/>
                  </a:lnTo>
                  <a:lnTo>
                    <a:pt x="59034" y="1062164"/>
                  </a:lnTo>
                  <a:lnTo>
                    <a:pt x="103378" y="986129"/>
                  </a:lnTo>
                  <a:lnTo>
                    <a:pt x="102362" y="982243"/>
                  </a:lnTo>
                  <a:lnTo>
                    <a:pt x="96266" y="978712"/>
                  </a:lnTo>
                  <a:close/>
                </a:path>
                <a:path w="103504" h="1075054">
                  <a:moveTo>
                    <a:pt x="51689" y="1049603"/>
                  </a:moveTo>
                  <a:lnTo>
                    <a:pt x="46228" y="1058964"/>
                  </a:lnTo>
                  <a:lnTo>
                    <a:pt x="57150" y="1058964"/>
                  </a:lnTo>
                  <a:lnTo>
                    <a:pt x="51689" y="1049603"/>
                  </a:lnTo>
                  <a:close/>
                </a:path>
                <a:path w="103504" h="1075054">
                  <a:moveTo>
                    <a:pt x="58039" y="1038719"/>
                  </a:moveTo>
                  <a:lnTo>
                    <a:pt x="51689" y="1049603"/>
                  </a:lnTo>
                  <a:lnTo>
                    <a:pt x="57150" y="1058964"/>
                  </a:lnTo>
                  <a:lnTo>
                    <a:pt x="58039" y="1058964"/>
                  </a:lnTo>
                  <a:lnTo>
                    <a:pt x="58039" y="1038719"/>
                  </a:lnTo>
                  <a:close/>
                </a:path>
                <a:path w="103504" h="1075054">
                  <a:moveTo>
                    <a:pt x="58039" y="0"/>
                  </a:moveTo>
                  <a:lnTo>
                    <a:pt x="45339" y="0"/>
                  </a:lnTo>
                  <a:lnTo>
                    <a:pt x="45339" y="1038719"/>
                  </a:lnTo>
                  <a:lnTo>
                    <a:pt x="51689" y="1049603"/>
                  </a:lnTo>
                  <a:lnTo>
                    <a:pt x="58039" y="1038719"/>
                  </a:lnTo>
                  <a:lnTo>
                    <a:pt x="58039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8944355" y="4907279"/>
              <a:ext cx="91440" cy="673735"/>
            </a:xfrm>
            <a:custGeom>
              <a:avLst/>
              <a:gdLst/>
              <a:ahLst/>
              <a:cxnLst/>
              <a:rect l="l" t="t" r="r" b="b"/>
              <a:pathLst>
                <a:path w="91440" h="673735">
                  <a:moveTo>
                    <a:pt x="91440" y="0"/>
                  </a:moveTo>
                  <a:lnTo>
                    <a:pt x="0" y="0"/>
                  </a:lnTo>
                  <a:lnTo>
                    <a:pt x="0" y="673608"/>
                  </a:lnTo>
                  <a:lnTo>
                    <a:pt x="91440" y="67360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8947404" y="4910245"/>
            <a:ext cx="101600" cy="6711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6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8027860" y="4760236"/>
            <a:ext cx="160655" cy="1049020"/>
            <a:chOff x="8027860" y="4760236"/>
            <a:chExt cx="160655" cy="1049020"/>
          </a:xfrm>
        </p:grpSpPr>
        <p:pic>
          <p:nvPicPr>
            <p:cNvPr id="170" name="object 1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49196" y="4760236"/>
              <a:ext cx="118547" cy="118654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8027848" y="5005641"/>
              <a:ext cx="160655" cy="87630"/>
            </a:xfrm>
            <a:custGeom>
              <a:avLst/>
              <a:gdLst/>
              <a:ahLst/>
              <a:cxnLst/>
              <a:rect l="l" t="t" r="r" b="b"/>
              <a:pathLst>
                <a:path w="160654" h="87629">
                  <a:moveTo>
                    <a:pt x="32778" y="18224"/>
                  </a:moveTo>
                  <a:lnTo>
                    <a:pt x="18211" y="18224"/>
                  </a:lnTo>
                  <a:lnTo>
                    <a:pt x="18211" y="69227"/>
                  </a:lnTo>
                  <a:lnTo>
                    <a:pt x="32778" y="69227"/>
                  </a:lnTo>
                  <a:lnTo>
                    <a:pt x="32778" y="18224"/>
                  </a:lnTo>
                  <a:close/>
                </a:path>
                <a:path w="160654" h="87629">
                  <a:moveTo>
                    <a:pt x="160223" y="30607"/>
                  </a:moveTo>
                  <a:lnTo>
                    <a:pt x="156946" y="27330"/>
                  </a:lnTo>
                  <a:lnTo>
                    <a:pt x="145656" y="27330"/>
                  </a:lnTo>
                  <a:lnTo>
                    <a:pt x="145656" y="10934"/>
                  </a:lnTo>
                  <a:lnTo>
                    <a:pt x="145656" y="3276"/>
                  </a:lnTo>
                  <a:lnTo>
                    <a:pt x="142379" y="0"/>
                  </a:lnTo>
                  <a:lnTo>
                    <a:pt x="134734" y="0"/>
                  </a:lnTo>
                  <a:lnTo>
                    <a:pt x="134734" y="10934"/>
                  </a:lnTo>
                  <a:lnTo>
                    <a:pt x="134734" y="76517"/>
                  </a:lnTo>
                  <a:lnTo>
                    <a:pt x="10934" y="76517"/>
                  </a:lnTo>
                  <a:lnTo>
                    <a:pt x="10934" y="10934"/>
                  </a:lnTo>
                  <a:lnTo>
                    <a:pt x="134734" y="10934"/>
                  </a:lnTo>
                  <a:lnTo>
                    <a:pt x="134734" y="0"/>
                  </a:lnTo>
                  <a:lnTo>
                    <a:pt x="3289" y="0"/>
                  </a:lnTo>
                  <a:lnTo>
                    <a:pt x="0" y="3276"/>
                  </a:lnTo>
                  <a:lnTo>
                    <a:pt x="0" y="84162"/>
                  </a:lnTo>
                  <a:lnTo>
                    <a:pt x="3289" y="87439"/>
                  </a:lnTo>
                  <a:lnTo>
                    <a:pt x="142379" y="87439"/>
                  </a:lnTo>
                  <a:lnTo>
                    <a:pt x="145656" y="84162"/>
                  </a:lnTo>
                  <a:lnTo>
                    <a:pt x="145656" y="76517"/>
                  </a:lnTo>
                  <a:lnTo>
                    <a:pt x="145656" y="60121"/>
                  </a:lnTo>
                  <a:lnTo>
                    <a:pt x="156946" y="60121"/>
                  </a:lnTo>
                  <a:lnTo>
                    <a:pt x="160223" y="56832"/>
                  </a:lnTo>
                  <a:lnTo>
                    <a:pt x="160223" y="30607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31081" y="5210011"/>
              <a:ext cx="155194" cy="136503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46067" y="5438532"/>
              <a:ext cx="128114" cy="130027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34778" y="5661379"/>
              <a:ext cx="145061" cy="147737"/>
            </a:xfrm>
            <a:prstGeom prst="rect">
              <a:avLst/>
            </a:prstGeom>
          </p:spPr>
        </p:pic>
      </p:grpSp>
      <p:sp>
        <p:nvSpPr>
          <p:cNvPr id="175" name="object 175"/>
          <p:cNvSpPr txBox="1"/>
          <p:nvPr/>
        </p:nvSpPr>
        <p:spPr>
          <a:xfrm>
            <a:off x="8321040" y="4744211"/>
            <a:ext cx="500380" cy="15430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00853C"/>
                </a:solidFill>
                <a:latin typeface="Calibri"/>
                <a:cs typeface="Calibri"/>
              </a:rPr>
              <a:t>€4.91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8321040" y="49728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€3.08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8321040" y="52014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€8.10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8321040" y="54300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€2.87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8321040" y="5658611"/>
            <a:ext cx="500380" cy="154305"/>
          </a:xfrm>
          <a:prstGeom prst="rect">
            <a:avLst/>
          </a:prstGeom>
          <a:solidFill>
            <a:srgbClr val="FFC1C1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CC0000"/>
                </a:solidFill>
                <a:latin typeface="Calibri"/>
                <a:cs typeface="Calibri"/>
              </a:rPr>
              <a:t>€3.77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0" name="object 180"/>
          <p:cNvSpPr/>
          <p:nvPr/>
        </p:nvSpPr>
        <p:spPr>
          <a:xfrm>
            <a:off x="7836407" y="5029200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8475"/>
                </a:moveTo>
                <a:lnTo>
                  <a:pt x="0" y="0"/>
                </a:lnTo>
              </a:path>
            </a:pathLst>
          </a:custGeom>
          <a:ln w="9525">
            <a:solidFill>
              <a:srgbClr val="4D4D4D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 txBox="1"/>
          <p:nvPr/>
        </p:nvSpPr>
        <p:spPr>
          <a:xfrm>
            <a:off x="6714870" y="5572455"/>
            <a:ext cx="8280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Value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against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Volume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670547" y="5388864"/>
            <a:ext cx="916305" cy="155575"/>
          </a:xfrm>
          <a:prstGeom prst="rect">
            <a:avLst/>
          </a:prstGeom>
          <a:solidFill>
            <a:srgbClr val="C1FFDD"/>
          </a:solidFill>
          <a:ln w="9525">
            <a:solidFill>
              <a:srgbClr val="00793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1155"/>
              </a:lnSpc>
            </a:pPr>
            <a:r>
              <a:rPr dirty="0" sz="1000" spc="-25" b="1">
                <a:solidFill>
                  <a:srgbClr val="00853C"/>
                </a:solidFill>
                <a:latin typeface="Calibri"/>
                <a:cs typeface="Calibri"/>
              </a:rPr>
              <a:t>+1%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6663055" y="5043678"/>
            <a:ext cx="932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Average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Purchase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Spend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6670547" y="4863084"/>
            <a:ext cx="916305" cy="152400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1140"/>
              </a:lnSpc>
            </a:pPr>
            <a:r>
              <a:rPr dirty="0" sz="1000" spc="-50">
                <a:solidFill>
                  <a:srgbClr val="1B1C1B"/>
                </a:solidFill>
                <a:latin typeface="Calibri"/>
                <a:cs typeface="Calibri"/>
              </a:rPr>
              <a:t>/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7436929" y="3322129"/>
            <a:ext cx="680085" cy="992505"/>
            <a:chOff x="7436929" y="3322129"/>
            <a:chExt cx="680085" cy="992505"/>
          </a:xfrm>
        </p:grpSpPr>
        <p:sp>
          <p:nvSpPr>
            <p:cNvPr id="186" name="object 186"/>
            <p:cNvSpPr/>
            <p:nvPr/>
          </p:nvSpPr>
          <p:spPr>
            <a:xfrm>
              <a:off x="7441692" y="3381755"/>
              <a:ext cx="675640" cy="873760"/>
            </a:xfrm>
            <a:custGeom>
              <a:avLst/>
              <a:gdLst/>
              <a:ahLst/>
              <a:cxnLst/>
              <a:rect l="l" t="t" r="r" b="b"/>
              <a:pathLst>
                <a:path w="675640" h="873760">
                  <a:moveTo>
                    <a:pt x="172212" y="737616"/>
                  </a:moveTo>
                  <a:lnTo>
                    <a:pt x="0" y="737616"/>
                  </a:lnTo>
                  <a:lnTo>
                    <a:pt x="0" y="873252"/>
                  </a:lnTo>
                  <a:lnTo>
                    <a:pt x="172212" y="873252"/>
                  </a:lnTo>
                  <a:lnTo>
                    <a:pt x="172212" y="737616"/>
                  </a:lnTo>
                  <a:close/>
                </a:path>
                <a:path w="675640" h="873760">
                  <a:moveTo>
                    <a:pt x="208788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08788" y="137160"/>
                  </a:lnTo>
                  <a:lnTo>
                    <a:pt x="208788" y="0"/>
                  </a:lnTo>
                  <a:close/>
                </a:path>
                <a:path w="675640" h="873760">
                  <a:moveTo>
                    <a:pt x="539496" y="245364"/>
                  </a:moveTo>
                  <a:lnTo>
                    <a:pt x="0" y="245364"/>
                  </a:lnTo>
                  <a:lnTo>
                    <a:pt x="0" y="382524"/>
                  </a:lnTo>
                  <a:lnTo>
                    <a:pt x="539496" y="382524"/>
                  </a:lnTo>
                  <a:lnTo>
                    <a:pt x="539496" y="245364"/>
                  </a:lnTo>
                  <a:close/>
                </a:path>
                <a:path w="675640" h="873760">
                  <a:moveTo>
                    <a:pt x="675132" y="492252"/>
                  </a:moveTo>
                  <a:lnTo>
                    <a:pt x="0" y="492252"/>
                  </a:lnTo>
                  <a:lnTo>
                    <a:pt x="0" y="627888"/>
                  </a:lnTo>
                  <a:lnTo>
                    <a:pt x="675132" y="627888"/>
                  </a:lnTo>
                  <a:lnTo>
                    <a:pt x="675132" y="492252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7441692" y="3326891"/>
              <a:ext cx="0" cy="982980"/>
            </a:xfrm>
            <a:custGeom>
              <a:avLst/>
              <a:gdLst/>
              <a:ahLst/>
              <a:cxnLst/>
              <a:rect l="l" t="t" r="r" b="b"/>
              <a:pathLst>
                <a:path w="0" h="982979">
                  <a:moveTo>
                    <a:pt x="0" y="0"/>
                  </a:moveTo>
                  <a:lnTo>
                    <a:pt x="0" y="98298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7678039" y="3363848"/>
            <a:ext cx="2025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8009890" y="3609847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44%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8145018" y="3855542"/>
            <a:ext cx="20256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7641717" y="4100576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619747" y="3370834"/>
            <a:ext cx="5270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Last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 purchase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6616065" y="3620261"/>
            <a:ext cx="6178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700" spc="-1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6616065" y="3870452"/>
            <a:ext cx="534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6616065" y="4119753"/>
            <a:ext cx="678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(preference)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96" name="object 196"/>
          <p:cNvGraphicFramePr>
            <a:graphicFrameLocks noGrp="1"/>
          </p:cNvGraphicFramePr>
          <p:nvPr/>
        </p:nvGraphicFramePr>
        <p:xfrm>
          <a:off x="8556625" y="3371850"/>
          <a:ext cx="567690" cy="87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190.75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175.22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239.95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176.75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</a:tbl>
          </a:graphicData>
        </a:graphic>
      </p:graphicFrame>
      <p:sp>
        <p:nvSpPr>
          <p:cNvPr id="197" name="object 197"/>
          <p:cNvSpPr/>
          <p:nvPr/>
        </p:nvSpPr>
        <p:spPr>
          <a:xfrm>
            <a:off x="6628638" y="3313938"/>
            <a:ext cx="2403475" cy="0"/>
          </a:xfrm>
          <a:custGeom>
            <a:avLst/>
            <a:gdLst/>
            <a:ahLst/>
            <a:cxnLst/>
            <a:rect l="l" t="t" r="r" b="b"/>
            <a:pathLst>
              <a:path w="2403475" h="0">
                <a:moveTo>
                  <a:pt x="0" y="0"/>
                </a:moveTo>
                <a:lnTo>
                  <a:pt x="2403093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 txBox="1"/>
          <p:nvPr/>
        </p:nvSpPr>
        <p:spPr>
          <a:xfrm>
            <a:off x="8688451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10573321" y="3322129"/>
            <a:ext cx="462280" cy="2504440"/>
            <a:chOff x="10573321" y="3322129"/>
            <a:chExt cx="462280" cy="2504440"/>
          </a:xfrm>
        </p:grpSpPr>
        <p:sp>
          <p:nvSpPr>
            <p:cNvPr id="200" name="object 200"/>
            <p:cNvSpPr/>
            <p:nvPr/>
          </p:nvSpPr>
          <p:spPr>
            <a:xfrm>
              <a:off x="10578084" y="3389375"/>
              <a:ext cx="457200" cy="2369820"/>
            </a:xfrm>
            <a:custGeom>
              <a:avLst/>
              <a:gdLst/>
              <a:ahLst/>
              <a:cxnLst/>
              <a:rect l="l" t="t" r="r" b="b"/>
              <a:pathLst>
                <a:path w="457200" h="2369820">
                  <a:moveTo>
                    <a:pt x="126492" y="2215896"/>
                  </a:moveTo>
                  <a:lnTo>
                    <a:pt x="0" y="2215896"/>
                  </a:lnTo>
                  <a:lnTo>
                    <a:pt x="0" y="2369820"/>
                  </a:lnTo>
                  <a:lnTo>
                    <a:pt x="126492" y="2369820"/>
                  </a:lnTo>
                  <a:lnTo>
                    <a:pt x="126492" y="2215896"/>
                  </a:lnTo>
                  <a:close/>
                </a:path>
                <a:path w="457200" h="2369820">
                  <a:moveTo>
                    <a:pt x="222504" y="1385316"/>
                  </a:moveTo>
                  <a:lnTo>
                    <a:pt x="0" y="1385316"/>
                  </a:lnTo>
                  <a:lnTo>
                    <a:pt x="0" y="1539240"/>
                  </a:lnTo>
                  <a:lnTo>
                    <a:pt x="222504" y="1539240"/>
                  </a:lnTo>
                  <a:lnTo>
                    <a:pt x="222504" y="1385316"/>
                  </a:lnTo>
                  <a:close/>
                </a:path>
                <a:path w="457200" h="2369820">
                  <a:moveTo>
                    <a:pt x="233172" y="1940052"/>
                  </a:moveTo>
                  <a:lnTo>
                    <a:pt x="0" y="1940052"/>
                  </a:lnTo>
                  <a:lnTo>
                    <a:pt x="0" y="2093976"/>
                  </a:lnTo>
                  <a:lnTo>
                    <a:pt x="233172" y="2093976"/>
                  </a:lnTo>
                  <a:lnTo>
                    <a:pt x="233172" y="1940052"/>
                  </a:lnTo>
                  <a:close/>
                </a:path>
                <a:path w="457200" h="2369820">
                  <a:moveTo>
                    <a:pt x="243840" y="1662684"/>
                  </a:moveTo>
                  <a:lnTo>
                    <a:pt x="0" y="1662684"/>
                  </a:lnTo>
                  <a:lnTo>
                    <a:pt x="0" y="1816608"/>
                  </a:lnTo>
                  <a:lnTo>
                    <a:pt x="243840" y="1816608"/>
                  </a:lnTo>
                  <a:lnTo>
                    <a:pt x="243840" y="1662684"/>
                  </a:lnTo>
                  <a:close/>
                </a:path>
                <a:path w="457200" h="2369820">
                  <a:moveTo>
                    <a:pt x="254508" y="553212"/>
                  </a:moveTo>
                  <a:lnTo>
                    <a:pt x="0" y="553212"/>
                  </a:lnTo>
                  <a:lnTo>
                    <a:pt x="0" y="707136"/>
                  </a:lnTo>
                  <a:lnTo>
                    <a:pt x="254508" y="707136"/>
                  </a:lnTo>
                  <a:lnTo>
                    <a:pt x="254508" y="553212"/>
                  </a:lnTo>
                  <a:close/>
                </a:path>
                <a:path w="457200" h="2369820">
                  <a:moveTo>
                    <a:pt x="275844" y="830580"/>
                  </a:moveTo>
                  <a:lnTo>
                    <a:pt x="0" y="830580"/>
                  </a:lnTo>
                  <a:lnTo>
                    <a:pt x="0" y="984504"/>
                  </a:lnTo>
                  <a:lnTo>
                    <a:pt x="275844" y="984504"/>
                  </a:lnTo>
                  <a:lnTo>
                    <a:pt x="275844" y="830580"/>
                  </a:lnTo>
                  <a:close/>
                </a:path>
                <a:path w="457200" h="2369820">
                  <a:moveTo>
                    <a:pt x="286512" y="1107948"/>
                  </a:moveTo>
                  <a:lnTo>
                    <a:pt x="0" y="1107948"/>
                  </a:lnTo>
                  <a:lnTo>
                    <a:pt x="0" y="1261872"/>
                  </a:lnTo>
                  <a:lnTo>
                    <a:pt x="286512" y="1261872"/>
                  </a:lnTo>
                  <a:lnTo>
                    <a:pt x="286512" y="1107948"/>
                  </a:lnTo>
                  <a:close/>
                </a:path>
                <a:path w="457200" h="2369820">
                  <a:moveTo>
                    <a:pt x="446532" y="277368"/>
                  </a:moveTo>
                  <a:lnTo>
                    <a:pt x="0" y="277368"/>
                  </a:lnTo>
                  <a:lnTo>
                    <a:pt x="0" y="431292"/>
                  </a:lnTo>
                  <a:lnTo>
                    <a:pt x="446532" y="431292"/>
                  </a:lnTo>
                  <a:lnTo>
                    <a:pt x="446532" y="277368"/>
                  </a:lnTo>
                  <a:close/>
                </a:path>
                <a:path w="457200" h="2369820">
                  <a:moveTo>
                    <a:pt x="457200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57200" y="15392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0578083" y="3326891"/>
              <a:ext cx="0" cy="2494915"/>
            </a:xfrm>
            <a:custGeom>
              <a:avLst/>
              <a:gdLst/>
              <a:ahLst/>
              <a:cxnLst/>
              <a:rect l="l" t="t" r="r" b="b"/>
              <a:pathLst>
                <a:path w="0" h="2494915">
                  <a:moveTo>
                    <a:pt x="0" y="0"/>
                  </a:moveTo>
                  <a:lnTo>
                    <a:pt x="0" y="2494788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2" name="object 202"/>
          <p:cNvSpPr txBox="1"/>
          <p:nvPr/>
        </p:nvSpPr>
        <p:spPr>
          <a:xfrm>
            <a:off x="9645142" y="3396488"/>
            <a:ext cx="6305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Friends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or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family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9645142" y="3672585"/>
            <a:ext cx="608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Retailer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9645142" y="3950589"/>
            <a:ext cx="4787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Social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media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9645142" y="4226814"/>
            <a:ext cx="457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Salesperson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9645142" y="4504690"/>
            <a:ext cx="6324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Brands’</a:t>
            </a:r>
            <a:r>
              <a:rPr dirty="0" sz="7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9645142" y="4780915"/>
            <a:ext cx="405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Online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ads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9645142" y="5058917"/>
            <a:ext cx="327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TV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news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9645142" y="5335015"/>
            <a:ext cx="87756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Newspapers/magazines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9645142" y="5612993"/>
            <a:ext cx="4711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Online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blogs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1060048" y="3398646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11048745" y="3674440"/>
            <a:ext cx="156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26%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10858245" y="395274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15%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10879073" y="422922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16%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10889995" y="4506848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10826622" y="4783328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13%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10847323" y="5060950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0836020" y="5337428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10729721" y="5615127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0" name="object 220"/>
          <p:cNvSpPr/>
          <p:nvPr/>
        </p:nvSpPr>
        <p:spPr>
          <a:xfrm>
            <a:off x="5971032" y="5020055"/>
            <a:ext cx="66040" cy="76200"/>
          </a:xfrm>
          <a:custGeom>
            <a:avLst/>
            <a:gdLst/>
            <a:ahLst/>
            <a:cxnLst/>
            <a:rect l="l" t="t" r="r" b="b"/>
            <a:pathLst>
              <a:path w="66039" h="76200">
                <a:moveTo>
                  <a:pt x="65531" y="0"/>
                </a:moveTo>
                <a:lnTo>
                  <a:pt x="0" y="0"/>
                </a:lnTo>
                <a:lnTo>
                  <a:pt x="0" y="76200"/>
                </a:lnTo>
                <a:lnTo>
                  <a:pt x="65531" y="76200"/>
                </a:lnTo>
                <a:lnTo>
                  <a:pt x="65531" y="0"/>
                </a:lnTo>
                <a:close/>
              </a:path>
            </a:pathLst>
          </a:custGeom>
          <a:solidFill>
            <a:srgbClr val="00FF7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1" name="object 221"/>
          <p:cNvGrpSpPr/>
          <p:nvPr/>
        </p:nvGrpSpPr>
        <p:grpSpPr>
          <a:xfrm>
            <a:off x="3463734" y="1816607"/>
            <a:ext cx="2649220" cy="3996054"/>
            <a:chOff x="3463734" y="1816607"/>
            <a:chExt cx="2649220" cy="3996054"/>
          </a:xfrm>
        </p:grpSpPr>
        <p:sp>
          <p:nvSpPr>
            <p:cNvPr id="222" name="object 222"/>
            <p:cNvSpPr/>
            <p:nvPr/>
          </p:nvSpPr>
          <p:spPr>
            <a:xfrm>
              <a:off x="5754624" y="1865375"/>
              <a:ext cx="220979" cy="3642360"/>
            </a:xfrm>
            <a:custGeom>
              <a:avLst/>
              <a:gdLst/>
              <a:ahLst/>
              <a:cxnLst/>
              <a:rect l="l" t="t" r="r" b="b"/>
              <a:pathLst>
                <a:path w="220979" h="3642360">
                  <a:moveTo>
                    <a:pt x="216395" y="2468880"/>
                  </a:moveTo>
                  <a:lnTo>
                    <a:pt x="184404" y="2468880"/>
                  </a:lnTo>
                  <a:lnTo>
                    <a:pt x="184404" y="2545080"/>
                  </a:lnTo>
                  <a:lnTo>
                    <a:pt x="216395" y="2545080"/>
                  </a:lnTo>
                  <a:lnTo>
                    <a:pt x="216395" y="2468880"/>
                  </a:lnTo>
                  <a:close/>
                </a:path>
                <a:path w="220979" h="3642360">
                  <a:moveTo>
                    <a:pt x="216395" y="2194560"/>
                  </a:moveTo>
                  <a:lnTo>
                    <a:pt x="182880" y="2194560"/>
                  </a:lnTo>
                  <a:lnTo>
                    <a:pt x="182880" y="2270760"/>
                  </a:lnTo>
                  <a:lnTo>
                    <a:pt x="216395" y="2270760"/>
                  </a:lnTo>
                  <a:lnTo>
                    <a:pt x="216395" y="2194560"/>
                  </a:lnTo>
                  <a:close/>
                </a:path>
                <a:path w="220979" h="3642360">
                  <a:moveTo>
                    <a:pt x="216395" y="685800"/>
                  </a:moveTo>
                  <a:lnTo>
                    <a:pt x="199644" y="685800"/>
                  </a:lnTo>
                  <a:lnTo>
                    <a:pt x="199644" y="762000"/>
                  </a:lnTo>
                  <a:lnTo>
                    <a:pt x="216395" y="762000"/>
                  </a:lnTo>
                  <a:lnTo>
                    <a:pt x="216395" y="685800"/>
                  </a:lnTo>
                  <a:close/>
                </a:path>
                <a:path w="220979" h="3642360">
                  <a:moveTo>
                    <a:pt x="216395" y="548640"/>
                  </a:moveTo>
                  <a:lnTo>
                    <a:pt x="124968" y="548640"/>
                  </a:lnTo>
                  <a:lnTo>
                    <a:pt x="124968" y="624840"/>
                  </a:lnTo>
                  <a:lnTo>
                    <a:pt x="216395" y="624840"/>
                  </a:lnTo>
                  <a:lnTo>
                    <a:pt x="216395" y="548640"/>
                  </a:lnTo>
                  <a:close/>
                </a:path>
                <a:path w="220979" h="3642360">
                  <a:moveTo>
                    <a:pt x="216395" y="274320"/>
                  </a:moveTo>
                  <a:lnTo>
                    <a:pt x="205740" y="274320"/>
                  </a:lnTo>
                  <a:lnTo>
                    <a:pt x="205740" y="350520"/>
                  </a:lnTo>
                  <a:lnTo>
                    <a:pt x="216395" y="350520"/>
                  </a:lnTo>
                  <a:lnTo>
                    <a:pt x="216395" y="274320"/>
                  </a:lnTo>
                  <a:close/>
                </a:path>
                <a:path w="220979" h="3642360">
                  <a:moveTo>
                    <a:pt x="216395" y="137160"/>
                  </a:moveTo>
                  <a:lnTo>
                    <a:pt x="181356" y="137160"/>
                  </a:lnTo>
                  <a:lnTo>
                    <a:pt x="181356" y="213360"/>
                  </a:lnTo>
                  <a:lnTo>
                    <a:pt x="216395" y="213360"/>
                  </a:lnTo>
                  <a:lnTo>
                    <a:pt x="216395" y="137160"/>
                  </a:lnTo>
                  <a:close/>
                </a:path>
                <a:path w="220979" h="3642360">
                  <a:moveTo>
                    <a:pt x="216395" y="0"/>
                  </a:moveTo>
                  <a:lnTo>
                    <a:pt x="33528" y="0"/>
                  </a:lnTo>
                  <a:lnTo>
                    <a:pt x="33528" y="76200"/>
                  </a:lnTo>
                  <a:lnTo>
                    <a:pt x="216395" y="76200"/>
                  </a:lnTo>
                  <a:lnTo>
                    <a:pt x="216395" y="0"/>
                  </a:lnTo>
                  <a:close/>
                </a:path>
                <a:path w="220979" h="3642360">
                  <a:moveTo>
                    <a:pt x="216408" y="3566160"/>
                  </a:moveTo>
                  <a:lnTo>
                    <a:pt x="208788" y="3566160"/>
                  </a:lnTo>
                  <a:lnTo>
                    <a:pt x="208788" y="3642360"/>
                  </a:lnTo>
                  <a:lnTo>
                    <a:pt x="216408" y="3642360"/>
                  </a:lnTo>
                  <a:lnTo>
                    <a:pt x="216408" y="3566160"/>
                  </a:lnTo>
                  <a:close/>
                </a:path>
                <a:path w="220979" h="3642360">
                  <a:moveTo>
                    <a:pt x="216408" y="2606040"/>
                  </a:moveTo>
                  <a:lnTo>
                    <a:pt x="155448" y="2606040"/>
                  </a:lnTo>
                  <a:lnTo>
                    <a:pt x="155448" y="2682240"/>
                  </a:lnTo>
                  <a:lnTo>
                    <a:pt x="216408" y="2682240"/>
                  </a:lnTo>
                  <a:lnTo>
                    <a:pt x="216408" y="2606040"/>
                  </a:lnTo>
                  <a:close/>
                </a:path>
                <a:path w="220979" h="3642360">
                  <a:moveTo>
                    <a:pt x="216408" y="2331720"/>
                  </a:moveTo>
                  <a:lnTo>
                    <a:pt x="170688" y="2331720"/>
                  </a:lnTo>
                  <a:lnTo>
                    <a:pt x="170688" y="2407920"/>
                  </a:lnTo>
                  <a:lnTo>
                    <a:pt x="216408" y="2407920"/>
                  </a:lnTo>
                  <a:lnTo>
                    <a:pt x="216408" y="2331720"/>
                  </a:lnTo>
                  <a:close/>
                </a:path>
                <a:path w="220979" h="3642360">
                  <a:moveTo>
                    <a:pt x="216408" y="1371600"/>
                  </a:moveTo>
                  <a:lnTo>
                    <a:pt x="173736" y="1371600"/>
                  </a:lnTo>
                  <a:lnTo>
                    <a:pt x="173736" y="1447800"/>
                  </a:lnTo>
                  <a:lnTo>
                    <a:pt x="216408" y="1447800"/>
                  </a:lnTo>
                  <a:lnTo>
                    <a:pt x="216408" y="1371600"/>
                  </a:lnTo>
                  <a:close/>
                </a:path>
                <a:path w="220979" h="3642360">
                  <a:moveTo>
                    <a:pt x="216408" y="960120"/>
                  </a:moveTo>
                  <a:lnTo>
                    <a:pt x="0" y="960120"/>
                  </a:lnTo>
                  <a:lnTo>
                    <a:pt x="0" y="1036320"/>
                  </a:lnTo>
                  <a:lnTo>
                    <a:pt x="216408" y="1036320"/>
                  </a:lnTo>
                  <a:lnTo>
                    <a:pt x="216408" y="960120"/>
                  </a:lnTo>
                  <a:close/>
                </a:path>
                <a:path w="220979" h="3642360">
                  <a:moveTo>
                    <a:pt x="216408" y="822960"/>
                  </a:moveTo>
                  <a:lnTo>
                    <a:pt x="19812" y="822960"/>
                  </a:lnTo>
                  <a:lnTo>
                    <a:pt x="19812" y="899160"/>
                  </a:lnTo>
                  <a:lnTo>
                    <a:pt x="216408" y="899160"/>
                  </a:lnTo>
                  <a:lnTo>
                    <a:pt x="216408" y="822960"/>
                  </a:lnTo>
                  <a:close/>
                </a:path>
                <a:path w="220979" h="3642360">
                  <a:moveTo>
                    <a:pt x="220967" y="1234440"/>
                  </a:moveTo>
                  <a:lnTo>
                    <a:pt x="216408" y="1234440"/>
                  </a:lnTo>
                  <a:lnTo>
                    <a:pt x="216408" y="1310640"/>
                  </a:lnTo>
                  <a:lnTo>
                    <a:pt x="220967" y="1310640"/>
                  </a:lnTo>
                  <a:lnTo>
                    <a:pt x="220967" y="123444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5971032" y="2276855"/>
              <a:ext cx="142240" cy="3505200"/>
            </a:xfrm>
            <a:custGeom>
              <a:avLst/>
              <a:gdLst/>
              <a:ahLst/>
              <a:cxnLst/>
              <a:rect l="l" t="t" r="r" b="b"/>
              <a:pathLst>
                <a:path w="142239" h="3505200">
                  <a:moveTo>
                    <a:pt x="6096" y="2468880"/>
                  </a:moveTo>
                  <a:lnTo>
                    <a:pt x="0" y="2468880"/>
                  </a:lnTo>
                  <a:lnTo>
                    <a:pt x="0" y="2545080"/>
                  </a:lnTo>
                  <a:lnTo>
                    <a:pt x="6096" y="2545080"/>
                  </a:lnTo>
                  <a:lnTo>
                    <a:pt x="6096" y="2468880"/>
                  </a:lnTo>
                  <a:close/>
                </a:path>
                <a:path w="142239" h="3505200">
                  <a:moveTo>
                    <a:pt x="19812" y="3291840"/>
                  </a:moveTo>
                  <a:lnTo>
                    <a:pt x="0" y="3291840"/>
                  </a:lnTo>
                  <a:lnTo>
                    <a:pt x="0" y="3368040"/>
                  </a:lnTo>
                  <a:lnTo>
                    <a:pt x="19812" y="3368040"/>
                  </a:lnTo>
                  <a:lnTo>
                    <a:pt x="19812" y="3291840"/>
                  </a:lnTo>
                  <a:close/>
                </a:path>
                <a:path w="142239" h="3505200">
                  <a:moveTo>
                    <a:pt x="21336" y="1097280"/>
                  </a:moveTo>
                  <a:lnTo>
                    <a:pt x="0" y="1097280"/>
                  </a:lnTo>
                  <a:lnTo>
                    <a:pt x="0" y="1173480"/>
                  </a:lnTo>
                  <a:lnTo>
                    <a:pt x="21336" y="1173480"/>
                  </a:lnTo>
                  <a:lnTo>
                    <a:pt x="21336" y="1097280"/>
                  </a:lnTo>
                  <a:close/>
                </a:path>
                <a:path w="142239" h="3505200">
                  <a:moveTo>
                    <a:pt x="30480" y="3429000"/>
                  </a:moveTo>
                  <a:lnTo>
                    <a:pt x="0" y="3429000"/>
                  </a:lnTo>
                  <a:lnTo>
                    <a:pt x="0" y="3505200"/>
                  </a:lnTo>
                  <a:lnTo>
                    <a:pt x="30480" y="3505200"/>
                  </a:lnTo>
                  <a:lnTo>
                    <a:pt x="30480" y="3429000"/>
                  </a:lnTo>
                  <a:close/>
                </a:path>
                <a:path w="142239" h="3505200">
                  <a:moveTo>
                    <a:pt x="3657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36576" y="76200"/>
                  </a:lnTo>
                  <a:lnTo>
                    <a:pt x="36576" y="0"/>
                  </a:lnTo>
                  <a:close/>
                </a:path>
                <a:path w="142239" h="3505200">
                  <a:moveTo>
                    <a:pt x="39624" y="3017520"/>
                  </a:moveTo>
                  <a:lnTo>
                    <a:pt x="0" y="3017520"/>
                  </a:lnTo>
                  <a:lnTo>
                    <a:pt x="0" y="3093720"/>
                  </a:lnTo>
                  <a:lnTo>
                    <a:pt x="39624" y="3093720"/>
                  </a:lnTo>
                  <a:lnTo>
                    <a:pt x="39624" y="3017520"/>
                  </a:lnTo>
                  <a:close/>
                </a:path>
                <a:path w="142239" h="3505200">
                  <a:moveTo>
                    <a:pt x="45720" y="2331720"/>
                  </a:moveTo>
                  <a:lnTo>
                    <a:pt x="0" y="2331720"/>
                  </a:lnTo>
                  <a:lnTo>
                    <a:pt x="0" y="2407920"/>
                  </a:lnTo>
                  <a:lnTo>
                    <a:pt x="45720" y="2407920"/>
                  </a:lnTo>
                  <a:lnTo>
                    <a:pt x="45720" y="2331720"/>
                  </a:lnTo>
                  <a:close/>
                </a:path>
                <a:path w="142239" h="3505200">
                  <a:moveTo>
                    <a:pt x="48768" y="2880360"/>
                  </a:moveTo>
                  <a:lnTo>
                    <a:pt x="0" y="2880360"/>
                  </a:lnTo>
                  <a:lnTo>
                    <a:pt x="0" y="2956560"/>
                  </a:lnTo>
                  <a:lnTo>
                    <a:pt x="48768" y="2956560"/>
                  </a:lnTo>
                  <a:lnTo>
                    <a:pt x="48768" y="2880360"/>
                  </a:lnTo>
                  <a:close/>
                </a:path>
                <a:path w="142239" h="3505200">
                  <a:moveTo>
                    <a:pt x="68580" y="2606040"/>
                  </a:moveTo>
                  <a:lnTo>
                    <a:pt x="0" y="2606040"/>
                  </a:lnTo>
                  <a:lnTo>
                    <a:pt x="0" y="2682240"/>
                  </a:lnTo>
                  <a:lnTo>
                    <a:pt x="68580" y="2682240"/>
                  </a:lnTo>
                  <a:lnTo>
                    <a:pt x="68580" y="2606040"/>
                  </a:lnTo>
                  <a:close/>
                </a:path>
                <a:path w="142239" h="3505200">
                  <a:moveTo>
                    <a:pt x="77724" y="685800"/>
                  </a:moveTo>
                  <a:lnTo>
                    <a:pt x="0" y="685800"/>
                  </a:lnTo>
                  <a:lnTo>
                    <a:pt x="0" y="762000"/>
                  </a:lnTo>
                  <a:lnTo>
                    <a:pt x="77724" y="762000"/>
                  </a:lnTo>
                  <a:lnTo>
                    <a:pt x="77724" y="685800"/>
                  </a:lnTo>
                  <a:close/>
                </a:path>
                <a:path w="142239" h="3505200">
                  <a:moveTo>
                    <a:pt x="118872" y="1371600"/>
                  </a:moveTo>
                  <a:lnTo>
                    <a:pt x="0" y="1371600"/>
                  </a:lnTo>
                  <a:lnTo>
                    <a:pt x="0" y="1447800"/>
                  </a:lnTo>
                  <a:lnTo>
                    <a:pt x="118872" y="1447800"/>
                  </a:lnTo>
                  <a:lnTo>
                    <a:pt x="118872" y="1371600"/>
                  </a:lnTo>
                  <a:close/>
                </a:path>
                <a:path w="142239" h="3505200">
                  <a:moveTo>
                    <a:pt x="124968" y="1645920"/>
                  </a:moveTo>
                  <a:lnTo>
                    <a:pt x="0" y="1645920"/>
                  </a:lnTo>
                  <a:lnTo>
                    <a:pt x="0" y="1722120"/>
                  </a:lnTo>
                  <a:lnTo>
                    <a:pt x="124968" y="1722120"/>
                  </a:lnTo>
                  <a:lnTo>
                    <a:pt x="124968" y="1645920"/>
                  </a:lnTo>
                  <a:close/>
                </a:path>
                <a:path w="142239" h="3505200">
                  <a:moveTo>
                    <a:pt x="132588" y="1508760"/>
                  </a:moveTo>
                  <a:lnTo>
                    <a:pt x="0" y="1508760"/>
                  </a:lnTo>
                  <a:lnTo>
                    <a:pt x="0" y="1584960"/>
                  </a:lnTo>
                  <a:lnTo>
                    <a:pt x="132588" y="1584960"/>
                  </a:lnTo>
                  <a:lnTo>
                    <a:pt x="132588" y="1508760"/>
                  </a:lnTo>
                  <a:close/>
                </a:path>
                <a:path w="142239" h="3505200">
                  <a:moveTo>
                    <a:pt x="141732" y="1234440"/>
                  </a:moveTo>
                  <a:lnTo>
                    <a:pt x="0" y="1234440"/>
                  </a:lnTo>
                  <a:lnTo>
                    <a:pt x="0" y="1310652"/>
                  </a:lnTo>
                  <a:lnTo>
                    <a:pt x="141732" y="1310652"/>
                  </a:lnTo>
                  <a:lnTo>
                    <a:pt x="141732" y="123444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5971031" y="1834895"/>
              <a:ext cx="0" cy="3977640"/>
            </a:xfrm>
            <a:custGeom>
              <a:avLst/>
              <a:gdLst/>
              <a:ahLst/>
              <a:cxnLst/>
              <a:rect l="l" t="t" r="r" b="b"/>
              <a:pathLst>
                <a:path w="0" h="3977640">
                  <a:moveTo>
                    <a:pt x="0" y="0"/>
                  </a:moveTo>
                  <a:lnTo>
                    <a:pt x="0" y="397764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3471671" y="1816607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0"/>
                  </a:moveTo>
                  <a:lnTo>
                    <a:pt x="0" y="60960"/>
                  </a:lnTo>
                </a:path>
              </a:pathLst>
            </a:custGeom>
            <a:ln w="15875">
              <a:solidFill>
                <a:srgbClr val="2387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6" name="object 226"/>
          <p:cNvGrpSpPr/>
          <p:nvPr/>
        </p:nvGrpSpPr>
        <p:grpSpPr>
          <a:xfrm>
            <a:off x="9447276" y="3386328"/>
            <a:ext cx="123825" cy="2284095"/>
            <a:chOff x="9447276" y="3386328"/>
            <a:chExt cx="123825" cy="2284095"/>
          </a:xfrm>
        </p:grpSpPr>
        <p:sp>
          <p:nvSpPr>
            <p:cNvPr id="227" name="object 227"/>
            <p:cNvSpPr/>
            <p:nvPr/>
          </p:nvSpPr>
          <p:spPr>
            <a:xfrm>
              <a:off x="9471660" y="3386328"/>
              <a:ext cx="76200" cy="2284095"/>
            </a:xfrm>
            <a:custGeom>
              <a:avLst/>
              <a:gdLst/>
              <a:ahLst/>
              <a:cxnLst/>
              <a:rect l="l" t="t" r="r" b="b"/>
              <a:pathLst>
                <a:path w="76200" h="2284095">
                  <a:moveTo>
                    <a:pt x="30099" y="2207387"/>
                  </a:moveTo>
                  <a:lnTo>
                    <a:pt x="0" y="2207387"/>
                  </a:lnTo>
                  <a:lnTo>
                    <a:pt x="38100" y="2283587"/>
                  </a:lnTo>
                  <a:lnTo>
                    <a:pt x="69850" y="2220087"/>
                  </a:lnTo>
                  <a:lnTo>
                    <a:pt x="30099" y="2220087"/>
                  </a:lnTo>
                  <a:lnTo>
                    <a:pt x="30099" y="2207387"/>
                  </a:lnTo>
                  <a:close/>
                </a:path>
                <a:path w="76200" h="228409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2220087"/>
                  </a:lnTo>
                  <a:lnTo>
                    <a:pt x="45974" y="22200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2284095">
                  <a:moveTo>
                    <a:pt x="76200" y="2207387"/>
                  </a:moveTo>
                  <a:lnTo>
                    <a:pt x="45974" y="2207387"/>
                  </a:lnTo>
                  <a:lnTo>
                    <a:pt x="45974" y="2220087"/>
                  </a:lnTo>
                  <a:lnTo>
                    <a:pt x="69850" y="2220087"/>
                  </a:lnTo>
                  <a:lnTo>
                    <a:pt x="76200" y="2207387"/>
                  </a:lnTo>
                  <a:close/>
                </a:path>
                <a:path w="76200" h="228409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28409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228409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9447276" y="3764280"/>
              <a:ext cx="123825" cy="1397635"/>
            </a:xfrm>
            <a:custGeom>
              <a:avLst/>
              <a:gdLst/>
              <a:ahLst/>
              <a:cxnLst/>
              <a:rect l="l" t="t" r="r" b="b"/>
              <a:pathLst>
                <a:path w="123825" h="1397635">
                  <a:moveTo>
                    <a:pt x="123444" y="0"/>
                  </a:moveTo>
                  <a:lnTo>
                    <a:pt x="0" y="0"/>
                  </a:lnTo>
                  <a:lnTo>
                    <a:pt x="0" y="1397508"/>
                  </a:lnTo>
                  <a:lnTo>
                    <a:pt x="123444" y="1397508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9" name="object 229"/>
          <p:cNvSpPr txBox="1"/>
          <p:nvPr/>
        </p:nvSpPr>
        <p:spPr>
          <a:xfrm>
            <a:off x="9454260" y="3816113"/>
            <a:ext cx="127635" cy="12973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Ordered</a:t>
            </a:r>
            <a:r>
              <a:rPr dirty="0" sz="8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by</a:t>
            </a:r>
            <a:r>
              <a:rPr dirty="0" sz="8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8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0" name="object 230"/>
          <p:cNvSpPr/>
          <p:nvPr/>
        </p:nvSpPr>
        <p:spPr>
          <a:xfrm>
            <a:off x="9510521" y="3313938"/>
            <a:ext cx="2354580" cy="0"/>
          </a:xfrm>
          <a:custGeom>
            <a:avLst/>
            <a:gdLst/>
            <a:ahLst/>
            <a:cxnLst/>
            <a:rect l="l" t="t" r="r" b="b"/>
            <a:pathLst>
              <a:path w="2354579" h="0">
                <a:moveTo>
                  <a:pt x="0" y="0"/>
                </a:moveTo>
                <a:lnTo>
                  <a:pt x="2354579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 txBox="1"/>
          <p:nvPr/>
        </p:nvSpPr>
        <p:spPr>
          <a:xfrm>
            <a:off x="11524868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232" name="object 232"/>
          <p:cNvGraphicFramePr>
            <a:graphicFrameLocks noGrp="1"/>
          </p:cNvGraphicFramePr>
          <p:nvPr/>
        </p:nvGraphicFramePr>
        <p:xfrm>
          <a:off x="11392154" y="3368675"/>
          <a:ext cx="568325" cy="2394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146.37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2A9F5F"/>
                          </a:solidFill>
                          <a:latin typeface="Calibri"/>
                          <a:cs typeface="Calibri"/>
                        </a:rPr>
                        <a:t>142.97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1FFDD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81.70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88.51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91.91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71.49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78.29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74.89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40.85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233" name="object 233"/>
          <p:cNvSpPr txBox="1"/>
          <p:nvPr/>
        </p:nvSpPr>
        <p:spPr>
          <a:xfrm>
            <a:off x="378663" y="4365497"/>
            <a:ext cx="2254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Perceptions: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closely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aligned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brand,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tablestake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378663" y="4887214"/>
            <a:ext cx="22942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Performance: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Significant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overperformance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specialty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marketplace</a:t>
            </a:r>
            <a:r>
              <a:rPr dirty="0" sz="9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retailers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378663" y="5409057"/>
            <a:ext cx="220472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behavior: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Overperformance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metrics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indicating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preference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toward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purchases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6" name="object 236"/>
          <p:cNvSpPr txBox="1"/>
          <p:nvPr/>
        </p:nvSpPr>
        <p:spPr>
          <a:xfrm>
            <a:off x="378663" y="5930900"/>
            <a:ext cx="22237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dirty="0" sz="9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considerations: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Mixed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willingness</a:t>
            </a:r>
            <a:r>
              <a:rPr dirty="0" sz="9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pay,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par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overall,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nuts</a:t>
            </a:r>
            <a:r>
              <a:rPr dirty="0" sz="9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lower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spreads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7" name="object 237"/>
          <p:cNvSpPr/>
          <p:nvPr/>
        </p:nvSpPr>
        <p:spPr>
          <a:xfrm>
            <a:off x="3471671" y="2438400"/>
            <a:ext cx="0" cy="62865"/>
          </a:xfrm>
          <a:custGeom>
            <a:avLst/>
            <a:gdLst/>
            <a:ahLst/>
            <a:cxnLst/>
            <a:rect l="l" t="t" r="r" b="b"/>
            <a:pathLst>
              <a:path w="0" h="62864">
                <a:moveTo>
                  <a:pt x="0" y="0"/>
                </a:moveTo>
                <a:lnTo>
                  <a:pt x="0" y="62357"/>
                </a:lnTo>
              </a:path>
            </a:pathLst>
          </a:custGeom>
          <a:ln w="15875">
            <a:solidFill>
              <a:srgbClr val="2387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 txBox="1"/>
          <p:nvPr/>
        </p:nvSpPr>
        <p:spPr>
          <a:xfrm>
            <a:off x="3415665" y="1903936"/>
            <a:ext cx="127635" cy="509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2387D7"/>
                </a:solidFill>
                <a:latin typeface="Calibri"/>
                <a:cs typeface="Calibri"/>
              </a:rPr>
              <a:t>Tablestakes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9" name="object 239"/>
          <p:cNvSpPr/>
          <p:nvPr/>
        </p:nvSpPr>
        <p:spPr>
          <a:xfrm>
            <a:off x="3470147" y="3758184"/>
            <a:ext cx="0" cy="496570"/>
          </a:xfrm>
          <a:custGeom>
            <a:avLst/>
            <a:gdLst/>
            <a:ahLst/>
            <a:cxnLst/>
            <a:rect l="l" t="t" r="r" b="b"/>
            <a:pathLst>
              <a:path w="0" h="496570">
                <a:moveTo>
                  <a:pt x="0" y="0"/>
                </a:moveTo>
                <a:lnTo>
                  <a:pt x="0" y="496062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3470147" y="2558795"/>
            <a:ext cx="0" cy="497205"/>
          </a:xfrm>
          <a:custGeom>
            <a:avLst/>
            <a:gdLst/>
            <a:ahLst/>
            <a:cxnLst/>
            <a:rect l="l" t="t" r="r" b="b"/>
            <a:pathLst>
              <a:path w="0" h="497205">
                <a:moveTo>
                  <a:pt x="0" y="0"/>
                </a:moveTo>
                <a:lnTo>
                  <a:pt x="0" y="496823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 txBox="1"/>
          <p:nvPr/>
        </p:nvSpPr>
        <p:spPr>
          <a:xfrm>
            <a:off x="3414648" y="3094218"/>
            <a:ext cx="127635" cy="6280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808080"/>
                </a:solidFill>
                <a:latin typeface="Calibri"/>
                <a:cs typeface="Calibri"/>
              </a:rPr>
              <a:t>Differentiators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2" name="object 242"/>
          <p:cNvSpPr/>
          <p:nvPr/>
        </p:nvSpPr>
        <p:spPr>
          <a:xfrm>
            <a:off x="3471671" y="5233415"/>
            <a:ext cx="0" cy="577850"/>
          </a:xfrm>
          <a:custGeom>
            <a:avLst/>
            <a:gdLst/>
            <a:ahLst/>
            <a:cxnLst/>
            <a:rect l="l" t="t" r="r" b="b"/>
            <a:pathLst>
              <a:path w="0" h="577850">
                <a:moveTo>
                  <a:pt x="0" y="0"/>
                </a:moveTo>
                <a:lnTo>
                  <a:pt x="0" y="577684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471671" y="432511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 txBox="1"/>
          <p:nvPr/>
        </p:nvSpPr>
        <p:spPr>
          <a:xfrm>
            <a:off x="3415665" y="4938459"/>
            <a:ext cx="127635" cy="2616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7E6600"/>
                </a:solidFill>
                <a:latin typeface="Calibri"/>
                <a:cs typeface="Calibri"/>
              </a:rPr>
              <a:t>Niche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43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1295" y="127383"/>
              <a:ext cx="298790" cy="1308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63499" y="461156"/>
              <a:ext cx="98178" cy="1156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693204" y="266447"/>
              <a:ext cx="281940" cy="303530"/>
            </a:xfrm>
            <a:custGeom>
              <a:avLst/>
              <a:gdLst/>
              <a:ahLst/>
              <a:cxnLst/>
              <a:rect l="l" t="t" r="r" b="b"/>
              <a:pathLst>
                <a:path w="281940" h="303530">
                  <a:moveTo>
                    <a:pt x="281580" y="178838"/>
                  </a:moveTo>
                  <a:lnTo>
                    <a:pt x="45694" y="178838"/>
                  </a:lnTo>
                  <a:lnTo>
                    <a:pt x="60183" y="179804"/>
                  </a:lnTo>
                  <a:lnTo>
                    <a:pt x="61000" y="194144"/>
                  </a:lnTo>
                  <a:lnTo>
                    <a:pt x="61226" y="200515"/>
                  </a:lnTo>
                  <a:lnTo>
                    <a:pt x="60287" y="206876"/>
                  </a:lnTo>
                  <a:lnTo>
                    <a:pt x="58229" y="212908"/>
                  </a:lnTo>
                  <a:lnTo>
                    <a:pt x="64597" y="215184"/>
                  </a:lnTo>
                  <a:lnTo>
                    <a:pt x="70282" y="219035"/>
                  </a:lnTo>
                  <a:lnTo>
                    <a:pt x="74754" y="224106"/>
                  </a:lnTo>
                  <a:lnTo>
                    <a:pt x="82388" y="238973"/>
                  </a:lnTo>
                  <a:lnTo>
                    <a:pt x="84766" y="258403"/>
                  </a:lnTo>
                  <a:lnTo>
                    <a:pt x="82559" y="279369"/>
                  </a:lnTo>
                  <a:lnTo>
                    <a:pt x="76438" y="298846"/>
                  </a:lnTo>
                  <a:lnTo>
                    <a:pt x="75725" y="300458"/>
                  </a:lnTo>
                  <a:lnTo>
                    <a:pt x="75028" y="301704"/>
                  </a:lnTo>
                  <a:lnTo>
                    <a:pt x="74127" y="303407"/>
                  </a:lnTo>
                  <a:lnTo>
                    <a:pt x="259921" y="303407"/>
                  </a:lnTo>
                  <a:lnTo>
                    <a:pt x="268352" y="301704"/>
                  </a:lnTo>
                  <a:lnTo>
                    <a:pt x="275237" y="297060"/>
                  </a:lnTo>
                  <a:lnTo>
                    <a:pt x="279879" y="290171"/>
                  </a:lnTo>
                  <a:lnTo>
                    <a:pt x="281581" y="281735"/>
                  </a:lnTo>
                  <a:lnTo>
                    <a:pt x="281580" y="178838"/>
                  </a:lnTo>
                  <a:close/>
                </a:path>
                <a:path w="281940" h="303530">
                  <a:moveTo>
                    <a:pt x="0" y="0"/>
                  </a:moveTo>
                  <a:lnTo>
                    <a:pt x="0" y="176360"/>
                  </a:lnTo>
                  <a:lnTo>
                    <a:pt x="10288" y="184085"/>
                  </a:lnTo>
                  <a:lnTo>
                    <a:pt x="12057" y="185272"/>
                  </a:lnTo>
                  <a:lnTo>
                    <a:pt x="13763" y="186536"/>
                  </a:lnTo>
                  <a:lnTo>
                    <a:pt x="15415" y="187868"/>
                  </a:lnTo>
                  <a:lnTo>
                    <a:pt x="21891" y="183886"/>
                  </a:lnTo>
                  <a:lnTo>
                    <a:pt x="28878" y="181016"/>
                  </a:lnTo>
                  <a:lnTo>
                    <a:pt x="36236" y="179304"/>
                  </a:lnTo>
                  <a:lnTo>
                    <a:pt x="43150" y="178838"/>
                  </a:lnTo>
                  <a:lnTo>
                    <a:pt x="281580" y="178838"/>
                  </a:lnTo>
                  <a:lnTo>
                    <a:pt x="281580" y="10835"/>
                  </a:lnTo>
                  <a:lnTo>
                    <a:pt x="17598" y="10835"/>
                  </a:lnTo>
                  <a:lnTo>
                    <a:pt x="0" y="0"/>
                  </a:lnTo>
                  <a:close/>
                </a:path>
                <a:path w="281940" h="303530">
                  <a:moveTo>
                    <a:pt x="35197" y="0"/>
                  </a:moveTo>
                  <a:lnTo>
                    <a:pt x="17598" y="10835"/>
                  </a:lnTo>
                  <a:lnTo>
                    <a:pt x="52796" y="10835"/>
                  </a:lnTo>
                  <a:lnTo>
                    <a:pt x="35197" y="0"/>
                  </a:lnTo>
                  <a:close/>
                </a:path>
                <a:path w="281940" h="303530">
                  <a:moveTo>
                    <a:pt x="70395" y="0"/>
                  </a:moveTo>
                  <a:lnTo>
                    <a:pt x="52796" y="10835"/>
                  </a:lnTo>
                  <a:lnTo>
                    <a:pt x="87993" y="10835"/>
                  </a:lnTo>
                  <a:lnTo>
                    <a:pt x="70395" y="0"/>
                  </a:lnTo>
                  <a:close/>
                </a:path>
                <a:path w="281940" h="303530">
                  <a:moveTo>
                    <a:pt x="105592" y="0"/>
                  </a:moveTo>
                  <a:lnTo>
                    <a:pt x="87993" y="10835"/>
                  </a:lnTo>
                  <a:lnTo>
                    <a:pt x="123191" y="10835"/>
                  </a:lnTo>
                  <a:lnTo>
                    <a:pt x="105592" y="0"/>
                  </a:lnTo>
                  <a:close/>
                </a:path>
                <a:path w="281940" h="303530">
                  <a:moveTo>
                    <a:pt x="140790" y="0"/>
                  </a:moveTo>
                  <a:lnTo>
                    <a:pt x="123191" y="10835"/>
                  </a:lnTo>
                  <a:lnTo>
                    <a:pt x="158389" y="10835"/>
                  </a:lnTo>
                  <a:lnTo>
                    <a:pt x="140790" y="0"/>
                  </a:lnTo>
                  <a:close/>
                </a:path>
                <a:path w="281940" h="303530">
                  <a:moveTo>
                    <a:pt x="175987" y="0"/>
                  </a:moveTo>
                  <a:lnTo>
                    <a:pt x="158389" y="10835"/>
                  </a:lnTo>
                  <a:lnTo>
                    <a:pt x="193586" y="10835"/>
                  </a:lnTo>
                  <a:lnTo>
                    <a:pt x="175987" y="0"/>
                  </a:lnTo>
                  <a:close/>
                </a:path>
                <a:path w="281940" h="303530">
                  <a:moveTo>
                    <a:pt x="211185" y="0"/>
                  </a:moveTo>
                  <a:lnTo>
                    <a:pt x="193586" y="10835"/>
                  </a:lnTo>
                  <a:lnTo>
                    <a:pt x="228784" y="10835"/>
                  </a:lnTo>
                  <a:lnTo>
                    <a:pt x="211185" y="0"/>
                  </a:lnTo>
                  <a:close/>
                </a:path>
                <a:path w="281940" h="303530">
                  <a:moveTo>
                    <a:pt x="246382" y="0"/>
                  </a:moveTo>
                  <a:lnTo>
                    <a:pt x="228784" y="10835"/>
                  </a:lnTo>
                  <a:lnTo>
                    <a:pt x="263981" y="10835"/>
                  </a:lnTo>
                  <a:lnTo>
                    <a:pt x="246382" y="0"/>
                  </a:lnTo>
                  <a:close/>
                </a:path>
                <a:path w="281940" h="303530">
                  <a:moveTo>
                    <a:pt x="281580" y="0"/>
                  </a:moveTo>
                  <a:lnTo>
                    <a:pt x="263981" y="10835"/>
                  </a:lnTo>
                  <a:lnTo>
                    <a:pt x="281580" y="10835"/>
                  </a:lnTo>
                  <a:lnTo>
                    <a:pt x="281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0"/>
            <a:ext cx="3096895" cy="6858000"/>
          </a:xfrm>
          <a:custGeom>
            <a:avLst/>
            <a:gdLst/>
            <a:ahLst/>
            <a:cxnLst/>
            <a:rect l="l" t="t" r="r" b="b"/>
            <a:pathLst>
              <a:path w="3096895" h="6858000">
                <a:moveTo>
                  <a:pt x="3096768" y="0"/>
                </a:moveTo>
                <a:lnTo>
                  <a:pt x="0" y="0"/>
                </a:lnTo>
                <a:lnTo>
                  <a:pt x="0" y="6858000"/>
                </a:lnTo>
                <a:lnTo>
                  <a:pt x="3096768" y="6858000"/>
                </a:lnTo>
                <a:lnTo>
                  <a:pt x="3096768" y="0"/>
                </a:lnTo>
                <a:close/>
              </a:path>
            </a:pathLst>
          </a:custGeom>
          <a:solidFill>
            <a:srgbClr val="041F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663" y="2313558"/>
            <a:ext cx="17849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Conscientious</a:t>
            </a:r>
            <a:r>
              <a:rPr dirty="0" sz="1600" spc="-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Youths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3095625" cy="3813810"/>
            <a:chOff x="0" y="0"/>
            <a:chExt cx="3095625" cy="3813810"/>
          </a:xfrm>
        </p:grpSpPr>
        <p:sp>
          <p:nvSpPr>
            <p:cNvPr id="13" name="object 13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704088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704088" y="513588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0" y="513588"/>
                  </a:moveTo>
                  <a:lnTo>
                    <a:pt x="704088" y="513588"/>
                  </a:lnTo>
                  <a:lnTo>
                    <a:pt x="704088" y="0"/>
                  </a:lnTo>
                  <a:lnTo>
                    <a:pt x="0" y="0"/>
                  </a:lnTo>
                  <a:lnTo>
                    <a:pt x="0" y="5135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6614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61416" y="512063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0" y="512063"/>
                  </a:moveTo>
                  <a:lnTo>
                    <a:pt x="661416" y="512063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62099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432815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2815" y="512063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62099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0" y="512063"/>
                  </a:moveTo>
                  <a:lnTo>
                    <a:pt x="432815" y="512063"/>
                  </a:lnTo>
                  <a:lnTo>
                    <a:pt x="432815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77567" y="3296411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827532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827532" y="510539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77567" y="3296411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0" y="510539"/>
                  </a:moveTo>
                  <a:lnTo>
                    <a:pt x="827532" y="510539"/>
                  </a:lnTo>
                  <a:lnTo>
                    <a:pt x="827532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62099" y="3296411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2667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266700" y="51053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62099" y="3296411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0" y="510539"/>
                  </a:moveTo>
                  <a:lnTo>
                    <a:pt x="266700" y="510539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667" y="3296411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458723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458723" y="510539"/>
                  </a:lnTo>
                  <a:lnTo>
                    <a:pt x="458723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1667" y="3296411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0" y="510539"/>
                  </a:moveTo>
                  <a:lnTo>
                    <a:pt x="458723" y="510539"/>
                  </a:lnTo>
                  <a:lnTo>
                    <a:pt x="458723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69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97635" y="3296411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615695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615695" y="510539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7635" y="3296411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0" y="510539"/>
                  </a:moveTo>
                  <a:lnTo>
                    <a:pt x="615695" y="510539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338" y="2932616"/>
              <a:ext cx="172356" cy="173687"/>
            </a:xfrm>
            <a:prstGeom prst="rect">
              <a:avLst/>
            </a:prstGeom>
          </p:spPr>
        </p:pic>
        <p:pic>
          <p:nvPicPr>
            <p:cNvPr id="30" name="object 30" descr="Man sitting on riverbank at night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095243" cy="2197608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3886200" y="1745360"/>
            <a:ext cx="5062855" cy="4209415"/>
            <a:chOff x="3886200" y="1745360"/>
            <a:chExt cx="5062855" cy="4209415"/>
          </a:xfrm>
        </p:grpSpPr>
        <p:sp>
          <p:nvSpPr>
            <p:cNvPr id="32" name="object 32"/>
            <p:cNvSpPr/>
            <p:nvPr/>
          </p:nvSpPr>
          <p:spPr>
            <a:xfrm>
              <a:off x="3886200" y="1746503"/>
              <a:ext cx="5050790" cy="815340"/>
            </a:xfrm>
            <a:custGeom>
              <a:avLst/>
              <a:gdLst/>
              <a:ahLst/>
              <a:cxnLst/>
              <a:rect l="l" t="t" r="r" b="b"/>
              <a:pathLst>
                <a:path w="5050790" h="815339">
                  <a:moveTo>
                    <a:pt x="5050536" y="605028"/>
                  </a:moveTo>
                  <a:lnTo>
                    <a:pt x="0" y="605028"/>
                  </a:lnTo>
                  <a:lnTo>
                    <a:pt x="0" y="815340"/>
                  </a:lnTo>
                  <a:lnTo>
                    <a:pt x="5050536" y="815340"/>
                  </a:lnTo>
                  <a:lnTo>
                    <a:pt x="5050536" y="605028"/>
                  </a:lnTo>
                  <a:close/>
                </a:path>
                <a:path w="5050790" h="815339">
                  <a:moveTo>
                    <a:pt x="5050536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050536" y="210312"/>
                  </a:lnTo>
                  <a:lnTo>
                    <a:pt x="505053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939021" y="1754885"/>
              <a:ext cx="0" cy="807085"/>
            </a:xfrm>
            <a:custGeom>
              <a:avLst/>
              <a:gdLst/>
              <a:ahLst/>
              <a:cxnLst/>
              <a:rect l="l" t="t" r="r" b="b"/>
              <a:pathLst>
                <a:path w="0" h="807085">
                  <a:moveTo>
                    <a:pt x="0" y="0"/>
                  </a:moveTo>
                  <a:lnTo>
                    <a:pt x="0" y="201294"/>
                  </a:lnTo>
                </a:path>
                <a:path w="0" h="807085">
                  <a:moveTo>
                    <a:pt x="0" y="597408"/>
                  </a:moveTo>
                  <a:lnTo>
                    <a:pt x="0" y="806703"/>
                  </a:lnTo>
                </a:path>
              </a:pathLst>
            </a:custGeom>
            <a:ln w="19050">
              <a:solidFill>
                <a:srgbClr val="041F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017764" y="1808987"/>
              <a:ext cx="553720" cy="4097020"/>
            </a:xfrm>
            <a:custGeom>
              <a:avLst/>
              <a:gdLst/>
              <a:ahLst/>
              <a:cxnLst/>
              <a:rect l="l" t="t" r="r" b="b"/>
              <a:pathLst>
                <a:path w="553720" h="4097020">
                  <a:moveTo>
                    <a:pt x="7607" y="1793748"/>
                  </a:moveTo>
                  <a:lnTo>
                    <a:pt x="0" y="1793748"/>
                  </a:lnTo>
                  <a:lnTo>
                    <a:pt x="0" y="1905000"/>
                  </a:lnTo>
                  <a:lnTo>
                    <a:pt x="7607" y="1905000"/>
                  </a:lnTo>
                  <a:lnTo>
                    <a:pt x="7607" y="1793748"/>
                  </a:lnTo>
                  <a:close/>
                </a:path>
                <a:path w="553720" h="4097020">
                  <a:moveTo>
                    <a:pt x="64008" y="2590800"/>
                  </a:moveTo>
                  <a:lnTo>
                    <a:pt x="0" y="2590800"/>
                  </a:lnTo>
                  <a:lnTo>
                    <a:pt x="0" y="2702052"/>
                  </a:lnTo>
                  <a:lnTo>
                    <a:pt x="64008" y="2702052"/>
                  </a:lnTo>
                  <a:lnTo>
                    <a:pt x="64008" y="2590800"/>
                  </a:lnTo>
                  <a:close/>
                </a:path>
                <a:path w="553720" h="4097020">
                  <a:moveTo>
                    <a:pt x="64008" y="2193036"/>
                  </a:moveTo>
                  <a:lnTo>
                    <a:pt x="0" y="2193036"/>
                  </a:lnTo>
                  <a:lnTo>
                    <a:pt x="0" y="2302764"/>
                  </a:lnTo>
                  <a:lnTo>
                    <a:pt x="64008" y="2302764"/>
                  </a:lnTo>
                  <a:lnTo>
                    <a:pt x="64008" y="2193036"/>
                  </a:lnTo>
                  <a:close/>
                </a:path>
                <a:path w="553720" h="4097020">
                  <a:moveTo>
                    <a:pt x="86868" y="199644"/>
                  </a:moveTo>
                  <a:lnTo>
                    <a:pt x="0" y="199644"/>
                  </a:lnTo>
                  <a:lnTo>
                    <a:pt x="0" y="310896"/>
                  </a:lnTo>
                  <a:lnTo>
                    <a:pt x="86868" y="310896"/>
                  </a:lnTo>
                  <a:lnTo>
                    <a:pt x="86868" y="199644"/>
                  </a:lnTo>
                  <a:close/>
                </a:path>
                <a:path w="553720" h="4097020">
                  <a:moveTo>
                    <a:pt x="153924" y="1395984"/>
                  </a:moveTo>
                  <a:lnTo>
                    <a:pt x="0" y="1395984"/>
                  </a:lnTo>
                  <a:lnTo>
                    <a:pt x="0" y="1505712"/>
                  </a:lnTo>
                  <a:lnTo>
                    <a:pt x="153924" y="1505712"/>
                  </a:lnTo>
                  <a:lnTo>
                    <a:pt x="153924" y="1395984"/>
                  </a:lnTo>
                  <a:close/>
                </a:path>
                <a:path w="553720" h="4097020">
                  <a:moveTo>
                    <a:pt x="164592" y="399288"/>
                  </a:moveTo>
                  <a:lnTo>
                    <a:pt x="0" y="399288"/>
                  </a:lnTo>
                  <a:lnTo>
                    <a:pt x="0" y="510540"/>
                  </a:lnTo>
                  <a:lnTo>
                    <a:pt x="164592" y="510540"/>
                  </a:lnTo>
                  <a:lnTo>
                    <a:pt x="164592" y="399288"/>
                  </a:lnTo>
                  <a:close/>
                </a:path>
                <a:path w="553720" h="4097020">
                  <a:moveTo>
                    <a:pt x="185928" y="996696"/>
                  </a:moveTo>
                  <a:lnTo>
                    <a:pt x="0" y="996696"/>
                  </a:lnTo>
                  <a:lnTo>
                    <a:pt x="0" y="1107948"/>
                  </a:lnTo>
                  <a:lnTo>
                    <a:pt x="185928" y="1107948"/>
                  </a:lnTo>
                  <a:lnTo>
                    <a:pt x="185928" y="996696"/>
                  </a:lnTo>
                  <a:close/>
                </a:path>
                <a:path w="553720" h="4097020">
                  <a:moveTo>
                    <a:pt x="423672" y="598932"/>
                  </a:moveTo>
                  <a:lnTo>
                    <a:pt x="0" y="598932"/>
                  </a:lnTo>
                  <a:lnTo>
                    <a:pt x="0" y="708660"/>
                  </a:lnTo>
                  <a:lnTo>
                    <a:pt x="423672" y="708660"/>
                  </a:lnTo>
                  <a:lnTo>
                    <a:pt x="423672" y="598932"/>
                  </a:lnTo>
                  <a:close/>
                </a:path>
                <a:path w="553720" h="4097020">
                  <a:moveTo>
                    <a:pt x="437388" y="3985260"/>
                  </a:moveTo>
                  <a:lnTo>
                    <a:pt x="0" y="3985260"/>
                  </a:lnTo>
                  <a:lnTo>
                    <a:pt x="0" y="4096512"/>
                  </a:lnTo>
                  <a:lnTo>
                    <a:pt x="437388" y="4096512"/>
                  </a:lnTo>
                  <a:lnTo>
                    <a:pt x="437388" y="3985260"/>
                  </a:lnTo>
                  <a:close/>
                </a:path>
                <a:path w="553720" h="4097020">
                  <a:moveTo>
                    <a:pt x="553212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53212" y="111252"/>
                  </a:lnTo>
                  <a:lnTo>
                    <a:pt x="553212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648956" y="2606039"/>
              <a:ext cx="368935" cy="3100070"/>
            </a:xfrm>
            <a:custGeom>
              <a:avLst/>
              <a:gdLst/>
              <a:ahLst/>
              <a:cxnLst/>
              <a:rect l="l" t="t" r="r" b="b"/>
              <a:pathLst>
                <a:path w="368934" h="3100070">
                  <a:moveTo>
                    <a:pt x="368808" y="2990088"/>
                  </a:moveTo>
                  <a:lnTo>
                    <a:pt x="85344" y="2990088"/>
                  </a:lnTo>
                  <a:lnTo>
                    <a:pt x="85344" y="3099816"/>
                  </a:lnTo>
                  <a:lnTo>
                    <a:pt x="368808" y="3099816"/>
                  </a:lnTo>
                  <a:lnTo>
                    <a:pt x="368808" y="2990088"/>
                  </a:lnTo>
                  <a:close/>
                </a:path>
                <a:path w="368934" h="3100070">
                  <a:moveTo>
                    <a:pt x="368808" y="2790444"/>
                  </a:moveTo>
                  <a:lnTo>
                    <a:pt x="288036" y="2790444"/>
                  </a:lnTo>
                  <a:lnTo>
                    <a:pt x="288036" y="2901696"/>
                  </a:lnTo>
                  <a:lnTo>
                    <a:pt x="368808" y="2901696"/>
                  </a:lnTo>
                  <a:lnTo>
                    <a:pt x="368808" y="2790444"/>
                  </a:lnTo>
                  <a:close/>
                </a:path>
                <a:path w="368934" h="3100070">
                  <a:moveTo>
                    <a:pt x="368808" y="2590800"/>
                  </a:moveTo>
                  <a:lnTo>
                    <a:pt x="56388" y="2590800"/>
                  </a:lnTo>
                  <a:lnTo>
                    <a:pt x="56388" y="2702052"/>
                  </a:lnTo>
                  <a:lnTo>
                    <a:pt x="368808" y="2702052"/>
                  </a:lnTo>
                  <a:lnTo>
                    <a:pt x="368808" y="2590800"/>
                  </a:lnTo>
                  <a:close/>
                </a:path>
                <a:path w="368934" h="3100070">
                  <a:moveTo>
                    <a:pt x="368808" y="2391156"/>
                  </a:moveTo>
                  <a:lnTo>
                    <a:pt x="259080" y="2391156"/>
                  </a:lnTo>
                  <a:lnTo>
                    <a:pt x="259080" y="2502408"/>
                  </a:lnTo>
                  <a:lnTo>
                    <a:pt x="368808" y="2502408"/>
                  </a:lnTo>
                  <a:lnTo>
                    <a:pt x="368808" y="2391156"/>
                  </a:lnTo>
                  <a:close/>
                </a:path>
                <a:path w="368934" h="3100070">
                  <a:moveTo>
                    <a:pt x="368808" y="2193036"/>
                  </a:moveTo>
                  <a:lnTo>
                    <a:pt x="230124" y="2193036"/>
                  </a:lnTo>
                  <a:lnTo>
                    <a:pt x="230124" y="2302764"/>
                  </a:lnTo>
                  <a:lnTo>
                    <a:pt x="368808" y="2302764"/>
                  </a:lnTo>
                  <a:lnTo>
                    <a:pt x="368808" y="2193036"/>
                  </a:lnTo>
                  <a:close/>
                </a:path>
                <a:path w="368934" h="3100070">
                  <a:moveTo>
                    <a:pt x="368808" y="1993392"/>
                  </a:moveTo>
                  <a:lnTo>
                    <a:pt x="0" y="1993392"/>
                  </a:lnTo>
                  <a:lnTo>
                    <a:pt x="0" y="2104644"/>
                  </a:lnTo>
                  <a:lnTo>
                    <a:pt x="368808" y="2104644"/>
                  </a:lnTo>
                  <a:lnTo>
                    <a:pt x="368808" y="1993392"/>
                  </a:lnTo>
                  <a:close/>
                </a:path>
                <a:path w="368934" h="3100070">
                  <a:moveTo>
                    <a:pt x="368808" y="1594104"/>
                  </a:moveTo>
                  <a:lnTo>
                    <a:pt x="202692" y="1594104"/>
                  </a:lnTo>
                  <a:lnTo>
                    <a:pt x="202692" y="1705356"/>
                  </a:lnTo>
                  <a:lnTo>
                    <a:pt x="368808" y="1705356"/>
                  </a:lnTo>
                  <a:lnTo>
                    <a:pt x="368808" y="1594104"/>
                  </a:lnTo>
                  <a:close/>
                </a:path>
                <a:path w="368934" h="3100070">
                  <a:moveTo>
                    <a:pt x="368808" y="1196340"/>
                  </a:moveTo>
                  <a:lnTo>
                    <a:pt x="173736" y="1196340"/>
                  </a:lnTo>
                  <a:lnTo>
                    <a:pt x="173736" y="1307592"/>
                  </a:lnTo>
                  <a:lnTo>
                    <a:pt x="368808" y="1307592"/>
                  </a:lnTo>
                  <a:lnTo>
                    <a:pt x="368808" y="1196340"/>
                  </a:lnTo>
                  <a:close/>
                </a:path>
                <a:path w="368934" h="3100070">
                  <a:moveTo>
                    <a:pt x="368808" y="797052"/>
                  </a:moveTo>
                  <a:lnTo>
                    <a:pt x="60960" y="797052"/>
                  </a:lnTo>
                  <a:lnTo>
                    <a:pt x="60960" y="908304"/>
                  </a:lnTo>
                  <a:lnTo>
                    <a:pt x="368808" y="908304"/>
                  </a:lnTo>
                  <a:lnTo>
                    <a:pt x="368808" y="797052"/>
                  </a:lnTo>
                  <a:close/>
                </a:path>
                <a:path w="368934" h="3100070">
                  <a:moveTo>
                    <a:pt x="368808" y="399288"/>
                  </a:moveTo>
                  <a:lnTo>
                    <a:pt x="149352" y="399288"/>
                  </a:lnTo>
                  <a:lnTo>
                    <a:pt x="149352" y="510540"/>
                  </a:lnTo>
                  <a:lnTo>
                    <a:pt x="368808" y="510540"/>
                  </a:lnTo>
                  <a:lnTo>
                    <a:pt x="368808" y="399288"/>
                  </a:lnTo>
                  <a:close/>
                </a:path>
                <a:path w="368934" h="3100070">
                  <a:moveTo>
                    <a:pt x="368808" y="0"/>
                  </a:moveTo>
                  <a:lnTo>
                    <a:pt x="124968" y="0"/>
                  </a:lnTo>
                  <a:lnTo>
                    <a:pt x="124968" y="111252"/>
                  </a:lnTo>
                  <a:lnTo>
                    <a:pt x="368808" y="111252"/>
                  </a:lnTo>
                  <a:lnTo>
                    <a:pt x="368808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017764" y="1764791"/>
              <a:ext cx="0" cy="4185285"/>
            </a:xfrm>
            <a:custGeom>
              <a:avLst/>
              <a:gdLst/>
              <a:ahLst/>
              <a:cxnLst/>
              <a:rect l="l" t="t" r="r" b="b"/>
              <a:pathLst>
                <a:path w="0" h="4185285">
                  <a:moveTo>
                    <a:pt x="0" y="0"/>
                  </a:moveTo>
                  <a:lnTo>
                    <a:pt x="0" y="4184904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Product:</a:t>
            </a:r>
            <a:r>
              <a:rPr dirty="0" spc="-80" b="1">
                <a:latin typeface="Calibri"/>
                <a:cs typeface="Calibri"/>
              </a:rPr>
              <a:t> </a:t>
            </a:r>
            <a:r>
              <a:rPr dirty="0" spc="-10" i="1">
                <a:latin typeface="Calibri"/>
                <a:cs typeface="Calibri"/>
              </a:rPr>
              <a:t>Conscientious</a:t>
            </a:r>
            <a:r>
              <a:rPr dirty="0" spc="-80" i="1">
                <a:latin typeface="Calibri"/>
                <a:cs typeface="Calibri"/>
              </a:rPr>
              <a:t> </a:t>
            </a:r>
            <a:r>
              <a:rPr dirty="0" spc="-25" i="1">
                <a:latin typeface="Calibri"/>
                <a:cs typeface="Calibri"/>
              </a:rPr>
              <a:t>Youths</a:t>
            </a:r>
            <a:r>
              <a:rPr dirty="0" spc="-55" i="1">
                <a:latin typeface="Calibri"/>
                <a:cs typeface="Calibri"/>
              </a:rPr>
              <a:t> </a:t>
            </a:r>
            <a:r>
              <a:rPr dirty="0"/>
              <a:t>more</a:t>
            </a:r>
            <a:r>
              <a:rPr dirty="0" spc="-80"/>
              <a:t> </a:t>
            </a:r>
            <a:r>
              <a:rPr dirty="0"/>
              <a:t>value</a:t>
            </a:r>
            <a:r>
              <a:rPr dirty="0" spc="-60"/>
              <a:t> </a:t>
            </a:r>
            <a:r>
              <a:rPr dirty="0"/>
              <a:t>driven</a:t>
            </a:r>
            <a:r>
              <a:rPr dirty="0" spc="-75"/>
              <a:t> </a:t>
            </a:r>
            <a:r>
              <a:rPr dirty="0" spc="-10"/>
              <a:t>overall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352038" y="6345428"/>
            <a:ext cx="5499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consolidation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barriers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indicated by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respondents</a:t>
            </a:r>
            <a:r>
              <a:rPr dirty="0" sz="900" spc="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where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last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purchase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was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(K01,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K02,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K03)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16442" y="1755775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51241" y="1915566"/>
            <a:ext cx="254000" cy="4254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87791" y="2352802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24242" y="2552522"/>
            <a:ext cx="219075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49666" y="2751582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3%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48118" y="2951479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3%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16518" y="3149853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59091" y="3350133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70215" y="3548633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73391" y="3748532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3%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127492" y="3946905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601966" y="4147184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27492" y="4345685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98766" y="4545583"/>
            <a:ext cx="2190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56043" y="4704613"/>
            <a:ext cx="449580" cy="1023619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41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  <a:p>
            <a:pPr marL="201295">
              <a:lnSpc>
                <a:spcPct val="100000"/>
              </a:lnSpc>
              <a:spcBef>
                <a:spcPts val="31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29870">
              <a:lnSpc>
                <a:spcPct val="100000"/>
              </a:lnSpc>
              <a:spcBef>
                <a:spcPts val="31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10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305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500618" y="5741314"/>
            <a:ext cx="1778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64809" y="148869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874389" y="1746885"/>
            <a:ext cx="3025775" cy="4002404"/>
            <a:chOff x="3874389" y="1746885"/>
            <a:chExt cx="3025775" cy="4002404"/>
          </a:xfrm>
        </p:grpSpPr>
        <p:sp>
          <p:nvSpPr>
            <p:cNvPr id="57" name="object 57"/>
            <p:cNvSpPr/>
            <p:nvPr/>
          </p:nvSpPr>
          <p:spPr>
            <a:xfrm>
              <a:off x="3880104" y="1955292"/>
              <a:ext cx="3006725" cy="3789045"/>
            </a:xfrm>
            <a:custGeom>
              <a:avLst/>
              <a:gdLst/>
              <a:ahLst/>
              <a:cxnLst/>
              <a:rect l="l" t="t" r="r" b="b"/>
              <a:pathLst>
                <a:path w="3006725" h="3789045">
                  <a:moveTo>
                    <a:pt x="0" y="0"/>
                  </a:moveTo>
                  <a:lnTo>
                    <a:pt x="3006725" y="0"/>
                  </a:lnTo>
                </a:path>
                <a:path w="3006725" h="3789045">
                  <a:moveTo>
                    <a:pt x="0" y="199644"/>
                  </a:moveTo>
                  <a:lnTo>
                    <a:pt x="3006725" y="199644"/>
                  </a:lnTo>
                </a:path>
                <a:path w="3006725" h="3789045">
                  <a:moveTo>
                    <a:pt x="0" y="397763"/>
                  </a:moveTo>
                  <a:lnTo>
                    <a:pt x="3006725" y="397763"/>
                  </a:lnTo>
                </a:path>
                <a:path w="3006725" h="3789045">
                  <a:moveTo>
                    <a:pt x="0" y="597408"/>
                  </a:moveTo>
                  <a:lnTo>
                    <a:pt x="3006725" y="597408"/>
                  </a:lnTo>
                </a:path>
                <a:path w="3006725" h="3789045">
                  <a:moveTo>
                    <a:pt x="0" y="798576"/>
                  </a:moveTo>
                  <a:lnTo>
                    <a:pt x="3006725" y="798576"/>
                  </a:lnTo>
                </a:path>
                <a:path w="3006725" h="3789045">
                  <a:moveTo>
                    <a:pt x="0" y="998220"/>
                  </a:moveTo>
                  <a:lnTo>
                    <a:pt x="3006725" y="998220"/>
                  </a:lnTo>
                </a:path>
                <a:path w="3006725" h="3789045">
                  <a:moveTo>
                    <a:pt x="0" y="1196340"/>
                  </a:moveTo>
                  <a:lnTo>
                    <a:pt x="3006725" y="1196340"/>
                  </a:lnTo>
                </a:path>
                <a:path w="3006725" h="3789045">
                  <a:moveTo>
                    <a:pt x="0" y="1395984"/>
                  </a:moveTo>
                  <a:lnTo>
                    <a:pt x="3006725" y="1395984"/>
                  </a:lnTo>
                </a:path>
                <a:path w="3006725" h="3789045">
                  <a:moveTo>
                    <a:pt x="0" y="1595628"/>
                  </a:moveTo>
                  <a:lnTo>
                    <a:pt x="3006725" y="1595628"/>
                  </a:lnTo>
                </a:path>
                <a:path w="3006725" h="3789045">
                  <a:moveTo>
                    <a:pt x="0" y="1795272"/>
                  </a:moveTo>
                  <a:lnTo>
                    <a:pt x="3006725" y="1795272"/>
                  </a:lnTo>
                </a:path>
                <a:path w="3006725" h="3789045">
                  <a:moveTo>
                    <a:pt x="0" y="1993392"/>
                  </a:moveTo>
                  <a:lnTo>
                    <a:pt x="3006725" y="1993392"/>
                  </a:lnTo>
                </a:path>
                <a:path w="3006725" h="3789045">
                  <a:moveTo>
                    <a:pt x="0" y="2193036"/>
                  </a:moveTo>
                  <a:lnTo>
                    <a:pt x="3006725" y="2193036"/>
                  </a:lnTo>
                </a:path>
                <a:path w="3006725" h="3789045">
                  <a:moveTo>
                    <a:pt x="0" y="2392680"/>
                  </a:moveTo>
                  <a:lnTo>
                    <a:pt x="3006725" y="2392680"/>
                  </a:lnTo>
                </a:path>
                <a:path w="3006725" h="3789045">
                  <a:moveTo>
                    <a:pt x="0" y="2592324"/>
                  </a:moveTo>
                  <a:lnTo>
                    <a:pt x="3006725" y="2592324"/>
                  </a:lnTo>
                </a:path>
                <a:path w="3006725" h="3789045">
                  <a:moveTo>
                    <a:pt x="0" y="2790444"/>
                  </a:moveTo>
                  <a:lnTo>
                    <a:pt x="3006725" y="2790444"/>
                  </a:lnTo>
                </a:path>
                <a:path w="3006725" h="3789045">
                  <a:moveTo>
                    <a:pt x="0" y="2990088"/>
                  </a:moveTo>
                  <a:lnTo>
                    <a:pt x="3006725" y="2990088"/>
                  </a:lnTo>
                </a:path>
                <a:path w="3006725" h="3789045">
                  <a:moveTo>
                    <a:pt x="0" y="3191256"/>
                  </a:moveTo>
                  <a:lnTo>
                    <a:pt x="3006725" y="3191256"/>
                  </a:lnTo>
                </a:path>
                <a:path w="3006725" h="3789045">
                  <a:moveTo>
                    <a:pt x="0" y="3390900"/>
                  </a:moveTo>
                  <a:lnTo>
                    <a:pt x="3006725" y="3390900"/>
                  </a:lnTo>
                </a:path>
                <a:path w="3006725" h="3789045">
                  <a:moveTo>
                    <a:pt x="0" y="3589020"/>
                  </a:moveTo>
                  <a:lnTo>
                    <a:pt x="3006725" y="3589020"/>
                  </a:lnTo>
                </a:path>
                <a:path w="3006725" h="3789045">
                  <a:moveTo>
                    <a:pt x="0" y="3788664"/>
                  </a:moveTo>
                  <a:lnTo>
                    <a:pt x="3006725" y="3788664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883914" y="1756410"/>
              <a:ext cx="3006725" cy="0"/>
            </a:xfrm>
            <a:custGeom>
              <a:avLst/>
              <a:gdLst/>
              <a:ahLst/>
              <a:cxnLst/>
              <a:rect l="l" t="t" r="r" b="b"/>
              <a:pathLst>
                <a:path w="3006725" h="0">
                  <a:moveTo>
                    <a:pt x="0" y="0"/>
                  </a:moveTo>
                  <a:lnTo>
                    <a:pt x="3006725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7828788" y="1488694"/>
            <a:ext cx="565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491484" y="1717548"/>
            <a:ext cx="182880" cy="4205605"/>
            <a:chOff x="3491484" y="1717548"/>
            <a:chExt cx="182880" cy="4205605"/>
          </a:xfrm>
        </p:grpSpPr>
        <p:sp>
          <p:nvSpPr>
            <p:cNvPr id="61" name="object 61"/>
            <p:cNvSpPr/>
            <p:nvPr/>
          </p:nvSpPr>
          <p:spPr>
            <a:xfrm>
              <a:off x="3544824" y="1717548"/>
              <a:ext cx="76200" cy="4205605"/>
            </a:xfrm>
            <a:custGeom>
              <a:avLst/>
              <a:gdLst/>
              <a:ahLst/>
              <a:cxnLst/>
              <a:rect l="l" t="t" r="r" b="b"/>
              <a:pathLst>
                <a:path w="76200" h="4205605">
                  <a:moveTo>
                    <a:pt x="30099" y="4129087"/>
                  </a:moveTo>
                  <a:lnTo>
                    <a:pt x="0" y="4129087"/>
                  </a:lnTo>
                  <a:lnTo>
                    <a:pt x="38100" y="4205287"/>
                  </a:lnTo>
                  <a:lnTo>
                    <a:pt x="69850" y="4141787"/>
                  </a:lnTo>
                  <a:lnTo>
                    <a:pt x="30099" y="4141787"/>
                  </a:lnTo>
                  <a:lnTo>
                    <a:pt x="30099" y="4129087"/>
                  </a:lnTo>
                  <a:close/>
                </a:path>
                <a:path w="76200" h="420560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4141787"/>
                  </a:lnTo>
                  <a:lnTo>
                    <a:pt x="45974" y="41417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4205605">
                  <a:moveTo>
                    <a:pt x="76200" y="4129087"/>
                  </a:moveTo>
                  <a:lnTo>
                    <a:pt x="45974" y="4129087"/>
                  </a:lnTo>
                  <a:lnTo>
                    <a:pt x="45974" y="4141787"/>
                  </a:lnTo>
                  <a:lnTo>
                    <a:pt x="69850" y="4141787"/>
                  </a:lnTo>
                  <a:lnTo>
                    <a:pt x="76200" y="4129087"/>
                  </a:lnTo>
                  <a:close/>
                </a:path>
                <a:path w="76200" h="420560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420560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420560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491484" y="2933700"/>
              <a:ext cx="182880" cy="1812289"/>
            </a:xfrm>
            <a:custGeom>
              <a:avLst/>
              <a:gdLst/>
              <a:ahLst/>
              <a:cxnLst/>
              <a:rect l="l" t="t" r="r" b="b"/>
              <a:pathLst>
                <a:path w="182879" h="1812289">
                  <a:moveTo>
                    <a:pt x="182879" y="0"/>
                  </a:moveTo>
                  <a:lnTo>
                    <a:pt x="0" y="0"/>
                  </a:lnTo>
                  <a:lnTo>
                    <a:pt x="0" y="1812036"/>
                  </a:lnTo>
                  <a:lnTo>
                    <a:pt x="182879" y="181203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3508375" y="3006800"/>
            <a:ext cx="177800" cy="16675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1200" spc="-3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r>
              <a:rPr dirty="0" sz="1200" spc="-5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481637" y="1746885"/>
            <a:ext cx="3468370" cy="4208145"/>
            <a:chOff x="5481637" y="1746885"/>
            <a:chExt cx="3468370" cy="4208145"/>
          </a:xfrm>
        </p:grpSpPr>
        <p:sp>
          <p:nvSpPr>
            <p:cNvPr id="65" name="object 65"/>
            <p:cNvSpPr/>
            <p:nvPr/>
          </p:nvSpPr>
          <p:spPr>
            <a:xfrm>
              <a:off x="7271004" y="1955292"/>
              <a:ext cx="1666875" cy="3789045"/>
            </a:xfrm>
            <a:custGeom>
              <a:avLst/>
              <a:gdLst/>
              <a:ahLst/>
              <a:cxnLst/>
              <a:rect l="l" t="t" r="r" b="b"/>
              <a:pathLst>
                <a:path w="1666875" h="3789045">
                  <a:moveTo>
                    <a:pt x="0" y="0"/>
                  </a:moveTo>
                  <a:lnTo>
                    <a:pt x="1666875" y="0"/>
                  </a:lnTo>
                </a:path>
                <a:path w="1666875" h="3789045">
                  <a:moveTo>
                    <a:pt x="0" y="199644"/>
                  </a:moveTo>
                  <a:lnTo>
                    <a:pt x="1666875" y="199644"/>
                  </a:lnTo>
                </a:path>
                <a:path w="1666875" h="3789045">
                  <a:moveTo>
                    <a:pt x="0" y="397763"/>
                  </a:moveTo>
                  <a:lnTo>
                    <a:pt x="1666875" y="397763"/>
                  </a:lnTo>
                </a:path>
                <a:path w="1666875" h="3789045">
                  <a:moveTo>
                    <a:pt x="0" y="597408"/>
                  </a:moveTo>
                  <a:lnTo>
                    <a:pt x="1666875" y="597408"/>
                  </a:lnTo>
                </a:path>
                <a:path w="1666875" h="3789045">
                  <a:moveTo>
                    <a:pt x="0" y="798576"/>
                  </a:moveTo>
                  <a:lnTo>
                    <a:pt x="1666875" y="798576"/>
                  </a:lnTo>
                </a:path>
                <a:path w="1666875" h="3789045">
                  <a:moveTo>
                    <a:pt x="0" y="998220"/>
                  </a:moveTo>
                  <a:lnTo>
                    <a:pt x="1666875" y="998220"/>
                  </a:lnTo>
                </a:path>
                <a:path w="1666875" h="3789045">
                  <a:moveTo>
                    <a:pt x="0" y="1196340"/>
                  </a:moveTo>
                  <a:lnTo>
                    <a:pt x="1666875" y="1196340"/>
                  </a:lnTo>
                </a:path>
                <a:path w="1666875" h="3789045">
                  <a:moveTo>
                    <a:pt x="0" y="1395984"/>
                  </a:moveTo>
                  <a:lnTo>
                    <a:pt x="1666875" y="1395984"/>
                  </a:lnTo>
                </a:path>
                <a:path w="1666875" h="3789045">
                  <a:moveTo>
                    <a:pt x="0" y="1595628"/>
                  </a:moveTo>
                  <a:lnTo>
                    <a:pt x="1666875" y="1595628"/>
                  </a:lnTo>
                </a:path>
                <a:path w="1666875" h="3789045">
                  <a:moveTo>
                    <a:pt x="0" y="1795272"/>
                  </a:moveTo>
                  <a:lnTo>
                    <a:pt x="1666875" y="1795272"/>
                  </a:lnTo>
                </a:path>
                <a:path w="1666875" h="3789045">
                  <a:moveTo>
                    <a:pt x="0" y="1993392"/>
                  </a:moveTo>
                  <a:lnTo>
                    <a:pt x="1666875" y="1993392"/>
                  </a:lnTo>
                </a:path>
                <a:path w="1666875" h="3789045">
                  <a:moveTo>
                    <a:pt x="0" y="2193036"/>
                  </a:moveTo>
                  <a:lnTo>
                    <a:pt x="1666875" y="2193036"/>
                  </a:lnTo>
                </a:path>
                <a:path w="1666875" h="3789045">
                  <a:moveTo>
                    <a:pt x="0" y="2392680"/>
                  </a:moveTo>
                  <a:lnTo>
                    <a:pt x="1666875" y="2392680"/>
                  </a:lnTo>
                </a:path>
                <a:path w="1666875" h="3789045">
                  <a:moveTo>
                    <a:pt x="0" y="2592324"/>
                  </a:moveTo>
                  <a:lnTo>
                    <a:pt x="1666875" y="2592324"/>
                  </a:lnTo>
                </a:path>
                <a:path w="1666875" h="3789045">
                  <a:moveTo>
                    <a:pt x="0" y="2790444"/>
                  </a:moveTo>
                  <a:lnTo>
                    <a:pt x="1666875" y="2790444"/>
                  </a:lnTo>
                </a:path>
                <a:path w="1666875" h="3789045">
                  <a:moveTo>
                    <a:pt x="0" y="2990088"/>
                  </a:moveTo>
                  <a:lnTo>
                    <a:pt x="1666875" y="2990088"/>
                  </a:lnTo>
                </a:path>
                <a:path w="1666875" h="3789045">
                  <a:moveTo>
                    <a:pt x="0" y="3191256"/>
                  </a:moveTo>
                  <a:lnTo>
                    <a:pt x="1666875" y="3191256"/>
                  </a:lnTo>
                </a:path>
                <a:path w="1666875" h="3789045">
                  <a:moveTo>
                    <a:pt x="0" y="3390900"/>
                  </a:moveTo>
                  <a:lnTo>
                    <a:pt x="1666875" y="3390900"/>
                  </a:lnTo>
                </a:path>
                <a:path w="1666875" h="3789045">
                  <a:moveTo>
                    <a:pt x="0" y="3589020"/>
                  </a:moveTo>
                  <a:lnTo>
                    <a:pt x="1666875" y="3589020"/>
                  </a:lnTo>
                </a:path>
                <a:path w="1666875" h="3789045">
                  <a:moveTo>
                    <a:pt x="0" y="3788664"/>
                  </a:moveTo>
                  <a:lnTo>
                    <a:pt x="1666875" y="3788664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273289" y="1756410"/>
              <a:ext cx="1666875" cy="0"/>
            </a:xfrm>
            <a:custGeom>
              <a:avLst/>
              <a:gdLst/>
              <a:ahLst/>
              <a:cxnLst/>
              <a:rect l="l" t="t" r="r" b="b"/>
              <a:pathLst>
                <a:path w="1666875" h="0">
                  <a:moveTo>
                    <a:pt x="0" y="0"/>
                  </a:moveTo>
                  <a:lnTo>
                    <a:pt x="1666875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486400" y="1808987"/>
              <a:ext cx="1030605" cy="4097020"/>
            </a:xfrm>
            <a:custGeom>
              <a:avLst/>
              <a:gdLst/>
              <a:ahLst/>
              <a:cxnLst/>
              <a:rect l="l" t="t" r="r" b="b"/>
              <a:pathLst>
                <a:path w="1030604" h="4097020">
                  <a:moveTo>
                    <a:pt x="132588" y="3985260"/>
                  </a:moveTo>
                  <a:lnTo>
                    <a:pt x="0" y="3985260"/>
                  </a:lnTo>
                  <a:lnTo>
                    <a:pt x="0" y="4096512"/>
                  </a:lnTo>
                  <a:lnTo>
                    <a:pt x="132588" y="4096512"/>
                  </a:lnTo>
                  <a:lnTo>
                    <a:pt x="132588" y="3985260"/>
                  </a:lnTo>
                  <a:close/>
                </a:path>
                <a:path w="1030604" h="4097020">
                  <a:moveTo>
                    <a:pt x="147828" y="3787140"/>
                  </a:moveTo>
                  <a:lnTo>
                    <a:pt x="0" y="3787140"/>
                  </a:lnTo>
                  <a:lnTo>
                    <a:pt x="0" y="3896868"/>
                  </a:lnTo>
                  <a:lnTo>
                    <a:pt x="147828" y="3896868"/>
                  </a:lnTo>
                  <a:lnTo>
                    <a:pt x="147828" y="3787140"/>
                  </a:lnTo>
                  <a:close/>
                </a:path>
                <a:path w="1030604" h="4097020">
                  <a:moveTo>
                    <a:pt x="161544" y="3587496"/>
                  </a:moveTo>
                  <a:lnTo>
                    <a:pt x="0" y="3587496"/>
                  </a:lnTo>
                  <a:lnTo>
                    <a:pt x="0" y="3698748"/>
                  </a:lnTo>
                  <a:lnTo>
                    <a:pt x="161544" y="3698748"/>
                  </a:lnTo>
                  <a:lnTo>
                    <a:pt x="161544" y="3587496"/>
                  </a:lnTo>
                  <a:close/>
                </a:path>
                <a:path w="1030604" h="4097020">
                  <a:moveTo>
                    <a:pt x="161544" y="3387852"/>
                  </a:moveTo>
                  <a:lnTo>
                    <a:pt x="0" y="3387852"/>
                  </a:lnTo>
                  <a:lnTo>
                    <a:pt x="0" y="3499104"/>
                  </a:lnTo>
                  <a:lnTo>
                    <a:pt x="161544" y="3499104"/>
                  </a:lnTo>
                  <a:lnTo>
                    <a:pt x="161544" y="3387852"/>
                  </a:lnTo>
                  <a:close/>
                </a:path>
                <a:path w="1030604" h="4097020">
                  <a:moveTo>
                    <a:pt x="176784" y="3188208"/>
                  </a:moveTo>
                  <a:lnTo>
                    <a:pt x="0" y="3188208"/>
                  </a:lnTo>
                  <a:lnTo>
                    <a:pt x="0" y="3299460"/>
                  </a:lnTo>
                  <a:lnTo>
                    <a:pt x="176784" y="3299460"/>
                  </a:lnTo>
                  <a:lnTo>
                    <a:pt x="176784" y="3188208"/>
                  </a:lnTo>
                  <a:close/>
                </a:path>
                <a:path w="1030604" h="4097020">
                  <a:moveTo>
                    <a:pt x="192024" y="2990088"/>
                  </a:moveTo>
                  <a:lnTo>
                    <a:pt x="0" y="2990088"/>
                  </a:lnTo>
                  <a:lnTo>
                    <a:pt x="0" y="3099816"/>
                  </a:lnTo>
                  <a:lnTo>
                    <a:pt x="192024" y="3099816"/>
                  </a:lnTo>
                  <a:lnTo>
                    <a:pt x="192024" y="2990088"/>
                  </a:lnTo>
                  <a:close/>
                </a:path>
                <a:path w="1030604" h="4097020">
                  <a:moveTo>
                    <a:pt x="192024" y="2790444"/>
                  </a:moveTo>
                  <a:lnTo>
                    <a:pt x="0" y="2790444"/>
                  </a:lnTo>
                  <a:lnTo>
                    <a:pt x="0" y="2901696"/>
                  </a:lnTo>
                  <a:lnTo>
                    <a:pt x="192024" y="2901696"/>
                  </a:lnTo>
                  <a:lnTo>
                    <a:pt x="192024" y="2790444"/>
                  </a:lnTo>
                  <a:close/>
                </a:path>
                <a:path w="1030604" h="4097020">
                  <a:moveTo>
                    <a:pt x="205740" y="2590800"/>
                  </a:moveTo>
                  <a:lnTo>
                    <a:pt x="0" y="2590800"/>
                  </a:lnTo>
                  <a:lnTo>
                    <a:pt x="0" y="2702052"/>
                  </a:lnTo>
                  <a:lnTo>
                    <a:pt x="205740" y="2702052"/>
                  </a:lnTo>
                  <a:lnTo>
                    <a:pt x="205740" y="2590800"/>
                  </a:lnTo>
                  <a:close/>
                </a:path>
                <a:path w="1030604" h="4097020">
                  <a:moveTo>
                    <a:pt x="205740" y="2391156"/>
                  </a:moveTo>
                  <a:lnTo>
                    <a:pt x="0" y="2391156"/>
                  </a:lnTo>
                  <a:lnTo>
                    <a:pt x="0" y="2502408"/>
                  </a:lnTo>
                  <a:lnTo>
                    <a:pt x="205740" y="2502408"/>
                  </a:lnTo>
                  <a:lnTo>
                    <a:pt x="205740" y="2391156"/>
                  </a:lnTo>
                  <a:close/>
                </a:path>
                <a:path w="1030604" h="4097020">
                  <a:moveTo>
                    <a:pt x="205740" y="2193036"/>
                  </a:moveTo>
                  <a:lnTo>
                    <a:pt x="0" y="2193036"/>
                  </a:lnTo>
                  <a:lnTo>
                    <a:pt x="0" y="2302764"/>
                  </a:lnTo>
                  <a:lnTo>
                    <a:pt x="205740" y="2302764"/>
                  </a:lnTo>
                  <a:lnTo>
                    <a:pt x="205740" y="2193036"/>
                  </a:lnTo>
                  <a:close/>
                </a:path>
                <a:path w="1030604" h="4097020">
                  <a:moveTo>
                    <a:pt x="220980" y="1993392"/>
                  </a:moveTo>
                  <a:lnTo>
                    <a:pt x="0" y="1993392"/>
                  </a:lnTo>
                  <a:lnTo>
                    <a:pt x="0" y="2104644"/>
                  </a:lnTo>
                  <a:lnTo>
                    <a:pt x="220980" y="2104644"/>
                  </a:lnTo>
                  <a:lnTo>
                    <a:pt x="220980" y="1993392"/>
                  </a:lnTo>
                  <a:close/>
                </a:path>
                <a:path w="1030604" h="4097020">
                  <a:moveTo>
                    <a:pt x="236220" y="1793748"/>
                  </a:moveTo>
                  <a:lnTo>
                    <a:pt x="0" y="1793748"/>
                  </a:lnTo>
                  <a:lnTo>
                    <a:pt x="0" y="1905000"/>
                  </a:lnTo>
                  <a:lnTo>
                    <a:pt x="236220" y="1905000"/>
                  </a:lnTo>
                  <a:lnTo>
                    <a:pt x="236220" y="1793748"/>
                  </a:lnTo>
                  <a:close/>
                </a:path>
                <a:path w="1030604" h="4097020">
                  <a:moveTo>
                    <a:pt x="278892" y="1594104"/>
                  </a:moveTo>
                  <a:lnTo>
                    <a:pt x="0" y="1594104"/>
                  </a:lnTo>
                  <a:lnTo>
                    <a:pt x="0" y="1705356"/>
                  </a:lnTo>
                  <a:lnTo>
                    <a:pt x="278892" y="1705356"/>
                  </a:lnTo>
                  <a:lnTo>
                    <a:pt x="278892" y="1594104"/>
                  </a:lnTo>
                  <a:close/>
                </a:path>
                <a:path w="1030604" h="4097020">
                  <a:moveTo>
                    <a:pt x="278892" y="1395984"/>
                  </a:moveTo>
                  <a:lnTo>
                    <a:pt x="0" y="1395984"/>
                  </a:lnTo>
                  <a:lnTo>
                    <a:pt x="0" y="1505712"/>
                  </a:lnTo>
                  <a:lnTo>
                    <a:pt x="278892" y="1505712"/>
                  </a:lnTo>
                  <a:lnTo>
                    <a:pt x="278892" y="1395984"/>
                  </a:lnTo>
                  <a:close/>
                </a:path>
                <a:path w="1030604" h="4097020">
                  <a:moveTo>
                    <a:pt x="353568" y="1196340"/>
                  </a:moveTo>
                  <a:lnTo>
                    <a:pt x="0" y="1196340"/>
                  </a:lnTo>
                  <a:lnTo>
                    <a:pt x="0" y="1307592"/>
                  </a:lnTo>
                  <a:lnTo>
                    <a:pt x="353568" y="1307592"/>
                  </a:lnTo>
                  <a:lnTo>
                    <a:pt x="353568" y="1196340"/>
                  </a:lnTo>
                  <a:close/>
                </a:path>
                <a:path w="1030604" h="4097020">
                  <a:moveTo>
                    <a:pt x="382524" y="996696"/>
                  </a:moveTo>
                  <a:lnTo>
                    <a:pt x="0" y="996696"/>
                  </a:lnTo>
                  <a:lnTo>
                    <a:pt x="0" y="1107948"/>
                  </a:lnTo>
                  <a:lnTo>
                    <a:pt x="382524" y="1107948"/>
                  </a:lnTo>
                  <a:lnTo>
                    <a:pt x="382524" y="996696"/>
                  </a:lnTo>
                  <a:close/>
                </a:path>
                <a:path w="1030604" h="4097020">
                  <a:moveTo>
                    <a:pt x="486156" y="797052"/>
                  </a:moveTo>
                  <a:lnTo>
                    <a:pt x="0" y="797052"/>
                  </a:lnTo>
                  <a:lnTo>
                    <a:pt x="0" y="908304"/>
                  </a:lnTo>
                  <a:lnTo>
                    <a:pt x="486156" y="908304"/>
                  </a:lnTo>
                  <a:lnTo>
                    <a:pt x="486156" y="797052"/>
                  </a:lnTo>
                  <a:close/>
                </a:path>
                <a:path w="1030604" h="4097020">
                  <a:moveTo>
                    <a:pt x="618744" y="598932"/>
                  </a:moveTo>
                  <a:lnTo>
                    <a:pt x="0" y="598932"/>
                  </a:lnTo>
                  <a:lnTo>
                    <a:pt x="0" y="708660"/>
                  </a:lnTo>
                  <a:lnTo>
                    <a:pt x="618744" y="708660"/>
                  </a:lnTo>
                  <a:lnTo>
                    <a:pt x="618744" y="598932"/>
                  </a:lnTo>
                  <a:close/>
                </a:path>
                <a:path w="1030604" h="4097020">
                  <a:moveTo>
                    <a:pt x="632460" y="399288"/>
                  </a:moveTo>
                  <a:lnTo>
                    <a:pt x="0" y="399288"/>
                  </a:lnTo>
                  <a:lnTo>
                    <a:pt x="0" y="510540"/>
                  </a:lnTo>
                  <a:lnTo>
                    <a:pt x="632460" y="510540"/>
                  </a:lnTo>
                  <a:lnTo>
                    <a:pt x="632460" y="399288"/>
                  </a:lnTo>
                  <a:close/>
                </a:path>
                <a:path w="1030604" h="4097020">
                  <a:moveTo>
                    <a:pt x="912876" y="199644"/>
                  </a:moveTo>
                  <a:lnTo>
                    <a:pt x="0" y="199644"/>
                  </a:lnTo>
                  <a:lnTo>
                    <a:pt x="0" y="310896"/>
                  </a:lnTo>
                  <a:lnTo>
                    <a:pt x="912876" y="310896"/>
                  </a:lnTo>
                  <a:lnTo>
                    <a:pt x="912876" y="199644"/>
                  </a:lnTo>
                  <a:close/>
                </a:path>
                <a:path w="1030604" h="4097020">
                  <a:moveTo>
                    <a:pt x="1030224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1030224" y="111252"/>
                  </a:lnTo>
                  <a:lnTo>
                    <a:pt x="1030224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486400" y="1764792"/>
              <a:ext cx="0" cy="4185285"/>
            </a:xfrm>
            <a:custGeom>
              <a:avLst/>
              <a:gdLst/>
              <a:ahLst/>
              <a:cxnLst/>
              <a:rect l="l" t="t" r="r" b="b"/>
              <a:pathLst>
                <a:path w="0" h="4185285">
                  <a:moveTo>
                    <a:pt x="0" y="0"/>
                  </a:moveTo>
                  <a:lnTo>
                    <a:pt x="0" y="4184904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6444360" y="1717954"/>
            <a:ext cx="364490" cy="42290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29%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25%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56558" y="1485976"/>
            <a:ext cx="1456690" cy="4450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endParaRPr sz="1200">
              <a:latin typeface="Calibri"/>
              <a:cs typeface="Calibri"/>
            </a:endParaRPr>
          </a:p>
          <a:p>
            <a:pPr marR="214629">
              <a:lnSpc>
                <a:spcPct val="124500"/>
              </a:lnSpc>
              <a:spcBef>
                <a:spcPts val="450"/>
              </a:spcBef>
            </a:pP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1050" spc="-1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value</a:t>
            </a:r>
            <a:r>
              <a:rPr dirty="0" sz="1050" spc="-4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for</a:t>
            </a:r>
            <a:r>
              <a:rPr dirty="0" sz="1050" spc="-15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1B1C1B"/>
                </a:solidFill>
                <a:latin typeface="Calibri"/>
                <a:cs typeface="Calibri"/>
              </a:rPr>
              <a:t>money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Better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suited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choices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Not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on</a:t>
            </a:r>
            <a:r>
              <a:rPr dirty="0" sz="1050" spc="-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discount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1050" spc="-4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1050" spc="-30" b="1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1B1C1B"/>
                </a:solidFill>
                <a:latin typeface="Calibri"/>
                <a:cs typeface="Calibri"/>
              </a:rPr>
              <a:t>access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find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Unaware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product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Lack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specific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benefit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Tried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and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portion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size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quality</a:t>
            </a:r>
            <a:endParaRPr sz="1050">
              <a:latin typeface="Calibri"/>
              <a:cs typeface="Calibri"/>
            </a:endParaRPr>
          </a:p>
          <a:p>
            <a:pPr marR="103505">
              <a:lnSpc>
                <a:spcPct val="124000"/>
              </a:lnSpc>
              <a:spcBef>
                <a:spcPts val="10"/>
              </a:spcBef>
            </a:pP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Recommended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against</a:t>
            </a:r>
            <a:r>
              <a:rPr dirty="0" sz="1050" spc="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it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packaging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trust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brand</a:t>
            </a:r>
            <a:endParaRPr sz="1050">
              <a:latin typeface="Calibri"/>
              <a:cs typeface="Calibri"/>
            </a:endParaRPr>
          </a:p>
          <a:p>
            <a:pPr marR="86360">
              <a:lnSpc>
                <a:spcPts val="1580"/>
              </a:lnSpc>
              <a:spcBef>
                <a:spcPts val="9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product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unique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come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with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extras</a:t>
            </a:r>
            <a:endParaRPr sz="1050">
              <a:latin typeface="Calibri"/>
              <a:cs typeface="Calibri"/>
            </a:endParaRPr>
          </a:p>
          <a:p>
            <a:pPr marR="287020">
              <a:lnSpc>
                <a:spcPct val="124500"/>
              </a:lnSpc>
              <a:spcBef>
                <a:spcPts val="5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include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a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gift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reviews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customizable</a:t>
            </a:r>
            <a:endParaRPr sz="1050">
              <a:latin typeface="Calibri"/>
              <a:cs typeface="Calibri"/>
            </a:endParaRPr>
          </a:p>
          <a:p>
            <a:pPr marR="5080">
              <a:lnSpc>
                <a:spcPts val="1580"/>
              </a:lnSpc>
              <a:spcBef>
                <a:spcPts val="80"/>
              </a:spcBef>
            </a:pP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B1C1B"/>
                </a:solidFill>
                <a:latin typeface="Calibri"/>
                <a:cs typeface="Calibri"/>
              </a:rPr>
              <a:t>brand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part</a:t>
            </a:r>
            <a:r>
              <a:rPr dirty="0" sz="105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1050" spc="-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B1C1B"/>
                </a:solidFill>
                <a:latin typeface="Calibri"/>
                <a:cs typeface="Calibri"/>
              </a:rPr>
              <a:t>combo</a:t>
            </a:r>
            <a:r>
              <a:rPr dirty="0" sz="105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B1C1B"/>
                </a:solidFill>
                <a:latin typeface="Calibri"/>
                <a:cs typeface="Calibri"/>
              </a:rPr>
              <a:t>deal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663438" y="2116988"/>
            <a:ext cx="748665" cy="381127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501650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18%</a:t>
            </a:r>
            <a:endParaRPr sz="105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105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1050">
              <a:latin typeface="Calibri"/>
              <a:cs typeface="Calibri"/>
            </a:endParaRPr>
          </a:p>
          <a:p>
            <a:pPr marL="25082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1050">
              <a:latin typeface="Calibri"/>
              <a:cs typeface="Calibri"/>
            </a:endParaRPr>
          </a:p>
          <a:p>
            <a:pPr marL="222250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10%</a:t>
            </a:r>
            <a:endParaRPr sz="1050">
              <a:latin typeface="Calibri"/>
              <a:cs typeface="Calibri"/>
            </a:endParaRPr>
          </a:p>
          <a:p>
            <a:pPr marL="14732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  <a:p>
            <a:pPr marL="147320">
              <a:lnSpc>
                <a:spcPct val="100000"/>
              </a:lnSpc>
              <a:spcBef>
                <a:spcPts val="32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1050">
              <a:latin typeface="Calibri"/>
              <a:cs typeface="Calibri"/>
            </a:endParaRPr>
          </a:p>
          <a:p>
            <a:pPr marL="102870">
              <a:lnSpc>
                <a:spcPct val="100000"/>
              </a:lnSpc>
              <a:spcBef>
                <a:spcPts val="30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105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105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59690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31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305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r>
              <a:rPr dirty="0" sz="105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9575672" y="1856613"/>
            <a:ext cx="2044700" cy="1855470"/>
            <a:chOff x="9575672" y="1856613"/>
            <a:chExt cx="2044700" cy="1855470"/>
          </a:xfrm>
        </p:grpSpPr>
        <p:sp>
          <p:nvSpPr>
            <p:cNvPr id="73" name="object 73"/>
            <p:cNvSpPr/>
            <p:nvPr/>
          </p:nvSpPr>
          <p:spPr>
            <a:xfrm>
              <a:off x="9585197" y="1866138"/>
              <a:ext cx="2025650" cy="1836420"/>
            </a:xfrm>
            <a:custGeom>
              <a:avLst/>
              <a:gdLst/>
              <a:ahLst/>
              <a:cxnLst/>
              <a:rect l="l" t="t" r="r" b="b"/>
              <a:pathLst>
                <a:path w="2025650" h="1836420">
                  <a:moveTo>
                    <a:pt x="2025396" y="0"/>
                  </a:moveTo>
                  <a:lnTo>
                    <a:pt x="0" y="0"/>
                  </a:lnTo>
                  <a:lnTo>
                    <a:pt x="0" y="1836420"/>
                  </a:lnTo>
                  <a:lnTo>
                    <a:pt x="2025396" y="1836420"/>
                  </a:lnTo>
                  <a:lnTo>
                    <a:pt x="202539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585197" y="1866138"/>
              <a:ext cx="2025650" cy="1836420"/>
            </a:xfrm>
            <a:custGeom>
              <a:avLst/>
              <a:gdLst/>
              <a:ahLst/>
              <a:cxnLst/>
              <a:rect l="l" t="t" r="r" b="b"/>
              <a:pathLst>
                <a:path w="2025650" h="1836420">
                  <a:moveTo>
                    <a:pt x="0" y="1836420"/>
                  </a:moveTo>
                  <a:lnTo>
                    <a:pt x="2025396" y="1836420"/>
                  </a:lnTo>
                  <a:lnTo>
                    <a:pt x="2025396" y="0"/>
                  </a:lnTo>
                  <a:lnTo>
                    <a:pt x="0" y="0"/>
                  </a:lnTo>
                  <a:lnTo>
                    <a:pt x="0" y="1836420"/>
                  </a:lnTo>
                  <a:close/>
                </a:path>
              </a:pathLst>
            </a:custGeom>
            <a:ln w="19050">
              <a:solidFill>
                <a:srgbClr val="1B1C1B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9758426" y="2282697"/>
            <a:ext cx="1691639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Value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price-driven barriers </a:t>
            </a:r>
            <a:r>
              <a:rPr dirty="0" sz="1050">
                <a:latin typeface="Calibri"/>
                <a:cs typeface="Calibri"/>
              </a:rPr>
              <a:t>hold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significant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importance </a:t>
            </a:r>
            <a:r>
              <a:rPr dirty="0" sz="1050">
                <a:latin typeface="Calibri"/>
                <a:cs typeface="Calibri"/>
              </a:rPr>
              <a:t>across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broader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sample; </a:t>
            </a:r>
            <a:r>
              <a:rPr dirty="0" sz="1050">
                <a:latin typeface="Calibri"/>
                <a:cs typeface="Calibri"/>
              </a:rPr>
              <a:t>with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Conscientious</a:t>
            </a:r>
            <a:r>
              <a:rPr dirty="0" sz="1050" spc="5" i="1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Youths</a:t>
            </a:r>
            <a:r>
              <a:rPr dirty="0" sz="1050" spc="-10" i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amongst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top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segments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to </a:t>
            </a:r>
            <a:r>
              <a:rPr dirty="0" sz="1050">
                <a:latin typeface="Calibri"/>
                <a:cs typeface="Calibri"/>
              </a:rPr>
              <a:t>see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this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as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 </a:t>
            </a:r>
            <a:r>
              <a:rPr dirty="0" sz="1050" spc="-10">
                <a:latin typeface="Calibri"/>
                <a:cs typeface="Calibri"/>
              </a:rPr>
              <a:t>barrier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9575672" y="4078604"/>
            <a:ext cx="2044700" cy="1854200"/>
            <a:chOff x="9575672" y="4078604"/>
            <a:chExt cx="2044700" cy="1854200"/>
          </a:xfrm>
        </p:grpSpPr>
        <p:sp>
          <p:nvSpPr>
            <p:cNvPr id="77" name="object 77"/>
            <p:cNvSpPr/>
            <p:nvPr/>
          </p:nvSpPr>
          <p:spPr>
            <a:xfrm>
              <a:off x="9585197" y="4088129"/>
              <a:ext cx="2025650" cy="1835150"/>
            </a:xfrm>
            <a:custGeom>
              <a:avLst/>
              <a:gdLst/>
              <a:ahLst/>
              <a:cxnLst/>
              <a:rect l="l" t="t" r="r" b="b"/>
              <a:pathLst>
                <a:path w="2025650" h="1835150">
                  <a:moveTo>
                    <a:pt x="2025396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025396" y="1834896"/>
                  </a:lnTo>
                  <a:lnTo>
                    <a:pt x="2025396" y="0"/>
                  </a:lnTo>
                  <a:close/>
                </a:path>
              </a:pathLst>
            </a:custGeom>
            <a:solidFill>
              <a:srgbClr val="FFF9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585197" y="4088129"/>
              <a:ext cx="2025650" cy="1835150"/>
            </a:xfrm>
            <a:custGeom>
              <a:avLst/>
              <a:gdLst/>
              <a:ahLst/>
              <a:cxnLst/>
              <a:rect l="l" t="t" r="r" b="b"/>
              <a:pathLst>
                <a:path w="2025650" h="1835150">
                  <a:moveTo>
                    <a:pt x="0" y="1834896"/>
                  </a:moveTo>
                  <a:lnTo>
                    <a:pt x="2025396" y="1834896"/>
                  </a:lnTo>
                  <a:lnTo>
                    <a:pt x="2025396" y="0"/>
                  </a:lnTo>
                  <a:lnTo>
                    <a:pt x="0" y="0"/>
                  </a:lnTo>
                  <a:lnTo>
                    <a:pt x="0" y="1834896"/>
                  </a:lnTo>
                  <a:close/>
                </a:path>
              </a:pathLst>
            </a:custGeom>
            <a:ln w="19050">
              <a:solidFill>
                <a:srgbClr val="1B1C1B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9741661" y="4663820"/>
            <a:ext cx="1725295" cy="667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Another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key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barrier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of </a:t>
            </a:r>
            <a:r>
              <a:rPr dirty="0" sz="1050">
                <a:latin typeface="Calibri"/>
                <a:cs typeface="Calibri"/>
              </a:rPr>
              <a:t>importance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stems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from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difficult</a:t>
            </a:r>
            <a:r>
              <a:rPr dirty="0" sz="1050" spc="-1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to</a:t>
            </a:r>
            <a:r>
              <a:rPr dirty="0" sz="1050" spc="-1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access,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which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too,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top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50">
                <a:latin typeface="Calibri"/>
                <a:cs typeface="Calibri"/>
              </a:rPr>
              <a:t>3</a:t>
            </a:r>
            <a:r>
              <a:rPr dirty="0" sz="1050">
                <a:latin typeface="Calibri"/>
                <a:cs typeface="Calibri"/>
              </a:rPr>
              <a:t> barrier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within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segment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927972" y="1745360"/>
            <a:ext cx="2778760" cy="3270885"/>
            <a:chOff x="8927972" y="1745360"/>
            <a:chExt cx="2778760" cy="3270885"/>
          </a:xfrm>
        </p:grpSpPr>
        <p:sp>
          <p:nvSpPr>
            <p:cNvPr id="81" name="object 81"/>
            <p:cNvSpPr/>
            <p:nvPr/>
          </p:nvSpPr>
          <p:spPr>
            <a:xfrm>
              <a:off x="9495281" y="1754885"/>
              <a:ext cx="2202180" cy="0"/>
            </a:xfrm>
            <a:custGeom>
              <a:avLst/>
              <a:gdLst/>
              <a:ahLst/>
              <a:cxnLst/>
              <a:rect l="l" t="t" r="r" b="b"/>
              <a:pathLst>
                <a:path w="2202179" h="0">
                  <a:moveTo>
                    <a:pt x="0" y="0"/>
                  </a:moveTo>
                  <a:lnTo>
                    <a:pt x="2201926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937497" y="1852421"/>
              <a:ext cx="647700" cy="3154045"/>
            </a:xfrm>
            <a:custGeom>
              <a:avLst/>
              <a:gdLst/>
              <a:ahLst/>
              <a:cxnLst/>
              <a:rect l="l" t="t" r="r" b="b"/>
              <a:pathLst>
                <a:path w="647700" h="3154045">
                  <a:moveTo>
                    <a:pt x="0" y="0"/>
                  </a:moveTo>
                  <a:lnTo>
                    <a:pt x="323850" y="0"/>
                  </a:lnTo>
                  <a:lnTo>
                    <a:pt x="323850" y="931799"/>
                  </a:lnTo>
                  <a:lnTo>
                    <a:pt x="647700" y="931799"/>
                  </a:lnTo>
                </a:path>
                <a:path w="647700" h="3154045">
                  <a:moveTo>
                    <a:pt x="0" y="605027"/>
                  </a:moveTo>
                  <a:lnTo>
                    <a:pt x="194436" y="605027"/>
                  </a:lnTo>
                  <a:lnTo>
                    <a:pt x="194436" y="3153917"/>
                  </a:lnTo>
                  <a:lnTo>
                    <a:pt x="647700" y="3153917"/>
                  </a:lnTo>
                </a:path>
              </a:pathLst>
            </a:custGeom>
            <a:ln w="19050">
              <a:solidFill>
                <a:srgbClr val="041F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10281793" y="1481150"/>
            <a:ext cx="6432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Highlights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78663" y="3965194"/>
            <a:ext cx="938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barriers: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91668" y="4209097"/>
            <a:ext cx="2313940" cy="1783080"/>
            <a:chOff x="391668" y="4209097"/>
            <a:chExt cx="2313940" cy="1783080"/>
          </a:xfrm>
        </p:grpSpPr>
        <p:sp>
          <p:nvSpPr>
            <p:cNvPr id="86" name="object 86"/>
            <p:cNvSpPr/>
            <p:nvPr/>
          </p:nvSpPr>
          <p:spPr>
            <a:xfrm>
              <a:off x="391668" y="4213859"/>
              <a:ext cx="2313940" cy="0"/>
            </a:xfrm>
            <a:custGeom>
              <a:avLst/>
              <a:gdLst/>
              <a:ahLst/>
              <a:cxnLst/>
              <a:rect l="l" t="t" r="r" b="b"/>
              <a:pathLst>
                <a:path w="2313940" h="0">
                  <a:moveTo>
                    <a:pt x="2313813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942" y="5755922"/>
              <a:ext cx="236063" cy="23619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343" y="5134007"/>
              <a:ext cx="223862" cy="24875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91668" y="4951475"/>
              <a:ext cx="2313940" cy="614680"/>
            </a:xfrm>
            <a:custGeom>
              <a:avLst/>
              <a:gdLst/>
              <a:ahLst/>
              <a:cxnLst/>
              <a:rect l="l" t="t" r="r" b="b"/>
              <a:pathLst>
                <a:path w="2313940" h="614679">
                  <a:moveTo>
                    <a:pt x="2313813" y="0"/>
                  </a:moveTo>
                  <a:lnTo>
                    <a:pt x="0" y="0"/>
                  </a:lnTo>
                </a:path>
                <a:path w="2313940" h="614679">
                  <a:moveTo>
                    <a:pt x="2313813" y="614172"/>
                  </a:moveTo>
                  <a:lnTo>
                    <a:pt x="0" y="614172"/>
                  </a:lnTo>
                </a:path>
              </a:pathLst>
            </a:custGeom>
            <a:ln w="9525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18285" y="4532633"/>
              <a:ext cx="260350" cy="223520"/>
            </a:xfrm>
            <a:custGeom>
              <a:avLst/>
              <a:gdLst/>
              <a:ahLst/>
              <a:cxnLst/>
              <a:rect l="l" t="t" r="r" b="b"/>
              <a:pathLst>
                <a:path w="260350" h="223520">
                  <a:moveTo>
                    <a:pt x="105437" y="186690"/>
                  </a:moveTo>
                  <a:lnTo>
                    <a:pt x="86576" y="186689"/>
                  </a:lnTo>
                  <a:lnTo>
                    <a:pt x="88711" y="196849"/>
                  </a:lnTo>
                  <a:lnTo>
                    <a:pt x="95079" y="205740"/>
                  </a:lnTo>
                  <a:lnTo>
                    <a:pt x="131889" y="220980"/>
                  </a:lnTo>
                  <a:lnTo>
                    <a:pt x="197637" y="223520"/>
                  </a:lnTo>
                  <a:lnTo>
                    <a:pt x="226181" y="218440"/>
                  </a:lnTo>
                  <a:lnTo>
                    <a:pt x="249854" y="207010"/>
                  </a:lnTo>
                  <a:lnTo>
                    <a:pt x="250471" y="205740"/>
                  </a:lnTo>
                  <a:lnTo>
                    <a:pt x="162949" y="205740"/>
                  </a:lnTo>
                  <a:lnTo>
                    <a:pt x="154910" y="204470"/>
                  </a:lnTo>
                  <a:lnTo>
                    <a:pt x="154910" y="203200"/>
                  </a:lnTo>
                  <a:lnTo>
                    <a:pt x="142542" y="203200"/>
                  </a:lnTo>
                  <a:lnTo>
                    <a:pt x="133884" y="201930"/>
                  </a:lnTo>
                  <a:lnTo>
                    <a:pt x="130173" y="200660"/>
                  </a:lnTo>
                  <a:lnTo>
                    <a:pt x="130173" y="196850"/>
                  </a:lnTo>
                  <a:lnTo>
                    <a:pt x="117805" y="196850"/>
                  </a:lnTo>
                  <a:lnTo>
                    <a:pt x="110075" y="194310"/>
                  </a:lnTo>
                  <a:lnTo>
                    <a:pt x="105437" y="190500"/>
                  </a:lnTo>
                  <a:lnTo>
                    <a:pt x="105437" y="186690"/>
                  </a:lnTo>
                  <a:close/>
                </a:path>
                <a:path w="260350" h="223520">
                  <a:moveTo>
                    <a:pt x="179646" y="193040"/>
                  </a:moveTo>
                  <a:lnTo>
                    <a:pt x="167278" y="193040"/>
                  </a:lnTo>
                  <a:lnTo>
                    <a:pt x="167278" y="205740"/>
                  </a:lnTo>
                  <a:lnTo>
                    <a:pt x="179646" y="205740"/>
                  </a:lnTo>
                  <a:lnTo>
                    <a:pt x="179646" y="193040"/>
                  </a:lnTo>
                  <a:close/>
                </a:path>
                <a:path w="260350" h="223520">
                  <a:moveTo>
                    <a:pt x="204382" y="193040"/>
                  </a:moveTo>
                  <a:lnTo>
                    <a:pt x="192014" y="193040"/>
                  </a:lnTo>
                  <a:lnTo>
                    <a:pt x="192014" y="204470"/>
                  </a:lnTo>
                  <a:lnTo>
                    <a:pt x="183975" y="205740"/>
                  </a:lnTo>
                  <a:lnTo>
                    <a:pt x="250471" y="205740"/>
                  </a:lnTo>
                  <a:lnTo>
                    <a:pt x="251705" y="203200"/>
                  </a:lnTo>
                  <a:lnTo>
                    <a:pt x="204382" y="203200"/>
                  </a:lnTo>
                  <a:lnTo>
                    <a:pt x="204382" y="193040"/>
                  </a:lnTo>
                  <a:close/>
                </a:path>
                <a:path w="260350" h="223520">
                  <a:moveTo>
                    <a:pt x="204382" y="191770"/>
                  </a:moveTo>
                  <a:lnTo>
                    <a:pt x="134193" y="191770"/>
                  </a:lnTo>
                  <a:lnTo>
                    <a:pt x="142542" y="193040"/>
                  </a:lnTo>
                  <a:lnTo>
                    <a:pt x="142542" y="203200"/>
                  </a:lnTo>
                  <a:lnTo>
                    <a:pt x="154910" y="203200"/>
                  </a:lnTo>
                  <a:lnTo>
                    <a:pt x="154910" y="193040"/>
                  </a:lnTo>
                  <a:lnTo>
                    <a:pt x="204382" y="193040"/>
                  </a:lnTo>
                  <a:lnTo>
                    <a:pt x="204382" y="191770"/>
                  </a:lnTo>
                  <a:close/>
                </a:path>
                <a:path w="260350" h="223520">
                  <a:moveTo>
                    <a:pt x="229118" y="189230"/>
                  </a:moveTo>
                  <a:lnTo>
                    <a:pt x="216750" y="189230"/>
                  </a:lnTo>
                  <a:lnTo>
                    <a:pt x="216750" y="200660"/>
                  </a:lnTo>
                  <a:lnTo>
                    <a:pt x="213039" y="201930"/>
                  </a:lnTo>
                  <a:lnTo>
                    <a:pt x="204382" y="203200"/>
                  </a:lnTo>
                  <a:lnTo>
                    <a:pt x="251705" y="203200"/>
                  </a:lnTo>
                  <a:lnTo>
                    <a:pt x="254791" y="196850"/>
                  </a:lnTo>
                  <a:lnTo>
                    <a:pt x="229118" y="196850"/>
                  </a:lnTo>
                  <a:lnTo>
                    <a:pt x="229118" y="189230"/>
                  </a:lnTo>
                  <a:close/>
                </a:path>
                <a:path w="260350" h="223520">
                  <a:moveTo>
                    <a:pt x="86576" y="0"/>
                  </a:moveTo>
                  <a:lnTo>
                    <a:pt x="62091" y="1269"/>
                  </a:lnTo>
                  <a:lnTo>
                    <a:pt x="33548" y="6349"/>
                  </a:lnTo>
                  <a:lnTo>
                    <a:pt x="9875" y="17779"/>
                  </a:lnTo>
                  <a:lnTo>
                    <a:pt x="0" y="38099"/>
                  </a:lnTo>
                  <a:lnTo>
                    <a:pt x="0" y="77469"/>
                  </a:lnTo>
                  <a:lnTo>
                    <a:pt x="4019" y="85089"/>
                  </a:lnTo>
                  <a:lnTo>
                    <a:pt x="12368" y="90169"/>
                  </a:lnTo>
                  <a:lnTo>
                    <a:pt x="12368" y="96519"/>
                  </a:lnTo>
                  <a:lnTo>
                    <a:pt x="4947" y="101599"/>
                  </a:lnTo>
                  <a:lnTo>
                    <a:pt x="0" y="109219"/>
                  </a:lnTo>
                  <a:lnTo>
                    <a:pt x="0" y="149859"/>
                  </a:lnTo>
                  <a:lnTo>
                    <a:pt x="33703" y="180339"/>
                  </a:lnTo>
                  <a:lnTo>
                    <a:pt x="72010" y="186689"/>
                  </a:lnTo>
                  <a:lnTo>
                    <a:pt x="108220" y="186690"/>
                  </a:lnTo>
                  <a:lnTo>
                    <a:pt x="111312" y="187960"/>
                  </a:lnTo>
                  <a:lnTo>
                    <a:pt x="114404" y="187960"/>
                  </a:lnTo>
                  <a:lnTo>
                    <a:pt x="117805" y="189230"/>
                  </a:lnTo>
                  <a:lnTo>
                    <a:pt x="117805" y="196850"/>
                  </a:lnTo>
                  <a:lnTo>
                    <a:pt x="130173" y="196850"/>
                  </a:lnTo>
                  <a:lnTo>
                    <a:pt x="130173" y="191770"/>
                  </a:lnTo>
                  <a:lnTo>
                    <a:pt x="204382" y="191770"/>
                  </a:lnTo>
                  <a:lnTo>
                    <a:pt x="208401" y="190500"/>
                  </a:lnTo>
                  <a:lnTo>
                    <a:pt x="212730" y="190500"/>
                  </a:lnTo>
                  <a:lnTo>
                    <a:pt x="216750" y="189230"/>
                  </a:lnTo>
                  <a:lnTo>
                    <a:pt x="229118" y="189230"/>
                  </a:lnTo>
                  <a:lnTo>
                    <a:pt x="229118" y="186690"/>
                  </a:lnTo>
                  <a:lnTo>
                    <a:pt x="233447" y="185420"/>
                  </a:lnTo>
                  <a:lnTo>
                    <a:pt x="237776" y="182880"/>
                  </a:lnTo>
                  <a:lnTo>
                    <a:pt x="241486" y="181610"/>
                  </a:lnTo>
                  <a:lnTo>
                    <a:pt x="259729" y="181610"/>
                  </a:lnTo>
                  <a:lnTo>
                    <a:pt x="259729" y="173990"/>
                  </a:lnTo>
                  <a:lnTo>
                    <a:pt x="142541" y="173990"/>
                  </a:lnTo>
                  <a:lnTo>
                    <a:pt x="142541" y="172720"/>
                  </a:lnTo>
                  <a:lnTo>
                    <a:pt x="130173" y="172720"/>
                  </a:lnTo>
                  <a:lnTo>
                    <a:pt x="121516" y="171450"/>
                  </a:lnTo>
                  <a:lnTo>
                    <a:pt x="117805" y="170180"/>
                  </a:lnTo>
                  <a:lnTo>
                    <a:pt x="117805" y="167640"/>
                  </a:lnTo>
                  <a:lnTo>
                    <a:pt x="68333" y="167639"/>
                  </a:lnTo>
                  <a:lnTo>
                    <a:pt x="68333" y="166369"/>
                  </a:lnTo>
                  <a:lnTo>
                    <a:pt x="55965" y="166369"/>
                  </a:lnTo>
                  <a:lnTo>
                    <a:pt x="47307" y="165099"/>
                  </a:lnTo>
                  <a:lnTo>
                    <a:pt x="43597" y="163829"/>
                  </a:lnTo>
                  <a:lnTo>
                    <a:pt x="43597" y="160019"/>
                  </a:lnTo>
                  <a:lnTo>
                    <a:pt x="31229" y="160019"/>
                  </a:lnTo>
                  <a:lnTo>
                    <a:pt x="23499" y="157479"/>
                  </a:lnTo>
                  <a:lnTo>
                    <a:pt x="18861" y="153669"/>
                  </a:lnTo>
                  <a:lnTo>
                    <a:pt x="18861" y="143509"/>
                  </a:lnTo>
                  <a:lnTo>
                    <a:pt x="161094" y="143510"/>
                  </a:lnTo>
                  <a:lnTo>
                    <a:pt x="134551" y="142240"/>
                  </a:lnTo>
                  <a:lnTo>
                    <a:pt x="112935" y="138430"/>
                  </a:lnTo>
                  <a:lnTo>
                    <a:pt x="98393" y="132080"/>
                  </a:lnTo>
                  <a:lnTo>
                    <a:pt x="68333" y="132079"/>
                  </a:lnTo>
                  <a:lnTo>
                    <a:pt x="59675" y="130809"/>
                  </a:lnTo>
                  <a:lnTo>
                    <a:pt x="55965" y="129539"/>
                  </a:lnTo>
                  <a:lnTo>
                    <a:pt x="55965" y="125729"/>
                  </a:lnTo>
                  <a:lnTo>
                    <a:pt x="43597" y="125729"/>
                  </a:lnTo>
                  <a:lnTo>
                    <a:pt x="35867" y="123189"/>
                  </a:lnTo>
                  <a:lnTo>
                    <a:pt x="31229" y="119379"/>
                  </a:lnTo>
                  <a:lnTo>
                    <a:pt x="31229" y="109219"/>
                  </a:lnTo>
                  <a:lnTo>
                    <a:pt x="127346" y="109220"/>
                  </a:lnTo>
                  <a:lnTo>
                    <a:pt x="134551" y="107950"/>
                  </a:lnTo>
                  <a:lnTo>
                    <a:pt x="161094" y="105410"/>
                  </a:lnTo>
                  <a:lnTo>
                    <a:pt x="239167" y="105410"/>
                  </a:lnTo>
                  <a:lnTo>
                    <a:pt x="228625" y="99060"/>
                  </a:lnTo>
                  <a:lnTo>
                    <a:pt x="213967" y="93980"/>
                  </a:lnTo>
                  <a:lnTo>
                    <a:pt x="207474" y="91440"/>
                  </a:lnTo>
                  <a:lnTo>
                    <a:pt x="200517" y="90170"/>
                  </a:lnTo>
                  <a:lnTo>
                    <a:pt x="193096" y="88900"/>
                  </a:lnTo>
                  <a:lnTo>
                    <a:pt x="185211" y="88900"/>
                  </a:lnTo>
                  <a:lnTo>
                    <a:pt x="185521" y="87630"/>
                  </a:lnTo>
                  <a:lnTo>
                    <a:pt x="72353" y="87629"/>
                  </a:lnTo>
                  <a:lnTo>
                    <a:pt x="68333" y="86359"/>
                  </a:lnTo>
                  <a:lnTo>
                    <a:pt x="68333" y="85089"/>
                  </a:lnTo>
                  <a:lnTo>
                    <a:pt x="55965" y="85089"/>
                  </a:lnTo>
                  <a:lnTo>
                    <a:pt x="47307" y="83819"/>
                  </a:lnTo>
                  <a:lnTo>
                    <a:pt x="43597" y="83819"/>
                  </a:lnTo>
                  <a:lnTo>
                    <a:pt x="43597" y="78739"/>
                  </a:lnTo>
                  <a:lnTo>
                    <a:pt x="31229" y="78739"/>
                  </a:lnTo>
                  <a:lnTo>
                    <a:pt x="23499" y="76199"/>
                  </a:lnTo>
                  <a:lnTo>
                    <a:pt x="18861" y="72389"/>
                  </a:lnTo>
                  <a:lnTo>
                    <a:pt x="18861" y="63499"/>
                  </a:lnTo>
                  <a:lnTo>
                    <a:pt x="174822" y="63500"/>
                  </a:lnTo>
                  <a:lnTo>
                    <a:pt x="173152" y="62230"/>
                  </a:lnTo>
                  <a:lnTo>
                    <a:pt x="173152" y="55880"/>
                  </a:lnTo>
                  <a:lnTo>
                    <a:pt x="86885" y="55879"/>
                  </a:lnTo>
                  <a:lnTo>
                    <a:pt x="60342" y="54609"/>
                  </a:lnTo>
                  <a:lnTo>
                    <a:pt x="38727" y="50799"/>
                  </a:lnTo>
                  <a:lnTo>
                    <a:pt x="24185" y="44449"/>
                  </a:lnTo>
                  <a:lnTo>
                    <a:pt x="18861" y="38099"/>
                  </a:lnTo>
                  <a:lnTo>
                    <a:pt x="24185" y="30479"/>
                  </a:lnTo>
                  <a:lnTo>
                    <a:pt x="38727" y="24129"/>
                  </a:lnTo>
                  <a:lnTo>
                    <a:pt x="60342" y="20319"/>
                  </a:lnTo>
                  <a:lnTo>
                    <a:pt x="86885" y="19049"/>
                  </a:lnTo>
                  <a:lnTo>
                    <a:pt x="164649" y="19050"/>
                  </a:lnTo>
                  <a:lnTo>
                    <a:pt x="154108" y="11430"/>
                  </a:lnTo>
                  <a:lnTo>
                    <a:pt x="139449" y="6350"/>
                  </a:lnTo>
                  <a:lnTo>
                    <a:pt x="127840" y="3810"/>
                  </a:lnTo>
                  <a:lnTo>
                    <a:pt x="114984" y="1270"/>
                  </a:lnTo>
                  <a:lnTo>
                    <a:pt x="101142" y="1270"/>
                  </a:lnTo>
                  <a:lnTo>
                    <a:pt x="86576" y="0"/>
                  </a:lnTo>
                  <a:close/>
                </a:path>
                <a:path w="260350" h="223520">
                  <a:moveTo>
                    <a:pt x="259729" y="181610"/>
                  </a:moveTo>
                  <a:lnTo>
                    <a:pt x="241486" y="181610"/>
                  </a:lnTo>
                  <a:lnTo>
                    <a:pt x="241486" y="190500"/>
                  </a:lnTo>
                  <a:lnTo>
                    <a:pt x="236848" y="194310"/>
                  </a:lnTo>
                  <a:lnTo>
                    <a:pt x="229118" y="196850"/>
                  </a:lnTo>
                  <a:lnTo>
                    <a:pt x="254791" y="196850"/>
                  </a:lnTo>
                  <a:lnTo>
                    <a:pt x="259729" y="186690"/>
                  </a:lnTo>
                  <a:lnTo>
                    <a:pt x="259729" y="181610"/>
                  </a:lnTo>
                  <a:close/>
                </a:path>
                <a:path w="260350" h="223520">
                  <a:moveTo>
                    <a:pt x="167278" y="162560"/>
                  </a:moveTo>
                  <a:lnTo>
                    <a:pt x="154910" y="162560"/>
                  </a:lnTo>
                  <a:lnTo>
                    <a:pt x="154910" y="173990"/>
                  </a:lnTo>
                  <a:lnTo>
                    <a:pt x="167278" y="173990"/>
                  </a:lnTo>
                  <a:lnTo>
                    <a:pt x="167278" y="162560"/>
                  </a:lnTo>
                  <a:close/>
                </a:path>
                <a:path w="260350" h="223520">
                  <a:moveTo>
                    <a:pt x="192014" y="161290"/>
                  </a:moveTo>
                  <a:lnTo>
                    <a:pt x="179646" y="161290"/>
                  </a:lnTo>
                  <a:lnTo>
                    <a:pt x="179646" y="173990"/>
                  </a:lnTo>
                  <a:lnTo>
                    <a:pt x="259729" y="173990"/>
                  </a:lnTo>
                  <a:lnTo>
                    <a:pt x="259729" y="172720"/>
                  </a:lnTo>
                  <a:lnTo>
                    <a:pt x="192014" y="172720"/>
                  </a:lnTo>
                  <a:lnTo>
                    <a:pt x="192014" y="161290"/>
                  </a:lnTo>
                  <a:close/>
                </a:path>
                <a:path w="260350" h="223520">
                  <a:moveTo>
                    <a:pt x="192014" y="160020"/>
                  </a:moveTo>
                  <a:lnTo>
                    <a:pt x="130173" y="160020"/>
                  </a:lnTo>
                  <a:lnTo>
                    <a:pt x="130173" y="172720"/>
                  </a:lnTo>
                  <a:lnTo>
                    <a:pt x="142541" y="172720"/>
                  </a:lnTo>
                  <a:lnTo>
                    <a:pt x="142541" y="161290"/>
                  </a:lnTo>
                  <a:lnTo>
                    <a:pt x="192014" y="161290"/>
                  </a:lnTo>
                  <a:lnTo>
                    <a:pt x="192014" y="160020"/>
                  </a:lnTo>
                  <a:close/>
                </a:path>
                <a:path w="260350" h="223520">
                  <a:moveTo>
                    <a:pt x="216750" y="158750"/>
                  </a:moveTo>
                  <a:lnTo>
                    <a:pt x="204382" y="158750"/>
                  </a:lnTo>
                  <a:lnTo>
                    <a:pt x="204382" y="170180"/>
                  </a:lnTo>
                  <a:lnTo>
                    <a:pt x="200671" y="171450"/>
                  </a:lnTo>
                  <a:lnTo>
                    <a:pt x="192014" y="172720"/>
                  </a:lnTo>
                  <a:lnTo>
                    <a:pt x="259729" y="172720"/>
                  </a:lnTo>
                  <a:lnTo>
                    <a:pt x="259729" y="166370"/>
                  </a:lnTo>
                  <a:lnTo>
                    <a:pt x="216750" y="166370"/>
                  </a:lnTo>
                  <a:lnTo>
                    <a:pt x="216750" y="158750"/>
                  </a:lnTo>
                  <a:close/>
                </a:path>
                <a:path w="260350" h="223520">
                  <a:moveTo>
                    <a:pt x="93069" y="154940"/>
                  </a:moveTo>
                  <a:lnTo>
                    <a:pt x="74517" y="154939"/>
                  </a:lnTo>
                  <a:lnTo>
                    <a:pt x="74517" y="160019"/>
                  </a:lnTo>
                  <a:lnTo>
                    <a:pt x="75445" y="163829"/>
                  </a:lnTo>
                  <a:lnTo>
                    <a:pt x="77609" y="167639"/>
                  </a:lnTo>
                  <a:lnTo>
                    <a:pt x="117805" y="167640"/>
                  </a:lnTo>
                  <a:lnTo>
                    <a:pt x="117805" y="166370"/>
                  </a:lnTo>
                  <a:lnTo>
                    <a:pt x="105437" y="166370"/>
                  </a:lnTo>
                  <a:lnTo>
                    <a:pt x="97707" y="163830"/>
                  </a:lnTo>
                  <a:lnTo>
                    <a:pt x="93069" y="160020"/>
                  </a:lnTo>
                  <a:lnTo>
                    <a:pt x="93069" y="154940"/>
                  </a:lnTo>
                  <a:close/>
                </a:path>
                <a:path w="260350" h="223520">
                  <a:moveTo>
                    <a:pt x="93069" y="151130"/>
                  </a:moveTo>
                  <a:lnTo>
                    <a:pt x="43597" y="151129"/>
                  </a:lnTo>
                  <a:lnTo>
                    <a:pt x="51636" y="153669"/>
                  </a:lnTo>
                  <a:lnTo>
                    <a:pt x="55965" y="153669"/>
                  </a:lnTo>
                  <a:lnTo>
                    <a:pt x="55965" y="166369"/>
                  </a:lnTo>
                  <a:lnTo>
                    <a:pt x="68333" y="166369"/>
                  </a:lnTo>
                  <a:lnTo>
                    <a:pt x="68333" y="154939"/>
                  </a:lnTo>
                  <a:lnTo>
                    <a:pt x="93069" y="154940"/>
                  </a:lnTo>
                  <a:lnTo>
                    <a:pt x="93069" y="151130"/>
                  </a:lnTo>
                  <a:close/>
                </a:path>
                <a:path w="260350" h="223520">
                  <a:moveTo>
                    <a:pt x="229118" y="149860"/>
                  </a:moveTo>
                  <a:lnTo>
                    <a:pt x="93069" y="149860"/>
                  </a:lnTo>
                  <a:lnTo>
                    <a:pt x="96780" y="152400"/>
                  </a:lnTo>
                  <a:lnTo>
                    <a:pt x="100799" y="153670"/>
                  </a:lnTo>
                  <a:lnTo>
                    <a:pt x="105437" y="154940"/>
                  </a:lnTo>
                  <a:lnTo>
                    <a:pt x="105437" y="166370"/>
                  </a:lnTo>
                  <a:lnTo>
                    <a:pt x="117805" y="166370"/>
                  </a:lnTo>
                  <a:lnTo>
                    <a:pt x="117805" y="157480"/>
                  </a:lnTo>
                  <a:lnTo>
                    <a:pt x="216750" y="157480"/>
                  </a:lnTo>
                  <a:lnTo>
                    <a:pt x="216750" y="154940"/>
                  </a:lnTo>
                  <a:lnTo>
                    <a:pt x="225408" y="152400"/>
                  </a:lnTo>
                  <a:lnTo>
                    <a:pt x="229118" y="149860"/>
                  </a:lnTo>
                  <a:close/>
                </a:path>
                <a:path w="260350" h="223520">
                  <a:moveTo>
                    <a:pt x="259950" y="149860"/>
                  </a:moveTo>
                  <a:lnTo>
                    <a:pt x="229118" y="149860"/>
                  </a:lnTo>
                  <a:lnTo>
                    <a:pt x="229118" y="160020"/>
                  </a:lnTo>
                  <a:lnTo>
                    <a:pt x="224480" y="163830"/>
                  </a:lnTo>
                  <a:lnTo>
                    <a:pt x="216750" y="166370"/>
                  </a:lnTo>
                  <a:lnTo>
                    <a:pt x="259729" y="166370"/>
                  </a:lnTo>
                  <a:lnTo>
                    <a:pt x="259817" y="153670"/>
                  </a:lnTo>
                  <a:lnTo>
                    <a:pt x="259906" y="151130"/>
                  </a:lnTo>
                  <a:lnTo>
                    <a:pt x="259950" y="149860"/>
                  </a:lnTo>
                  <a:close/>
                </a:path>
                <a:path w="260350" h="223520">
                  <a:moveTo>
                    <a:pt x="179646" y="161290"/>
                  </a:moveTo>
                  <a:lnTo>
                    <a:pt x="142541" y="161290"/>
                  </a:lnTo>
                  <a:lnTo>
                    <a:pt x="150581" y="162560"/>
                  </a:lnTo>
                  <a:lnTo>
                    <a:pt x="170988" y="162560"/>
                  </a:lnTo>
                  <a:lnTo>
                    <a:pt x="179646" y="161290"/>
                  </a:lnTo>
                  <a:close/>
                </a:path>
                <a:path w="260350" h="223520">
                  <a:moveTo>
                    <a:pt x="239167" y="105410"/>
                  </a:moveTo>
                  <a:lnTo>
                    <a:pt x="161094" y="105410"/>
                  </a:lnTo>
                  <a:lnTo>
                    <a:pt x="187637" y="107950"/>
                  </a:lnTo>
                  <a:lnTo>
                    <a:pt x="209252" y="111760"/>
                  </a:lnTo>
                  <a:lnTo>
                    <a:pt x="223794" y="116840"/>
                  </a:lnTo>
                  <a:lnTo>
                    <a:pt x="229118" y="124460"/>
                  </a:lnTo>
                  <a:lnTo>
                    <a:pt x="223794" y="132080"/>
                  </a:lnTo>
                  <a:lnTo>
                    <a:pt x="209252" y="138430"/>
                  </a:lnTo>
                  <a:lnTo>
                    <a:pt x="187637" y="142240"/>
                  </a:lnTo>
                  <a:lnTo>
                    <a:pt x="161094" y="143510"/>
                  </a:lnTo>
                  <a:lnTo>
                    <a:pt x="18861" y="143509"/>
                  </a:lnTo>
                  <a:lnTo>
                    <a:pt x="22571" y="146049"/>
                  </a:lnTo>
                  <a:lnTo>
                    <a:pt x="26591" y="147319"/>
                  </a:lnTo>
                  <a:lnTo>
                    <a:pt x="31229" y="148589"/>
                  </a:lnTo>
                  <a:lnTo>
                    <a:pt x="31229" y="160019"/>
                  </a:lnTo>
                  <a:lnTo>
                    <a:pt x="43597" y="160019"/>
                  </a:lnTo>
                  <a:lnTo>
                    <a:pt x="43597" y="151129"/>
                  </a:lnTo>
                  <a:lnTo>
                    <a:pt x="93069" y="151130"/>
                  </a:lnTo>
                  <a:lnTo>
                    <a:pt x="93069" y="149860"/>
                  </a:lnTo>
                  <a:lnTo>
                    <a:pt x="259950" y="149860"/>
                  </a:lnTo>
                  <a:lnTo>
                    <a:pt x="260038" y="147320"/>
                  </a:lnTo>
                  <a:lnTo>
                    <a:pt x="256019" y="139700"/>
                  </a:lnTo>
                  <a:lnTo>
                    <a:pt x="247670" y="133350"/>
                  </a:lnTo>
                  <a:lnTo>
                    <a:pt x="247670" y="124460"/>
                  </a:lnTo>
                  <a:lnTo>
                    <a:pt x="245535" y="114300"/>
                  </a:lnTo>
                  <a:lnTo>
                    <a:pt x="239167" y="105410"/>
                  </a:lnTo>
                  <a:close/>
                </a:path>
                <a:path w="260350" h="223520">
                  <a:moveTo>
                    <a:pt x="216750" y="157480"/>
                  </a:moveTo>
                  <a:lnTo>
                    <a:pt x="117805" y="157480"/>
                  </a:lnTo>
                  <a:lnTo>
                    <a:pt x="125845" y="160020"/>
                  </a:lnTo>
                  <a:lnTo>
                    <a:pt x="196033" y="160020"/>
                  </a:lnTo>
                  <a:lnTo>
                    <a:pt x="200362" y="158750"/>
                  </a:lnTo>
                  <a:lnTo>
                    <a:pt x="216750" y="158750"/>
                  </a:lnTo>
                  <a:lnTo>
                    <a:pt x="216750" y="157480"/>
                  </a:lnTo>
                  <a:close/>
                </a:path>
                <a:path w="260350" h="223520">
                  <a:moveTo>
                    <a:pt x="97506" y="118110"/>
                  </a:moveTo>
                  <a:lnTo>
                    <a:pt x="59985" y="118109"/>
                  </a:lnTo>
                  <a:lnTo>
                    <a:pt x="64004" y="119379"/>
                  </a:lnTo>
                  <a:lnTo>
                    <a:pt x="68333" y="119379"/>
                  </a:lnTo>
                  <a:lnTo>
                    <a:pt x="68333" y="132079"/>
                  </a:lnTo>
                  <a:lnTo>
                    <a:pt x="98393" y="132080"/>
                  </a:lnTo>
                  <a:lnTo>
                    <a:pt x="93069" y="124460"/>
                  </a:lnTo>
                  <a:lnTo>
                    <a:pt x="97506" y="118110"/>
                  </a:lnTo>
                  <a:close/>
                </a:path>
                <a:path w="260350" h="223520">
                  <a:moveTo>
                    <a:pt x="127346" y="109220"/>
                  </a:moveTo>
                  <a:lnTo>
                    <a:pt x="31229" y="109219"/>
                  </a:lnTo>
                  <a:lnTo>
                    <a:pt x="34939" y="111759"/>
                  </a:lnTo>
                  <a:lnTo>
                    <a:pt x="38959" y="113029"/>
                  </a:lnTo>
                  <a:lnTo>
                    <a:pt x="43597" y="114299"/>
                  </a:lnTo>
                  <a:lnTo>
                    <a:pt x="43597" y="125729"/>
                  </a:lnTo>
                  <a:lnTo>
                    <a:pt x="55965" y="125729"/>
                  </a:lnTo>
                  <a:lnTo>
                    <a:pt x="55965" y="118109"/>
                  </a:lnTo>
                  <a:lnTo>
                    <a:pt x="97506" y="118110"/>
                  </a:lnTo>
                  <a:lnTo>
                    <a:pt x="98393" y="116840"/>
                  </a:lnTo>
                  <a:lnTo>
                    <a:pt x="112935" y="111760"/>
                  </a:lnTo>
                  <a:lnTo>
                    <a:pt x="127346" y="109220"/>
                  </a:lnTo>
                  <a:close/>
                </a:path>
                <a:path w="260350" h="223520">
                  <a:moveTo>
                    <a:pt x="93069" y="74930"/>
                  </a:moveTo>
                  <a:lnTo>
                    <a:pt x="80701" y="74929"/>
                  </a:lnTo>
                  <a:lnTo>
                    <a:pt x="80701" y="87629"/>
                  </a:lnTo>
                  <a:lnTo>
                    <a:pt x="93069" y="87630"/>
                  </a:lnTo>
                  <a:lnTo>
                    <a:pt x="93069" y="74930"/>
                  </a:lnTo>
                  <a:close/>
                </a:path>
                <a:path w="260350" h="223520">
                  <a:moveTo>
                    <a:pt x="117805" y="73660"/>
                  </a:moveTo>
                  <a:lnTo>
                    <a:pt x="105437" y="73660"/>
                  </a:lnTo>
                  <a:lnTo>
                    <a:pt x="105437" y="86360"/>
                  </a:lnTo>
                  <a:lnTo>
                    <a:pt x="101418" y="87630"/>
                  </a:lnTo>
                  <a:lnTo>
                    <a:pt x="185521" y="87630"/>
                  </a:lnTo>
                  <a:lnTo>
                    <a:pt x="185521" y="85090"/>
                  </a:lnTo>
                  <a:lnTo>
                    <a:pt x="117805" y="85090"/>
                  </a:lnTo>
                  <a:lnTo>
                    <a:pt x="117805" y="73660"/>
                  </a:lnTo>
                  <a:close/>
                </a:path>
                <a:path w="260350" h="223520">
                  <a:moveTo>
                    <a:pt x="130173" y="71120"/>
                  </a:moveTo>
                  <a:lnTo>
                    <a:pt x="43597" y="71119"/>
                  </a:lnTo>
                  <a:lnTo>
                    <a:pt x="51636" y="72389"/>
                  </a:lnTo>
                  <a:lnTo>
                    <a:pt x="55965" y="73659"/>
                  </a:lnTo>
                  <a:lnTo>
                    <a:pt x="55965" y="85089"/>
                  </a:lnTo>
                  <a:lnTo>
                    <a:pt x="68333" y="85089"/>
                  </a:lnTo>
                  <a:lnTo>
                    <a:pt x="68333" y="73659"/>
                  </a:lnTo>
                  <a:lnTo>
                    <a:pt x="117805" y="73660"/>
                  </a:lnTo>
                  <a:lnTo>
                    <a:pt x="121825" y="72390"/>
                  </a:lnTo>
                  <a:lnTo>
                    <a:pt x="126154" y="72390"/>
                  </a:lnTo>
                  <a:lnTo>
                    <a:pt x="130173" y="71120"/>
                  </a:lnTo>
                  <a:close/>
                </a:path>
                <a:path w="260350" h="223520">
                  <a:moveTo>
                    <a:pt x="142541" y="71120"/>
                  </a:moveTo>
                  <a:lnTo>
                    <a:pt x="130173" y="71120"/>
                  </a:lnTo>
                  <a:lnTo>
                    <a:pt x="130173" y="82550"/>
                  </a:lnTo>
                  <a:lnTo>
                    <a:pt x="126463" y="83820"/>
                  </a:lnTo>
                  <a:lnTo>
                    <a:pt x="117805" y="85090"/>
                  </a:lnTo>
                  <a:lnTo>
                    <a:pt x="185521" y="85090"/>
                  </a:lnTo>
                  <a:lnTo>
                    <a:pt x="185521" y="78740"/>
                  </a:lnTo>
                  <a:lnTo>
                    <a:pt x="142541" y="78740"/>
                  </a:lnTo>
                  <a:lnTo>
                    <a:pt x="142541" y="71120"/>
                  </a:lnTo>
                  <a:close/>
                </a:path>
                <a:path w="260350" h="223520">
                  <a:moveTo>
                    <a:pt x="154910" y="63500"/>
                  </a:moveTo>
                  <a:lnTo>
                    <a:pt x="18861" y="63499"/>
                  </a:lnTo>
                  <a:lnTo>
                    <a:pt x="22571" y="64769"/>
                  </a:lnTo>
                  <a:lnTo>
                    <a:pt x="26591" y="66039"/>
                  </a:lnTo>
                  <a:lnTo>
                    <a:pt x="31229" y="67309"/>
                  </a:lnTo>
                  <a:lnTo>
                    <a:pt x="31229" y="78739"/>
                  </a:lnTo>
                  <a:lnTo>
                    <a:pt x="43597" y="78739"/>
                  </a:lnTo>
                  <a:lnTo>
                    <a:pt x="43597" y="71119"/>
                  </a:lnTo>
                  <a:lnTo>
                    <a:pt x="142541" y="71120"/>
                  </a:lnTo>
                  <a:lnTo>
                    <a:pt x="142541" y="68580"/>
                  </a:lnTo>
                  <a:lnTo>
                    <a:pt x="146870" y="67310"/>
                  </a:lnTo>
                  <a:lnTo>
                    <a:pt x="151199" y="64770"/>
                  </a:lnTo>
                  <a:lnTo>
                    <a:pt x="154910" y="63500"/>
                  </a:lnTo>
                  <a:close/>
                </a:path>
                <a:path w="260350" h="223520">
                  <a:moveTo>
                    <a:pt x="174822" y="63500"/>
                  </a:moveTo>
                  <a:lnTo>
                    <a:pt x="154910" y="63500"/>
                  </a:lnTo>
                  <a:lnTo>
                    <a:pt x="154910" y="72390"/>
                  </a:lnTo>
                  <a:lnTo>
                    <a:pt x="150272" y="76200"/>
                  </a:lnTo>
                  <a:lnTo>
                    <a:pt x="142541" y="78740"/>
                  </a:lnTo>
                  <a:lnTo>
                    <a:pt x="185521" y="78740"/>
                  </a:lnTo>
                  <a:lnTo>
                    <a:pt x="185521" y="74930"/>
                  </a:lnTo>
                  <a:lnTo>
                    <a:pt x="181501" y="68580"/>
                  </a:lnTo>
                  <a:lnTo>
                    <a:pt x="174822" y="63500"/>
                  </a:lnTo>
                  <a:close/>
                </a:path>
                <a:path w="260350" h="223520">
                  <a:moveTo>
                    <a:pt x="105437" y="73660"/>
                  </a:moveTo>
                  <a:lnTo>
                    <a:pt x="68333" y="73659"/>
                  </a:lnTo>
                  <a:lnTo>
                    <a:pt x="76372" y="74929"/>
                  </a:lnTo>
                  <a:lnTo>
                    <a:pt x="96780" y="74930"/>
                  </a:lnTo>
                  <a:lnTo>
                    <a:pt x="105437" y="73660"/>
                  </a:lnTo>
                  <a:close/>
                </a:path>
                <a:path w="260350" h="223520">
                  <a:moveTo>
                    <a:pt x="164649" y="19050"/>
                  </a:moveTo>
                  <a:lnTo>
                    <a:pt x="86885" y="19049"/>
                  </a:lnTo>
                  <a:lnTo>
                    <a:pt x="113428" y="20320"/>
                  </a:lnTo>
                  <a:lnTo>
                    <a:pt x="135043" y="24130"/>
                  </a:lnTo>
                  <a:lnTo>
                    <a:pt x="149585" y="30480"/>
                  </a:lnTo>
                  <a:lnTo>
                    <a:pt x="154910" y="38100"/>
                  </a:lnTo>
                  <a:lnTo>
                    <a:pt x="149585" y="44450"/>
                  </a:lnTo>
                  <a:lnTo>
                    <a:pt x="135043" y="50800"/>
                  </a:lnTo>
                  <a:lnTo>
                    <a:pt x="113428" y="54610"/>
                  </a:lnTo>
                  <a:lnTo>
                    <a:pt x="86885" y="55879"/>
                  </a:lnTo>
                  <a:lnTo>
                    <a:pt x="173152" y="55880"/>
                  </a:lnTo>
                  <a:lnTo>
                    <a:pt x="173152" y="38100"/>
                  </a:lnTo>
                  <a:lnTo>
                    <a:pt x="171017" y="27940"/>
                  </a:lnTo>
                  <a:lnTo>
                    <a:pt x="164649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905052" y="5153659"/>
            <a:ext cx="1584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suited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choices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(27%)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91336" y="5768441"/>
            <a:ext cx="13982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dirty="0" sz="1100" spc="-3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100" spc="-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(23%)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364229" y="1386077"/>
            <a:ext cx="8437245" cy="4762500"/>
          </a:xfrm>
          <a:custGeom>
            <a:avLst/>
            <a:gdLst/>
            <a:ahLst/>
            <a:cxnLst/>
            <a:rect l="l" t="t" r="r" b="b"/>
            <a:pathLst>
              <a:path w="8437245" h="4762500">
                <a:moveTo>
                  <a:pt x="0" y="4762500"/>
                </a:moveTo>
                <a:lnTo>
                  <a:pt x="8436864" y="4762500"/>
                </a:lnTo>
                <a:lnTo>
                  <a:pt x="8436864" y="0"/>
                </a:lnTo>
                <a:lnTo>
                  <a:pt x="0" y="0"/>
                </a:lnTo>
                <a:lnTo>
                  <a:pt x="0" y="4762500"/>
                </a:lnTo>
                <a:close/>
              </a:path>
            </a:pathLst>
          </a:custGeom>
          <a:ln w="19050">
            <a:solidFill>
              <a:srgbClr val="03173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894689" y="4538852"/>
            <a:ext cx="16236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Poor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100" spc="-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100" spc="-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 i="1">
                <a:solidFill>
                  <a:srgbClr val="FFFFFF"/>
                </a:solidFill>
                <a:latin typeface="Calibri"/>
                <a:cs typeface="Calibri"/>
              </a:rPr>
              <a:t>money</a:t>
            </a:r>
            <a:r>
              <a:rPr dirty="0" sz="1100" spc="-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(37%)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342244" y="1126997"/>
            <a:ext cx="14706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CC0000"/>
                </a:solidFill>
                <a:latin typeface="Calibri"/>
                <a:cs typeface="Calibri"/>
              </a:rPr>
              <a:t>Directional:</a:t>
            </a:r>
            <a:r>
              <a:rPr dirty="0" sz="1100" spc="-35" b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CC0000"/>
                </a:solidFill>
                <a:latin typeface="Calibri"/>
                <a:cs typeface="Calibri"/>
              </a:rPr>
              <a:t>low</a:t>
            </a:r>
            <a:r>
              <a:rPr dirty="0" sz="1100" spc="-25" i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CC0000"/>
                </a:solidFill>
                <a:latin typeface="Calibri"/>
                <a:cs typeface="Calibri"/>
              </a:rPr>
              <a:t>base</a:t>
            </a:r>
            <a:r>
              <a:rPr dirty="0" sz="1100" spc="-35" i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CC0000"/>
                </a:solidFill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44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4438" y="407328"/>
              <a:ext cx="75810" cy="758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0603" y="250206"/>
              <a:ext cx="151620" cy="232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595702" y="217698"/>
              <a:ext cx="303530" cy="227965"/>
            </a:xfrm>
            <a:custGeom>
              <a:avLst/>
              <a:gdLst/>
              <a:ahLst/>
              <a:cxnLst/>
              <a:rect l="l" t="t" r="r" b="b"/>
              <a:pathLst>
                <a:path w="303529" h="227965">
                  <a:moveTo>
                    <a:pt x="303240" y="0"/>
                  </a:moveTo>
                  <a:lnTo>
                    <a:pt x="0" y="0"/>
                  </a:lnTo>
                  <a:lnTo>
                    <a:pt x="0" y="227555"/>
                  </a:lnTo>
                  <a:lnTo>
                    <a:pt x="32490" y="227555"/>
                  </a:lnTo>
                  <a:lnTo>
                    <a:pt x="36746" y="206467"/>
                  </a:lnTo>
                  <a:lnTo>
                    <a:pt x="48351" y="189245"/>
                  </a:lnTo>
                  <a:lnTo>
                    <a:pt x="65563" y="177633"/>
                  </a:lnTo>
                  <a:lnTo>
                    <a:pt x="86640" y="173375"/>
                  </a:lnTo>
                  <a:lnTo>
                    <a:pt x="303240" y="173375"/>
                  </a:lnTo>
                  <a:lnTo>
                    <a:pt x="303240" y="147129"/>
                  </a:lnTo>
                  <a:lnTo>
                    <a:pt x="107055" y="147129"/>
                  </a:lnTo>
                  <a:lnTo>
                    <a:pt x="100778" y="140840"/>
                  </a:lnTo>
                  <a:lnTo>
                    <a:pt x="100787" y="135788"/>
                  </a:lnTo>
                  <a:lnTo>
                    <a:pt x="103905" y="132632"/>
                  </a:lnTo>
                  <a:lnTo>
                    <a:pt x="147965" y="91491"/>
                  </a:lnTo>
                  <a:lnTo>
                    <a:pt x="150009" y="89446"/>
                  </a:lnTo>
                  <a:lnTo>
                    <a:pt x="130795" y="89446"/>
                  </a:lnTo>
                  <a:lnTo>
                    <a:pt x="123615" y="86407"/>
                  </a:lnTo>
                  <a:lnTo>
                    <a:pt x="118931" y="80709"/>
                  </a:lnTo>
                  <a:lnTo>
                    <a:pt x="113183" y="74158"/>
                  </a:lnTo>
                  <a:lnTo>
                    <a:pt x="107686" y="67398"/>
                  </a:lnTo>
                  <a:lnTo>
                    <a:pt x="102446" y="60436"/>
                  </a:lnTo>
                  <a:lnTo>
                    <a:pt x="97470" y="53281"/>
                  </a:lnTo>
                  <a:lnTo>
                    <a:pt x="99830" y="50929"/>
                  </a:lnTo>
                  <a:lnTo>
                    <a:pt x="105489" y="50929"/>
                  </a:lnTo>
                  <a:lnTo>
                    <a:pt x="102646" y="48084"/>
                  </a:lnTo>
                  <a:lnTo>
                    <a:pt x="106436" y="44292"/>
                  </a:lnTo>
                  <a:lnTo>
                    <a:pt x="112095" y="44292"/>
                  </a:lnTo>
                  <a:lnTo>
                    <a:pt x="109270" y="41465"/>
                  </a:lnTo>
                  <a:lnTo>
                    <a:pt x="113060" y="37673"/>
                  </a:lnTo>
                  <a:lnTo>
                    <a:pt x="118687" y="37673"/>
                  </a:lnTo>
                  <a:lnTo>
                    <a:pt x="115881" y="34869"/>
                  </a:lnTo>
                  <a:lnTo>
                    <a:pt x="118232" y="32507"/>
                  </a:lnTo>
                  <a:lnTo>
                    <a:pt x="303240" y="32507"/>
                  </a:lnTo>
                  <a:lnTo>
                    <a:pt x="303240" y="0"/>
                  </a:lnTo>
                  <a:close/>
                </a:path>
                <a:path w="303529" h="227965">
                  <a:moveTo>
                    <a:pt x="303240" y="173375"/>
                  </a:moveTo>
                  <a:lnTo>
                    <a:pt x="86640" y="173375"/>
                  </a:lnTo>
                  <a:lnTo>
                    <a:pt x="107717" y="177633"/>
                  </a:lnTo>
                  <a:lnTo>
                    <a:pt x="124929" y="189245"/>
                  </a:lnTo>
                  <a:lnTo>
                    <a:pt x="136535" y="206467"/>
                  </a:lnTo>
                  <a:lnTo>
                    <a:pt x="140790" y="227555"/>
                  </a:lnTo>
                  <a:lnTo>
                    <a:pt x="303241" y="227555"/>
                  </a:lnTo>
                  <a:lnTo>
                    <a:pt x="303240" y="173375"/>
                  </a:lnTo>
                  <a:close/>
                </a:path>
                <a:path w="303529" h="227965">
                  <a:moveTo>
                    <a:pt x="155466" y="99930"/>
                  </a:moveTo>
                  <a:lnTo>
                    <a:pt x="154594" y="100855"/>
                  </a:lnTo>
                  <a:lnTo>
                    <a:pt x="115267" y="143992"/>
                  </a:lnTo>
                  <a:lnTo>
                    <a:pt x="112131" y="147129"/>
                  </a:lnTo>
                  <a:lnTo>
                    <a:pt x="200614" y="147129"/>
                  </a:lnTo>
                  <a:lnTo>
                    <a:pt x="197404" y="143992"/>
                  </a:lnTo>
                  <a:lnTo>
                    <a:pt x="165455" y="110075"/>
                  </a:lnTo>
                  <a:lnTo>
                    <a:pt x="167360" y="109610"/>
                  </a:lnTo>
                  <a:lnTo>
                    <a:pt x="169083" y="108599"/>
                  </a:lnTo>
                  <a:lnTo>
                    <a:pt x="170419" y="107163"/>
                  </a:lnTo>
                  <a:lnTo>
                    <a:pt x="173695" y="103483"/>
                  </a:lnTo>
                  <a:lnTo>
                    <a:pt x="162730" y="103483"/>
                  </a:lnTo>
                  <a:lnTo>
                    <a:pt x="157437" y="100855"/>
                  </a:lnTo>
                  <a:lnTo>
                    <a:pt x="155466" y="99930"/>
                  </a:lnTo>
                  <a:close/>
                </a:path>
                <a:path w="303529" h="227965">
                  <a:moveTo>
                    <a:pt x="303240" y="101343"/>
                  </a:moveTo>
                  <a:lnTo>
                    <a:pt x="175599" y="101343"/>
                  </a:lnTo>
                  <a:lnTo>
                    <a:pt x="208748" y="132632"/>
                  </a:lnTo>
                  <a:lnTo>
                    <a:pt x="211826" y="135788"/>
                  </a:lnTo>
                  <a:lnTo>
                    <a:pt x="211813" y="140840"/>
                  </a:lnTo>
                  <a:lnTo>
                    <a:pt x="208748" y="143992"/>
                  </a:lnTo>
                  <a:lnTo>
                    <a:pt x="205539" y="147129"/>
                  </a:lnTo>
                  <a:lnTo>
                    <a:pt x="303240" y="147129"/>
                  </a:lnTo>
                  <a:lnTo>
                    <a:pt x="303240" y="101343"/>
                  </a:lnTo>
                  <a:close/>
                </a:path>
                <a:path w="303529" h="227965">
                  <a:moveTo>
                    <a:pt x="303240" y="38797"/>
                  </a:moveTo>
                  <a:lnTo>
                    <a:pt x="204001" y="38797"/>
                  </a:lnTo>
                  <a:lnTo>
                    <a:pt x="206091" y="40887"/>
                  </a:lnTo>
                  <a:lnTo>
                    <a:pt x="206839" y="42253"/>
                  </a:lnTo>
                  <a:lnTo>
                    <a:pt x="164336" y="101754"/>
                  </a:lnTo>
                  <a:lnTo>
                    <a:pt x="162730" y="103483"/>
                  </a:lnTo>
                  <a:lnTo>
                    <a:pt x="173695" y="103483"/>
                  </a:lnTo>
                  <a:lnTo>
                    <a:pt x="175599" y="101343"/>
                  </a:lnTo>
                  <a:lnTo>
                    <a:pt x="303240" y="101343"/>
                  </a:lnTo>
                  <a:lnTo>
                    <a:pt x="303240" y="38797"/>
                  </a:lnTo>
                  <a:close/>
                </a:path>
                <a:path w="303529" h="227965">
                  <a:moveTo>
                    <a:pt x="303240" y="32507"/>
                  </a:moveTo>
                  <a:lnTo>
                    <a:pt x="118232" y="32507"/>
                  </a:lnTo>
                  <a:lnTo>
                    <a:pt x="125403" y="37453"/>
                  </a:lnTo>
                  <a:lnTo>
                    <a:pt x="132345" y="42710"/>
                  </a:lnTo>
                  <a:lnTo>
                    <a:pt x="139046" y="48270"/>
                  </a:lnTo>
                  <a:lnTo>
                    <a:pt x="145496" y="54125"/>
                  </a:lnTo>
                  <a:lnTo>
                    <a:pt x="151191" y="58812"/>
                  </a:lnTo>
                  <a:lnTo>
                    <a:pt x="154224" y="65995"/>
                  </a:lnTo>
                  <a:lnTo>
                    <a:pt x="153731" y="71982"/>
                  </a:lnTo>
                  <a:lnTo>
                    <a:pt x="153619" y="73350"/>
                  </a:lnTo>
                  <a:lnTo>
                    <a:pt x="153524" y="73842"/>
                  </a:lnTo>
                  <a:lnTo>
                    <a:pt x="153438" y="74524"/>
                  </a:lnTo>
                  <a:lnTo>
                    <a:pt x="142414" y="85568"/>
                  </a:lnTo>
                  <a:lnTo>
                    <a:pt x="138907" y="88836"/>
                  </a:lnTo>
                  <a:lnTo>
                    <a:pt x="138141" y="88836"/>
                  </a:lnTo>
                  <a:lnTo>
                    <a:pt x="130795" y="89446"/>
                  </a:lnTo>
                  <a:lnTo>
                    <a:pt x="150009" y="89446"/>
                  </a:lnTo>
                  <a:lnTo>
                    <a:pt x="198541" y="40887"/>
                  </a:lnTo>
                  <a:lnTo>
                    <a:pt x="200599" y="38797"/>
                  </a:lnTo>
                  <a:lnTo>
                    <a:pt x="303240" y="38797"/>
                  </a:lnTo>
                  <a:lnTo>
                    <a:pt x="303240" y="32507"/>
                  </a:lnTo>
                  <a:close/>
                </a:path>
                <a:path w="303529" h="227965">
                  <a:moveTo>
                    <a:pt x="105489" y="50929"/>
                  </a:moveTo>
                  <a:lnTo>
                    <a:pt x="99830" y="50929"/>
                  </a:lnTo>
                  <a:lnTo>
                    <a:pt x="127492" y="78605"/>
                  </a:lnTo>
                  <a:lnTo>
                    <a:pt x="128760" y="78605"/>
                  </a:lnTo>
                  <a:lnTo>
                    <a:pt x="130321" y="77048"/>
                  </a:lnTo>
                  <a:lnTo>
                    <a:pt x="130325" y="75779"/>
                  </a:lnTo>
                  <a:lnTo>
                    <a:pt x="105489" y="50929"/>
                  </a:lnTo>
                  <a:close/>
                </a:path>
                <a:path w="303529" h="227965">
                  <a:moveTo>
                    <a:pt x="112095" y="44292"/>
                  </a:moveTo>
                  <a:lnTo>
                    <a:pt x="106436" y="44292"/>
                  </a:lnTo>
                  <a:lnTo>
                    <a:pt x="134116" y="71982"/>
                  </a:lnTo>
                  <a:lnTo>
                    <a:pt x="135384" y="71982"/>
                  </a:lnTo>
                  <a:lnTo>
                    <a:pt x="136945" y="70420"/>
                  </a:lnTo>
                  <a:lnTo>
                    <a:pt x="136941" y="69151"/>
                  </a:lnTo>
                  <a:lnTo>
                    <a:pt x="112095" y="44292"/>
                  </a:lnTo>
                  <a:close/>
                </a:path>
                <a:path w="303529" h="227965">
                  <a:moveTo>
                    <a:pt x="118687" y="37673"/>
                  </a:moveTo>
                  <a:lnTo>
                    <a:pt x="113060" y="37673"/>
                  </a:lnTo>
                  <a:lnTo>
                    <a:pt x="140736" y="65363"/>
                  </a:lnTo>
                  <a:lnTo>
                    <a:pt x="142004" y="65363"/>
                  </a:lnTo>
                  <a:lnTo>
                    <a:pt x="143565" y="63796"/>
                  </a:lnTo>
                  <a:lnTo>
                    <a:pt x="143565" y="62528"/>
                  </a:lnTo>
                  <a:lnTo>
                    <a:pt x="118687" y="37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0"/>
            <a:ext cx="3096895" cy="6858000"/>
          </a:xfrm>
          <a:custGeom>
            <a:avLst/>
            <a:gdLst/>
            <a:ahLst/>
            <a:cxnLst/>
            <a:rect l="l" t="t" r="r" b="b"/>
            <a:pathLst>
              <a:path w="3096895" h="6858000">
                <a:moveTo>
                  <a:pt x="3096768" y="0"/>
                </a:moveTo>
                <a:lnTo>
                  <a:pt x="0" y="0"/>
                </a:lnTo>
                <a:lnTo>
                  <a:pt x="0" y="6858000"/>
                </a:lnTo>
                <a:lnTo>
                  <a:pt x="3096768" y="6858000"/>
                </a:lnTo>
                <a:lnTo>
                  <a:pt x="3096768" y="0"/>
                </a:lnTo>
                <a:close/>
              </a:path>
            </a:pathLst>
          </a:custGeom>
          <a:solidFill>
            <a:srgbClr val="041F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663" y="2313558"/>
            <a:ext cx="17849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Conscientious</a:t>
            </a:r>
            <a:r>
              <a:rPr dirty="0" sz="1600" spc="-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 i="1">
                <a:solidFill>
                  <a:srgbClr val="FFFFFF"/>
                </a:solidFill>
                <a:latin typeface="Calibri"/>
                <a:cs typeface="Calibri"/>
              </a:rPr>
              <a:t>Youths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3095625" cy="3813810"/>
            <a:chOff x="0" y="0"/>
            <a:chExt cx="3095625" cy="3813810"/>
          </a:xfrm>
        </p:grpSpPr>
        <p:sp>
          <p:nvSpPr>
            <p:cNvPr id="13" name="object 13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44524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704088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704088" y="513588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1667" y="2743200"/>
              <a:ext cx="704215" cy="513715"/>
            </a:xfrm>
            <a:custGeom>
              <a:avLst/>
              <a:gdLst/>
              <a:ahLst/>
              <a:cxnLst/>
              <a:rect l="l" t="t" r="r" b="b"/>
              <a:pathLst>
                <a:path w="704215" h="513714">
                  <a:moveTo>
                    <a:pt x="0" y="513588"/>
                  </a:moveTo>
                  <a:lnTo>
                    <a:pt x="704088" y="513588"/>
                  </a:lnTo>
                  <a:lnTo>
                    <a:pt x="704088" y="0"/>
                  </a:lnTo>
                  <a:lnTo>
                    <a:pt x="0" y="0"/>
                  </a:lnTo>
                  <a:lnTo>
                    <a:pt x="0" y="5135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661416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61416" y="512063"/>
                  </a:lnTo>
                  <a:lnTo>
                    <a:pt x="66141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43683" y="2743200"/>
              <a:ext cx="661670" cy="512445"/>
            </a:xfrm>
            <a:custGeom>
              <a:avLst/>
              <a:gdLst/>
              <a:ahLst/>
              <a:cxnLst/>
              <a:rect l="l" t="t" r="r" b="b"/>
              <a:pathLst>
                <a:path w="661669" h="512445">
                  <a:moveTo>
                    <a:pt x="0" y="512063"/>
                  </a:moveTo>
                  <a:lnTo>
                    <a:pt x="661416" y="512063"/>
                  </a:lnTo>
                  <a:lnTo>
                    <a:pt x="661416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62099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432815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2815" y="512063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62099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0" y="512063"/>
                  </a:moveTo>
                  <a:lnTo>
                    <a:pt x="432815" y="512063"/>
                  </a:lnTo>
                  <a:lnTo>
                    <a:pt x="432815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77567" y="3296411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827532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827532" y="510539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77567" y="3296411"/>
              <a:ext cx="828040" cy="510540"/>
            </a:xfrm>
            <a:custGeom>
              <a:avLst/>
              <a:gdLst/>
              <a:ahLst/>
              <a:cxnLst/>
              <a:rect l="l" t="t" r="r" b="b"/>
              <a:pathLst>
                <a:path w="828039" h="510539">
                  <a:moveTo>
                    <a:pt x="0" y="510539"/>
                  </a:moveTo>
                  <a:lnTo>
                    <a:pt x="827532" y="510539"/>
                  </a:lnTo>
                  <a:lnTo>
                    <a:pt x="827532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62099" y="3296411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2667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266700" y="51053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62099" y="3296411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0" y="510539"/>
                  </a:moveTo>
                  <a:lnTo>
                    <a:pt x="266700" y="510539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667" y="3296411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458723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458723" y="510539"/>
                  </a:lnTo>
                  <a:lnTo>
                    <a:pt x="458723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1667" y="3296411"/>
              <a:ext cx="459105" cy="510540"/>
            </a:xfrm>
            <a:custGeom>
              <a:avLst/>
              <a:gdLst/>
              <a:ahLst/>
              <a:cxnLst/>
              <a:rect l="l" t="t" r="r" b="b"/>
              <a:pathLst>
                <a:path w="459105" h="510539">
                  <a:moveTo>
                    <a:pt x="0" y="510539"/>
                  </a:moveTo>
                  <a:lnTo>
                    <a:pt x="458723" y="510539"/>
                  </a:lnTo>
                  <a:lnTo>
                    <a:pt x="458723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69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97635" y="3296411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615695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615695" y="510539"/>
                  </a:lnTo>
                  <a:lnTo>
                    <a:pt x="61569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7635" y="3296411"/>
              <a:ext cx="615950" cy="510540"/>
            </a:xfrm>
            <a:custGeom>
              <a:avLst/>
              <a:gdLst/>
              <a:ahLst/>
              <a:cxnLst/>
              <a:rect l="l" t="t" r="r" b="b"/>
              <a:pathLst>
                <a:path w="615950" h="510539">
                  <a:moveTo>
                    <a:pt x="0" y="510539"/>
                  </a:moveTo>
                  <a:lnTo>
                    <a:pt x="615695" y="510539"/>
                  </a:lnTo>
                  <a:lnTo>
                    <a:pt x="615695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338" y="2932616"/>
              <a:ext cx="172356" cy="173687"/>
            </a:xfrm>
            <a:prstGeom prst="rect">
              <a:avLst/>
            </a:prstGeom>
          </p:spPr>
        </p:pic>
        <p:pic>
          <p:nvPicPr>
            <p:cNvPr id="30" name="object 30" descr="Man sitting on riverbank at night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095243" cy="2197608"/>
            </a:xfrm>
            <a:prstGeom prst="rect">
              <a:avLst/>
            </a:prstGeom>
          </p:spPr>
        </p:pic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Channel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&amp;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Brand: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/>
              <a:t>double</a:t>
            </a:r>
            <a:r>
              <a:rPr dirty="0" spc="-55"/>
              <a:t> </a:t>
            </a:r>
            <a:r>
              <a:rPr dirty="0"/>
              <a:t>down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existing</a:t>
            </a:r>
            <a:r>
              <a:rPr dirty="0" spc="-85"/>
              <a:t> </a:t>
            </a:r>
            <a:r>
              <a:rPr dirty="0"/>
              <a:t>central</a:t>
            </a:r>
            <a:r>
              <a:rPr dirty="0" spc="-70"/>
              <a:t> </a:t>
            </a:r>
            <a:r>
              <a:rPr dirty="0" spc="-10"/>
              <a:t>retail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352038" y="6345428"/>
            <a:ext cx="7392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1.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Ordered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overall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importance;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2.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Percentages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channel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(i.e.,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online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sales,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in-store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in-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store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sales)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663" y="3965194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highlights: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1668" y="4213859"/>
            <a:ext cx="2313940" cy="0"/>
          </a:xfrm>
          <a:custGeom>
            <a:avLst/>
            <a:gdLst/>
            <a:ahLst/>
            <a:cxnLst/>
            <a:rect l="l" t="t" r="r" b="b"/>
            <a:pathLst>
              <a:path w="2313940" h="0">
                <a:moveTo>
                  <a:pt x="231381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6474333" y="1235963"/>
            <a:ext cx="5520690" cy="1732914"/>
            <a:chOff x="6474333" y="1235963"/>
            <a:chExt cx="5520690" cy="1732914"/>
          </a:xfrm>
        </p:grpSpPr>
        <p:sp>
          <p:nvSpPr>
            <p:cNvPr id="36" name="object 36"/>
            <p:cNvSpPr/>
            <p:nvPr/>
          </p:nvSpPr>
          <p:spPr>
            <a:xfrm>
              <a:off x="6483858" y="1309877"/>
              <a:ext cx="5501640" cy="1649095"/>
            </a:xfrm>
            <a:custGeom>
              <a:avLst/>
              <a:gdLst/>
              <a:ahLst/>
              <a:cxnLst/>
              <a:rect l="l" t="t" r="r" b="b"/>
              <a:pathLst>
                <a:path w="5501640" h="1649095">
                  <a:moveTo>
                    <a:pt x="0" y="1648968"/>
                  </a:moveTo>
                  <a:lnTo>
                    <a:pt x="5501640" y="1648968"/>
                  </a:lnTo>
                  <a:lnTo>
                    <a:pt x="5501640" y="0"/>
                  </a:lnTo>
                  <a:lnTo>
                    <a:pt x="0" y="0"/>
                  </a:lnTo>
                  <a:lnTo>
                    <a:pt x="0" y="1648968"/>
                  </a:lnTo>
                  <a:close/>
                </a:path>
              </a:pathLst>
            </a:custGeom>
            <a:ln w="1904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48700" y="1235963"/>
              <a:ext cx="1169035" cy="140335"/>
            </a:xfrm>
            <a:custGeom>
              <a:avLst/>
              <a:gdLst/>
              <a:ahLst/>
              <a:cxnLst/>
              <a:rect l="l" t="t" r="r" b="b"/>
              <a:pathLst>
                <a:path w="1169034" h="140334">
                  <a:moveTo>
                    <a:pt x="1168907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1168907" y="14020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3354704" y="1300352"/>
            <a:ext cx="2985135" cy="4669155"/>
            <a:chOff x="3354704" y="1300352"/>
            <a:chExt cx="2985135" cy="4669155"/>
          </a:xfrm>
        </p:grpSpPr>
        <p:sp>
          <p:nvSpPr>
            <p:cNvPr id="39" name="object 39"/>
            <p:cNvSpPr/>
            <p:nvPr/>
          </p:nvSpPr>
          <p:spPr>
            <a:xfrm>
              <a:off x="3364229" y="1309877"/>
              <a:ext cx="2966085" cy="4650105"/>
            </a:xfrm>
            <a:custGeom>
              <a:avLst/>
              <a:gdLst/>
              <a:ahLst/>
              <a:cxnLst/>
              <a:rect l="l" t="t" r="r" b="b"/>
              <a:pathLst>
                <a:path w="2966085" h="4650105">
                  <a:moveTo>
                    <a:pt x="0" y="4649724"/>
                  </a:moveTo>
                  <a:lnTo>
                    <a:pt x="2965704" y="4649724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4631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0445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4631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20445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84631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0445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619118" y="224561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84631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0445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562600" y="224561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846320" y="23827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204459" y="25199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846320" y="26570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84631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20445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6320" y="30685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84631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846320" y="320573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846320" y="348005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84631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20445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19118" y="375437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1227226" y="137159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846320" y="37543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19119" y="3754373"/>
              <a:ext cx="2649220" cy="274320"/>
            </a:xfrm>
            <a:custGeom>
              <a:avLst/>
              <a:gdLst/>
              <a:ahLst/>
              <a:cxnLst/>
              <a:rect l="l" t="t" r="r" b="b"/>
              <a:pathLst>
                <a:path w="2649220" h="274320">
                  <a:moveTo>
                    <a:pt x="1227226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1227226" y="274320"/>
                  </a:lnTo>
                  <a:lnTo>
                    <a:pt x="1227226" y="137160"/>
                  </a:lnTo>
                  <a:close/>
                </a:path>
                <a:path w="2649220" h="274320">
                  <a:moveTo>
                    <a:pt x="2648762" y="0"/>
                  </a:moveTo>
                  <a:lnTo>
                    <a:pt x="1943481" y="0"/>
                  </a:lnTo>
                  <a:lnTo>
                    <a:pt x="1943481" y="137160"/>
                  </a:lnTo>
                  <a:lnTo>
                    <a:pt x="2648762" y="137160"/>
                  </a:lnTo>
                  <a:lnTo>
                    <a:pt x="2648762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846319" y="38915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204459" y="38915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562600" y="389153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846319" y="402869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846320" y="40286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204459" y="416585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84631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20445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846320" y="44401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84631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20445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84631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20445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619118" y="4851654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846320" y="4851654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562600" y="4851654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846320" y="498881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846320" y="526313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84631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20445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84631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20445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846320" y="5674677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12768" y="1701800"/>
              <a:ext cx="2661920" cy="4116704"/>
            </a:xfrm>
            <a:custGeom>
              <a:avLst/>
              <a:gdLst/>
              <a:ahLst/>
              <a:cxnLst/>
              <a:rect l="l" t="t" r="r" b="b"/>
              <a:pathLst>
                <a:path w="2661920" h="4116704">
                  <a:moveTo>
                    <a:pt x="1233551" y="0"/>
                  </a:moveTo>
                  <a:lnTo>
                    <a:pt x="1233551" y="4116387"/>
                  </a:lnTo>
                </a:path>
                <a:path w="2661920" h="4116704">
                  <a:moveTo>
                    <a:pt x="1591690" y="0"/>
                  </a:moveTo>
                  <a:lnTo>
                    <a:pt x="1591690" y="4116387"/>
                  </a:lnTo>
                </a:path>
                <a:path w="2661920" h="4116704">
                  <a:moveTo>
                    <a:pt x="1949830" y="0"/>
                  </a:moveTo>
                  <a:lnTo>
                    <a:pt x="1949830" y="4116387"/>
                  </a:lnTo>
                </a:path>
                <a:path w="2661920" h="4116704">
                  <a:moveTo>
                    <a:pt x="0" y="132207"/>
                  </a:moveTo>
                  <a:lnTo>
                    <a:pt x="2661411" y="132207"/>
                  </a:lnTo>
                </a:path>
                <a:path w="2661920" h="4116704">
                  <a:moveTo>
                    <a:pt x="0" y="269366"/>
                  </a:moveTo>
                  <a:lnTo>
                    <a:pt x="2661411" y="269366"/>
                  </a:lnTo>
                </a:path>
                <a:path w="2661920" h="4116704">
                  <a:moveTo>
                    <a:pt x="0" y="406526"/>
                  </a:moveTo>
                  <a:lnTo>
                    <a:pt x="2661411" y="406526"/>
                  </a:lnTo>
                </a:path>
                <a:path w="2661920" h="4116704">
                  <a:moveTo>
                    <a:pt x="0" y="543687"/>
                  </a:moveTo>
                  <a:lnTo>
                    <a:pt x="2661411" y="543687"/>
                  </a:lnTo>
                </a:path>
                <a:path w="2661920" h="4116704">
                  <a:moveTo>
                    <a:pt x="0" y="680974"/>
                  </a:moveTo>
                  <a:lnTo>
                    <a:pt x="2661411" y="680974"/>
                  </a:lnTo>
                </a:path>
                <a:path w="2661920" h="4116704">
                  <a:moveTo>
                    <a:pt x="0" y="818134"/>
                  </a:moveTo>
                  <a:lnTo>
                    <a:pt x="2661411" y="818134"/>
                  </a:lnTo>
                </a:path>
                <a:path w="2661920" h="4116704">
                  <a:moveTo>
                    <a:pt x="0" y="955294"/>
                  </a:moveTo>
                  <a:lnTo>
                    <a:pt x="2661411" y="955294"/>
                  </a:lnTo>
                </a:path>
                <a:path w="2661920" h="4116704">
                  <a:moveTo>
                    <a:pt x="0" y="1092453"/>
                  </a:moveTo>
                  <a:lnTo>
                    <a:pt x="2661411" y="1092453"/>
                  </a:lnTo>
                </a:path>
                <a:path w="2661920" h="4116704">
                  <a:moveTo>
                    <a:pt x="0" y="1229614"/>
                  </a:moveTo>
                  <a:lnTo>
                    <a:pt x="2661411" y="1229614"/>
                  </a:lnTo>
                </a:path>
                <a:path w="2661920" h="4116704">
                  <a:moveTo>
                    <a:pt x="0" y="1366774"/>
                  </a:moveTo>
                  <a:lnTo>
                    <a:pt x="2661411" y="1366774"/>
                  </a:lnTo>
                </a:path>
                <a:path w="2661920" h="4116704">
                  <a:moveTo>
                    <a:pt x="0" y="1503934"/>
                  </a:moveTo>
                  <a:lnTo>
                    <a:pt x="2661411" y="1503934"/>
                  </a:lnTo>
                </a:path>
                <a:path w="2661920" h="4116704">
                  <a:moveTo>
                    <a:pt x="0" y="1641094"/>
                  </a:moveTo>
                  <a:lnTo>
                    <a:pt x="2661411" y="1641094"/>
                  </a:lnTo>
                </a:path>
                <a:path w="2661920" h="4116704">
                  <a:moveTo>
                    <a:pt x="0" y="1778253"/>
                  </a:moveTo>
                  <a:lnTo>
                    <a:pt x="2661411" y="1778253"/>
                  </a:lnTo>
                </a:path>
                <a:path w="2661920" h="4116704">
                  <a:moveTo>
                    <a:pt x="0" y="1915414"/>
                  </a:moveTo>
                  <a:lnTo>
                    <a:pt x="2661411" y="1915414"/>
                  </a:lnTo>
                </a:path>
                <a:path w="2661920" h="4116704">
                  <a:moveTo>
                    <a:pt x="0" y="2052574"/>
                  </a:moveTo>
                  <a:lnTo>
                    <a:pt x="2661411" y="2052574"/>
                  </a:lnTo>
                </a:path>
                <a:path w="2661920" h="4116704">
                  <a:moveTo>
                    <a:pt x="0" y="2189734"/>
                  </a:moveTo>
                  <a:lnTo>
                    <a:pt x="2661411" y="2189734"/>
                  </a:lnTo>
                </a:path>
                <a:path w="2661920" h="4116704">
                  <a:moveTo>
                    <a:pt x="0" y="2326894"/>
                  </a:moveTo>
                  <a:lnTo>
                    <a:pt x="2661411" y="2326894"/>
                  </a:lnTo>
                </a:path>
                <a:path w="2661920" h="4116704">
                  <a:moveTo>
                    <a:pt x="0" y="2464054"/>
                  </a:moveTo>
                  <a:lnTo>
                    <a:pt x="2661411" y="2464054"/>
                  </a:lnTo>
                </a:path>
                <a:path w="2661920" h="4116704">
                  <a:moveTo>
                    <a:pt x="0" y="2601214"/>
                  </a:moveTo>
                  <a:lnTo>
                    <a:pt x="2661411" y="2601214"/>
                  </a:lnTo>
                </a:path>
                <a:path w="2661920" h="4116704">
                  <a:moveTo>
                    <a:pt x="0" y="2738374"/>
                  </a:moveTo>
                  <a:lnTo>
                    <a:pt x="2661411" y="2738374"/>
                  </a:lnTo>
                </a:path>
                <a:path w="2661920" h="4116704">
                  <a:moveTo>
                    <a:pt x="0" y="2875534"/>
                  </a:moveTo>
                  <a:lnTo>
                    <a:pt x="2661411" y="2875534"/>
                  </a:lnTo>
                </a:path>
                <a:path w="2661920" h="4116704">
                  <a:moveTo>
                    <a:pt x="0" y="3012694"/>
                  </a:moveTo>
                  <a:lnTo>
                    <a:pt x="2661411" y="3012694"/>
                  </a:lnTo>
                </a:path>
                <a:path w="2661920" h="4116704">
                  <a:moveTo>
                    <a:pt x="0" y="3149854"/>
                  </a:moveTo>
                  <a:lnTo>
                    <a:pt x="2661411" y="3149854"/>
                  </a:lnTo>
                </a:path>
                <a:path w="2661920" h="4116704">
                  <a:moveTo>
                    <a:pt x="0" y="3287014"/>
                  </a:moveTo>
                  <a:lnTo>
                    <a:pt x="2661411" y="3287014"/>
                  </a:lnTo>
                </a:path>
                <a:path w="2661920" h="4116704">
                  <a:moveTo>
                    <a:pt x="0" y="3424174"/>
                  </a:moveTo>
                  <a:lnTo>
                    <a:pt x="2661411" y="3424174"/>
                  </a:lnTo>
                </a:path>
                <a:path w="2661920" h="4116704">
                  <a:moveTo>
                    <a:pt x="0" y="3561334"/>
                  </a:moveTo>
                  <a:lnTo>
                    <a:pt x="2661411" y="3561334"/>
                  </a:lnTo>
                </a:path>
                <a:path w="2661920" h="4116704">
                  <a:moveTo>
                    <a:pt x="0" y="3698494"/>
                  </a:moveTo>
                  <a:lnTo>
                    <a:pt x="2661411" y="3698494"/>
                  </a:lnTo>
                </a:path>
                <a:path w="2661920" h="4116704">
                  <a:moveTo>
                    <a:pt x="0" y="3835654"/>
                  </a:moveTo>
                  <a:lnTo>
                    <a:pt x="2661411" y="3835654"/>
                  </a:lnTo>
                </a:path>
                <a:path w="2661920" h="4116704">
                  <a:moveTo>
                    <a:pt x="0" y="3972877"/>
                  </a:moveTo>
                  <a:lnTo>
                    <a:pt x="2661411" y="3972877"/>
                  </a:lnTo>
                </a:path>
                <a:path w="2661920" h="4116704">
                  <a:moveTo>
                    <a:pt x="6350" y="0"/>
                  </a:moveTo>
                  <a:lnTo>
                    <a:pt x="6350" y="4116387"/>
                  </a:lnTo>
                </a:path>
                <a:path w="2661920" h="4116704">
                  <a:moveTo>
                    <a:pt x="2655061" y="0"/>
                  </a:moveTo>
                  <a:lnTo>
                    <a:pt x="2655061" y="4116387"/>
                  </a:lnTo>
                </a:path>
                <a:path w="2661920" h="4116704">
                  <a:moveTo>
                    <a:pt x="0" y="6350"/>
                  </a:moveTo>
                  <a:lnTo>
                    <a:pt x="2661411" y="6350"/>
                  </a:lnTo>
                </a:path>
                <a:path w="2661920" h="4116704">
                  <a:moveTo>
                    <a:pt x="0" y="4110037"/>
                  </a:moveTo>
                  <a:lnTo>
                    <a:pt x="2661411" y="41100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8" name="object 8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00543" y="1874520"/>
            <a:ext cx="135635" cy="164591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8035" y="1905000"/>
            <a:ext cx="297179" cy="103632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48139" y="1894332"/>
            <a:ext cx="193501" cy="124967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58500" y="1886711"/>
            <a:ext cx="283464" cy="140208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34318" y="1931077"/>
            <a:ext cx="402243" cy="51477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9700259" y="1894332"/>
            <a:ext cx="243840" cy="123825"/>
            <a:chOff x="9700259" y="1894332"/>
            <a:chExt cx="243840" cy="123825"/>
          </a:xfrm>
        </p:grpSpPr>
        <p:pic>
          <p:nvPicPr>
            <p:cNvPr id="94" name="object 9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00259" y="1894332"/>
              <a:ext cx="117346" cy="123444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40467" y="1894332"/>
              <a:ext cx="103630" cy="123444"/>
            </a:xfrm>
            <a:prstGeom prst="rect">
              <a:avLst/>
            </a:prstGeom>
          </p:spPr>
        </p:pic>
      </p:grpSp>
      <p:pic>
        <p:nvPicPr>
          <p:cNvPr id="96" name="object 96" descr="Lidl - Wikipedia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38816" y="1883664"/>
            <a:ext cx="144779" cy="144779"/>
          </a:xfrm>
          <a:prstGeom prst="rect">
            <a:avLst/>
          </a:prstGeom>
        </p:spPr>
      </p:pic>
      <p:pic>
        <p:nvPicPr>
          <p:cNvPr id="97" name="object 97" descr="Koro_logo_Vektor | KoRo Handels GmbH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13474" y="1894322"/>
            <a:ext cx="139680" cy="127903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11297411" y="1688592"/>
            <a:ext cx="582295" cy="1135380"/>
            <a:chOff x="11297411" y="1688592"/>
            <a:chExt cx="582295" cy="1135380"/>
          </a:xfrm>
        </p:grpSpPr>
        <p:sp>
          <p:nvSpPr>
            <p:cNvPr id="99" name="object 99"/>
            <p:cNvSpPr/>
            <p:nvPr/>
          </p:nvSpPr>
          <p:spPr>
            <a:xfrm>
              <a:off x="11297411" y="1688592"/>
              <a:ext cx="582295" cy="1135380"/>
            </a:xfrm>
            <a:custGeom>
              <a:avLst/>
              <a:gdLst/>
              <a:ahLst/>
              <a:cxnLst/>
              <a:rect l="l" t="t" r="r" b="b"/>
              <a:pathLst>
                <a:path w="582295" h="1135380">
                  <a:moveTo>
                    <a:pt x="582168" y="0"/>
                  </a:moveTo>
                  <a:lnTo>
                    <a:pt x="0" y="0"/>
                  </a:lnTo>
                  <a:lnTo>
                    <a:pt x="0" y="1135379"/>
                  </a:lnTo>
                  <a:lnTo>
                    <a:pt x="582168" y="1135379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FFCC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The Amazon Logo: Inspiring Insights for Business Owners and Marketers -  crowdspring Blog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43715" y="1912620"/>
              <a:ext cx="289559" cy="88391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3606800" y="1699386"/>
            <a:ext cx="7620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Functional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attribute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901946" y="1699386"/>
            <a:ext cx="2470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Brand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221985" y="1699386"/>
            <a:ext cx="324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613272" y="1699386"/>
            <a:ext cx="606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Scores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606800" y="1807311"/>
            <a:ext cx="82676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Tastes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Healthy</a:t>
            </a:r>
            <a:r>
              <a:rPr dirty="0" sz="800" spc="-4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ingredients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quality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606800" y="2233422"/>
            <a:ext cx="100456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All-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natural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organic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606800" y="2370582"/>
            <a:ext cx="10693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for</a:t>
            </a:r>
            <a:r>
              <a:rPr dirty="0" sz="800" spc="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everyday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eating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606800" y="2507742"/>
            <a:ext cx="8985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No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artificial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additives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373754" y="2630271"/>
            <a:ext cx="18243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 marR="856615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Great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value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Affordably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priced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Premium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606800" y="3056077"/>
            <a:ext cx="6019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373754" y="3193795"/>
            <a:ext cx="18243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protein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373754" y="3330955"/>
            <a:ext cx="18243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Provide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energy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boost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606800" y="3468115"/>
            <a:ext cx="4978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Sustainable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606800" y="3605276"/>
            <a:ext cx="6540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Locally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sourced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606800" y="3742435"/>
            <a:ext cx="12122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Fair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ethnical</a:t>
            </a:r>
            <a:r>
              <a:rPr dirty="0" sz="800" spc="-1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production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606800" y="3879596"/>
            <a:ext cx="6845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Vegan</a:t>
            </a:r>
            <a:r>
              <a:rPr dirty="0" sz="800" spc="-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kind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606800" y="4016755"/>
            <a:ext cx="1125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Many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products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flavors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06800" y="4153915"/>
            <a:ext cx="657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Low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calories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06800" y="4291076"/>
            <a:ext cx="11017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Versatility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cook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606800" y="4428490"/>
            <a:ext cx="911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Available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everywhere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606800" y="4565650"/>
            <a:ext cx="83311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Unique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original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606800" y="4702809"/>
            <a:ext cx="8026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Easily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recognizable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606800" y="4839970"/>
            <a:ext cx="8464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Socially</a:t>
            </a:r>
            <a:r>
              <a:rPr dirty="0" sz="800" spc="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responsible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06800" y="4977129"/>
            <a:ext cx="10604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Transparent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supply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06800" y="5114290"/>
            <a:ext cx="3371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606800" y="5251450"/>
            <a:ext cx="6870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Popular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373754" y="5388609"/>
            <a:ext cx="18243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Availability</a:t>
            </a:r>
            <a:r>
              <a:rPr dirty="0" sz="800" spc="6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mass-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prod.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606800" y="5525820"/>
            <a:ext cx="4933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Gluten-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free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606800" y="5662676"/>
            <a:ext cx="7296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Modern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new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4492752" y="1235963"/>
            <a:ext cx="1070610" cy="4580890"/>
            <a:chOff x="4492752" y="1235963"/>
            <a:chExt cx="1070610" cy="4580890"/>
          </a:xfrm>
        </p:grpSpPr>
        <p:pic>
          <p:nvPicPr>
            <p:cNvPr id="131" name="object 131" descr="Koro_logo_Vektor | KoRo Handels GmbH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4121" y="1469042"/>
              <a:ext cx="198054" cy="181758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4849368" y="1447800"/>
              <a:ext cx="708660" cy="4364355"/>
            </a:xfrm>
            <a:custGeom>
              <a:avLst/>
              <a:gdLst/>
              <a:ahLst/>
              <a:cxnLst/>
              <a:rect l="l" t="t" r="r" b="b"/>
              <a:pathLst>
                <a:path w="708660" h="4364355">
                  <a:moveTo>
                    <a:pt x="0" y="0"/>
                  </a:moveTo>
                  <a:lnTo>
                    <a:pt x="0" y="4364037"/>
                  </a:lnTo>
                </a:path>
                <a:path w="708660" h="4364355">
                  <a:moveTo>
                    <a:pt x="708660" y="0"/>
                  </a:moveTo>
                  <a:lnTo>
                    <a:pt x="708660" y="4364037"/>
                  </a:lnTo>
                </a:path>
              </a:pathLst>
            </a:custGeom>
            <a:ln w="9525">
              <a:solidFill>
                <a:srgbClr val="30333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4492752" y="1235963"/>
              <a:ext cx="707390" cy="140335"/>
            </a:xfrm>
            <a:custGeom>
              <a:avLst/>
              <a:gdLst/>
              <a:ahLst/>
              <a:cxnLst/>
              <a:rect l="l" t="t" r="r" b="b"/>
              <a:pathLst>
                <a:path w="707389" h="140334">
                  <a:moveTo>
                    <a:pt x="707136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707136" y="140208"/>
                  </a:lnTo>
                  <a:lnTo>
                    <a:pt x="707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/>
          <p:cNvSpPr txBox="1"/>
          <p:nvPr/>
        </p:nvSpPr>
        <p:spPr>
          <a:xfrm>
            <a:off x="4509770" y="1217803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1</a:t>
            </a:r>
            <a:endParaRPr baseline="27777" sz="9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8662669" y="1217803"/>
            <a:ext cx="1144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2</a:t>
            </a:r>
            <a:endParaRPr baseline="27777" sz="900">
              <a:latin typeface="Calibri"/>
              <a:cs typeface="Calibri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7133843" y="1478280"/>
            <a:ext cx="4197350" cy="123825"/>
            <a:chOff x="7133843" y="1478280"/>
            <a:chExt cx="4197350" cy="123825"/>
          </a:xfrm>
        </p:grpSpPr>
        <p:sp>
          <p:nvSpPr>
            <p:cNvPr id="137" name="object 137"/>
            <p:cNvSpPr/>
            <p:nvPr/>
          </p:nvSpPr>
          <p:spPr>
            <a:xfrm>
              <a:off x="7133843" y="1501140"/>
              <a:ext cx="4197350" cy="76200"/>
            </a:xfrm>
            <a:custGeom>
              <a:avLst/>
              <a:gdLst/>
              <a:ahLst/>
              <a:cxnLst/>
              <a:rect l="l" t="t" r="r" b="b"/>
              <a:pathLst>
                <a:path w="41973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0"/>
                  </a:lnTo>
                  <a:lnTo>
                    <a:pt x="38100" y="46100"/>
                  </a:lnTo>
                  <a:lnTo>
                    <a:pt x="38100" y="30225"/>
                  </a:lnTo>
                  <a:lnTo>
                    <a:pt x="74615" y="30225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197350" h="76200">
                  <a:moveTo>
                    <a:pt x="4159250" y="0"/>
                  </a:moveTo>
                  <a:lnTo>
                    <a:pt x="4144402" y="2988"/>
                  </a:lnTo>
                  <a:lnTo>
                    <a:pt x="4132294" y="11144"/>
                  </a:lnTo>
                  <a:lnTo>
                    <a:pt x="4124138" y="23252"/>
                  </a:lnTo>
                  <a:lnTo>
                    <a:pt x="4121150" y="38100"/>
                  </a:lnTo>
                  <a:lnTo>
                    <a:pt x="4124138" y="52947"/>
                  </a:lnTo>
                  <a:lnTo>
                    <a:pt x="4132294" y="65055"/>
                  </a:lnTo>
                  <a:lnTo>
                    <a:pt x="4144402" y="73211"/>
                  </a:lnTo>
                  <a:lnTo>
                    <a:pt x="4159250" y="76200"/>
                  </a:lnTo>
                  <a:lnTo>
                    <a:pt x="4174097" y="73211"/>
                  </a:lnTo>
                  <a:lnTo>
                    <a:pt x="4186205" y="65055"/>
                  </a:lnTo>
                  <a:lnTo>
                    <a:pt x="4194361" y="52947"/>
                  </a:lnTo>
                  <a:lnTo>
                    <a:pt x="4195739" y="46100"/>
                  </a:lnTo>
                  <a:lnTo>
                    <a:pt x="4159250" y="46100"/>
                  </a:lnTo>
                  <a:lnTo>
                    <a:pt x="4159250" y="30225"/>
                  </a:lnTo>
                  <a:lnTo>
                    <a:pt x="4195765" y="30225"/>
                  </a:lnTo>
                  <a:lnTo>
                    <a:pt x="4194361" y="23252"/>
                  </a:lnTo>
                  <a:lnTo>
                    <a:pt x="4186205" y="11144"/>
                  </a:lnTo>
                  <a:lnTo>
                    <a:pt x="4174097" y="2988"/>
                  </a:lnTo>
                  <a:lnTo>
                    <a:pt x="4159250" y="0"/>
                  </a:lnTo>
                  <a:close/>
                </a:path>
                <a:path w="4197350" h="76200">
                  <a:moveTo>
                    <a:pt x="74615" y="30225"/>
                  </a:moveTo>
                  <a:lnTo>
                    <a:pt x="38100" y="30225"/>
                  </a:lnTo>
                  <a:lnTo>
                    <a:pt x="38100" y="46100"/>
                  </a:lnTo>
                  <a:lnTo>
                    <a:pt x="74589" y="46100"/>
                  </a:lnTo>
                  <a:lnTo>
                    <a:pt x="76200" y="38100"/>
                  </a:lnTo>
                  <a:lnTo>
                    <a:pt x="74615" y="30225"/>
                  </a:lnTo>
                  <a:close/>
                </a:path>
                <a:path w="4197350" h="76200">
                  <a:moveTo>
                    <a:pt x="4122734" y="30225"/>
                  </a:moveTo>
                  <a:lnTo>
                    <a:pt x="74615" y="30225"/>
                  </a:lnTo>
                  <a:lnTo>
                    <a:pt x="76200" y="38100"/>
                  </a:lnTo>
                  <a:lnTo>
                    <a:pt x="74589" y="46100"/>
                  </a:lnTo>
                  <a:lnTo>
                    <a:pt x="4122760" y="46100"/>
                  </a:lnTo>
                  <a:lnTo>
                    <a:pt x="4121150" y="38100"/>
                  </a:lnTo>
                  <a:lnTo>
                    <a:pt x="4122734" y="30225"/>
                  </a:lnTo>
                  <a:close/>
                </a:path>
                <a:path w="4197350" h="76200">
                  <a:moveTo>
                    <a:pt x="4195765" y="30225"/>
                  </a:moveTo>
                  <a:lnTo>
                    <a:pt x="4159250" y="30225"/>
                  </a:lnTo>
                  <a:lnTo>
                    <a:pt x="4159250" y="46100"/>
                  </a:lnTo>
                  <a:lnTo>
                    <a:pt x="4195739" y="46100"/>
                  </a:lnTo>
                  <a:lnTo>
                    <a:pt x="4197350" y="38100"/>
                  </a:lnTo>
                  <a:lnTo>
                    <a:pt x="4195765" y="30225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8953499" y="1478280"/>
              <a:ext cx="866140" cy="123825"/>
            </a:xfrm>
            <a:custGeom>
              <a:avLst/>
              <a:gdLst/>
              <a:ahLst/>
              <a:cxnLst/>
              <a:rect l="l" t="t" r="r" b="b"/>
              <a:pathLst>
                <a:path w="866140" h="123825">
                  <a:moveTo>
                    <a:pt x="865631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865631" y="123444"/>
                  </a:lnTo>
                  <a:lnTo>
                    <a:pt x="86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9049639" y="1458213"/>
            <a:ext cx="6769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In-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8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specific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140" name="object 140"/>
          <p:cNvGraphicFramePr>
            <a:graphicFrameLocks noGrp="1"/>
          </p:cNvGraphicFramePr>
          <p:nvPr/>
        </p:nvGraphicFramePr>
        <p:xfrm>
          <a:off x="6576441" y="1679829"/>
          <a:ext cx="539305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/>
                <a:gridCol w="587375"/>
                <a:gridCol w="590550"/>
                <a:gridCol w="587375"/>
                <a:gridCol w="588644"/>
                <a:gridCol w="587374"/>
                <a:gridCol w="588645"/>
                <a:gridCol w="589279"/>
                <a:gridCol w="588010"/>
              </a:tblGrid>
              <a:tr h="194310">
                <a:tc row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Supermarkets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Drugstores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Discount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Specialty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BE9900"/>
                          </a:solidFill>
                          <a:latin typeface="Calibri"/>
                          <a:cs typeface="Calibri"/>
                        </a:rPr>
                        <a:t>Mktplace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2139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33%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8%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7%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33%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FFCC00">
                        <a:alpha val="10195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41" name="object 141"/>
          <p:cNvGrpSpPr/>
          <p:nvPr/>
        </p:nvGrpSpPr>
        <p:grpSpPr>
          <a:xfrm>
            <a:off x="6474333" y="3055620"/>
            <a:ext cx="2701290" cy="1368425"/>
            <a:chOff x="6474333" y="3055620"/>
            <a:chExt cx="2701290" cy="1368425"/>
          </a:xfrm>
        </p:grpSpPr>
        <p:sp>
          <p:nvSpPr>
            <p:cNvPr id="142" name="object 142"/>
            <p:cNvSpPr/>
            <p:nvPr/>
          </p:nvSpPr>
          <p:spPr>
            <a:xfrm>
              <a:off x="6483858" y="3120390"/>
              <a:ext cx="2682240" cy="1294130"/>
            </a:xfrm>
            <a:custGeom>
              <a:avLst/>
              <a:gdLst/>
              <a:ahLst/>
              <a:cxnLst/>
              <a:rect l="l" t="t" r="r" b="b"/>
              <a:pathLst>
                <a:path w="2682240" h="1294129">
                  <a:moveTo>
                    <a:pt x="0" y="1293875"/>
                  </a:moveTo>
                  <a:lnTo>
                    <a:pt x="2682240" y="1293875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293875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353300" y="3055620"/>
              <a:ext cx="940435" cy="139065"/>
            </a:xfrm>
            <a:custGeom>
              <a:avLst/>
              <a:gdLst/>
              <a:ahLst/>
              <a:cxnLst/>
              <a:rect l="l" t="t" r="r" b="b"/>
              <a:pathLst>
                <a:path w="940434" h="139064">
                  <a:moveTo>
                    <a:pt x="940307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940307" y="138684"/>
                  </a:lnTo>
                  <a:lnTo>
                    <a:pt x="940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/>
          <p:cNvGrpSpPr/>
          <p:nvPr/>
        </p:nvGrpSpPr>
        <p:grpSpPr>
          <a:xfrm>
            <a:off x="6474333" y="4507991"/>
            <a:ext cx="2701290" cy="1473835"/>
            <a:chOff x="6474333" y="4507991"/>
            <a:chExt cx="2701290" cy="1473835"/>
          </a:xfrm>
        </p:grpSpPr>
        <p:sp>
          <p:nvSpPr>
            <p:cNvPr id="145" name="object 145"/>
            <p:cNvSpPr/>
            <p:nvPr/>
          </p:nvSpPr>
          <p:spPr>
            <a:xfrm>
              <a:off x="6483858" y="4586477"/>
              <a:ext cx="2682240" cy="1385570"/>
            </a:xfrm>
            <a:custGeom>
              <a:avLst/>
              <a:gdLst/>
              <a:ahLst/>
              <a:cxnLst/>
              <a:rect l="l" t="t" r="r" b="b"/>
              <a:pathLst>
                <a:path w="2682240" h="1385570">
                  <a:moveTo>
                    <a:pt x="0" y="1385316"/>
                  </a:moveTo>
                  <a:lnTo>
                    <a:pt x="2682240" y="1385316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385316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574280" y="4507991"/>
              <a:ext cx="498475" cy="140335"/>
            </a:xfrm>
            <a:custGeom>
              <a:avLst/>
              <a:gdLst/>
              <a:ahLst/>
              <a:cxnLst/>
              <a:rect l="l" t="t" r="r" b="b"/>
              <a:pathLst>
                <a:path w="498475" h="140335">
                  <a:moveTo>
                    <a:pt x="498348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498348" y="140207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7" name="object 14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17232" y="2240660"/>
            <a:ext cx="137922" cy="139446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03972" y="2240660"/>
            <a:ext cx="139446" cy="139446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92236" y="2240660"/>
            <a:ext cx="139446" cy="139446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80501" y="2240660"/>
            <a:ext cx="139446" cy="139446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32032" y="2240660"/>
            <a:ext cx="137922" cy="139446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168765" y="2240660"/>
            <a:ext cx="137921" cy="139446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755505" y="2240660"/>
            <a:ext cx="139446" cy="139446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43768" y="2240660"/>
            <a:ext cx="139446" cy="139446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18772" y="2240660"/>
            <a:ext cx="139446" cy="139446"/>
          </a:xfrm>
          <a:prstGeom prst="rect">
            <a:avLst/>
          </a:prstGeom>
        </p:spPr>
      </p:pic>
      <p:sp>
        <p:nvSpPr>
          <p:cNvPr id="156" name="object 156"/>
          <p:cNvSpPr txBox="1"/>
          <p:nvPr/>
        </p:nvSpPr>
        <p:spPr>
          <a:xfrm>
            <a:off x="7432040" y="3036823"/>
            <a:ext cx="784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7651242" y="4490466"/>
            <a:ext cx="344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333356" y="3055620"/>
            <a:ext cx="2661920" cy="2926080"/>
            <a:chOff x="9333356" y="3055620"/>
            <a:chExt cx="2661920" cy="2926080"/>
          </a:xfrm>
        </p:grpSpPr>
        <p:sp>
          <p:nvSpPr>
            <p:cNvPr id="159" name="object 159"/>
            <p:cNvSpPr/>
            <p:nvPr/>
          </p:nvSpPr>
          <p:spPr>
            <a:xfrm>
              <a:off x="9342881" y="3118866"/>
              <a:ext cx="2642870" cy="2853055"/>
            </a:xfrm>
            <a:custGeom>
              <a:avLst/>
              <a:gdLst/>
              <a:ahLst/>
              <a:cxnLst/>
              <a:rect l="l" t="t" r="r" b="b"/>
              <a:pathLst>
                <a:path w="2642870" h="2853054">
                  <a:moveTo>
                    <a:pt x="0" y="2852927"/>
                  </a:moveTo>
                  <a:lnTo>
                    <a:pt x="2642616" y="2852927"/>
                  </a:lnTo>
                  <a:lnTo>
                    <a:pt x="2642616" y="0"/>
                  </a:lnTo>
                  <a:lnTo>
                    <a:pt x="0" y="0"/>
                  </a:lnTo>
                  <a:lnTo>
                    <a:pt x="0" y="2852927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0067543" y="3055620"/>
              <a:ext cx="1193800" cy="139065"/>
            </a:xfrm>
            <a:custGeom>
              <a:avLst/>
              <a:gdLst/>
              <a:ahLst/>
              <a:cxnLst/>
              <a:rect l="l" t="t" r="r" b="b"/>
              <a:pathLst>
                <a:path w="1193800" h="139064">
                  <a:moveTo>
                    <a:pt x="1193292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1193292" y="138684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/>
          <p:cNvSpPr txBox="1"/>
          <p:nvPr/>
        </p:nvSpPr>
        <p:spPr>
          <a:xfrm>
            <a:off x="10171938" y="3036823"/>
            <a:ext cx="984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Sources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of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Influence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8938386" y="4744211"/>
            <a:ext cx="103505" cy="1075055"/>
            <a:chOff x="8938386" y="4744211"/>
            <a:chExt cx="103505" cy="1075055"/>
          </a:xfrm>
        </p:grpSpPr>
        <p:sp>
          <p:nvSpPr>
            <p:cNvPr id="163" name="object 163"/>
            <p:cNvSpPr/>
            <p:nvPr/>
          </p:nvSpPr>
          <p:spPr>
            <a:xfrm>
              <a:off x="8938386" y="4744211"/>
              <a:ext cx="103505" cy="1075055"/>
            </a:xfrm>
            <a:custGeom>
              <a:avLst/>
              <a:gdLst/>
              <a:ahLst/>
              <a:cxnLst/>
              <a:rect l="l" t="t" r="r" b="b"/>
              <a:pathLst>
                <a:path w="103504" h="1075054">
                  <a:moveTo>
                    <a:pt x="7112" y="978712"/>
                  </a:moveTo>
                  <a:lnTo>
                    <a:pt x="1016" y="982243"/>
                  </a:lnTo>
                  <a:lnTo>
                    <a:pt x="0" y="986129"/>
                  </a:lnTo>
                  <a:lnTo>
                    <a:pt x="51689" y="1074762"/>
                  </a:lnTo>
                  <a:lnTo>
                    <a:pt x="59034" y="1062164"/>
                  </a:lnTo>
                  <a:lnTo>
                    <a:pt x="45339" y="1062164"/>
                  </a:lnTo>
                  <a:lnTo>
                    <a:pt x="45339" y="1038719"/>
                  </a:lnTo>
                  <a:lnTo>
                    <a:pt x="10922" y="979728"/>
                  </a:lnTo>
                  <a:lnTo>
                    <a:pt x="7112" y="978712"/>
                  </a:lnTo>
                  <a:close/>
                </a:path>
                <a:path w="103504" h="1075054">
                  <a:moveTo>
                    <a:pt x="45339" y="1038719"/>
                  </a:moveTo>
                  <a:lnTo>
                    <a:pt x="45339" y="1062164"/>
                  </a:lnTo>
                  <a:lnTo>
                    <a:pt x="58039" y="1062164"/>
                  </a:lnTo>
                  <a:lnTo>
                    <a:pt x="58039" y="1058964"/>
                  </a:lnTo>
                  <a:lnTo>
                    <a:pt x="46228" y="1058964"/>
                  </a:lnTo>
                  <a:lnTo>
                    <a:pt x="51689" y="1049603"/>
                  </a:lnTo>
                  <a:lnTo>
                    <a:pt x="45339" y="1038719"/>
                  </a:lnTo>
                  <a:close/>
                </a:path>
                <a:path w="103504" h="1075054">
                  <a:moveTo>
                    <a:pt x="96266" y="978712"/>
                  </a:moveTo>
                  <a:lnTo>
                    <a:pt x="92456" y="979728"/>
                  </a:lnTo>
                  <a:lnTo>
                    <a:pt x="58039" y="1038719"/>
                  </a:lnTo>
                  <a:lnTo>
                    <a:pt x="58039" y="1062164"/>
                  </a:lnTo>
                  <a:lnTo>
                    <a:pt x="59034" y="1062164"/>
                  </a:lnTo>
                  <a:lnTo>
                    <a:pt x="103378" y="986129"/>
                  </a:lnTo>
                  <a:lnTo>
                    <a:pt x="102362" y="982243"/>
                  </a:lnTo>
                  <a:lnTo>
                    <a:pt x="96266" y="978712"/>
                  </a:lnTo>
                  <a:close/>
                </a:path>
                <a:path w="103504" h="1075054">
                  <a:moveTo>
                    <a:pt x="51689" y="1049603"/>
                  </a:moveTo>
                  <a:lnTo>
                    <a:pt x="46228" y="1058964"/>
                  </a:lnTo>
                  <a:lnTo>
                    <a:pt x="57150" y="1058964"/>
                  </a:lnTo>
                  <a:lnTo>
                    <a:pt x="51689" y="1049603"/>
                  </a:lnTo>
                  <a:close/>
                </a:path>
                <a:path w="103504" h="1075054">
                  <a:moveTo>
                    <a:pt x="58039" y="1038719"/>
                  </a:moveTo>
                  <a:lnTo>
                    <a:pt x="51689" y="1049603"/>
                  </a:lnTo>
                  <a:lnTo>
                    <a:pt x="57150" y="1058964"/>
                  </a:lnTo>
                  <a:lnTo>
                    <a:pt x="58039" y="1058964"/>
                  </a:lnTo>
                  <a:lnTo>
                    <a:pt x="58039" y="1038719"/>
                  </a:lnTo>
                  <a:close/>
                </a:path>
                <a:path w="103504" h="1075054">
                  <a:moveTo>
                    <a:pt x="58039" y="0"/>
                  </a:moveTo>
                  <a:lnTo>
                    <a:pt x="45339" y="0"/>
                  </a:lnTo>
                  <a:lnTo>
                    <a:pt x="45339" y="1038719"/>
                  </a:lnTo>
                  <a:lnTo>
                    <a:pt x="51689" y="1049603"/>
                  </a:lnTo>
                  <a:lnTo>
                    <a:pt x="58039" y="1038719"/>
                  </a:lnTo>
                  <a:lnTo>
                    <a:pt x="58039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8944355" y="4907279"/>
              <a:ext cx="91440" cy="673735"/>
            </a:xfrm>
            <a:custGeom>
              <a:avLst/>
              <a:gdLst/>
              <a:ahLst/>
              <a:cxnLst/>
              <a:rect l="l" t="t" r="r" b="b"/>
              <a:pathLst>
                <a:path w="91440" h="673735">
                  <a:moveTo>
                    <a:pt x="91440" y="0"/>
                  </a:moveTo>
                  <a:lnTo>
                    <a:pt x="0" y="0"/>
                  </a:lnTo>
                  <a:lnTo>
                    <a:pt x="0" y="673608"/>
                  </a:lnTo>
                  <a:lnTo>
                    <a:pt x="91440" y="67360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8947404" y="4910245"/>
            <a:ext cx="101600" cy="6711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6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8027934" y="4739449"/>
            <a:ext cx="798195" cy="1039494"/>
            <a:chOff x="8027934" y="4739449"/>
            <a:chExt cx="798195" cy="1039494"/>
          </a:xfrm>
        </p:grpSpPr>
        <p:pic>
          <p:nvPicPr>
            <p:cNvPr id="167" name="object 1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50463" y="4760236"/>
              <a:ext cx="117529" cy="118654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47360" y="4981148"/>
              <a:ext cx="127014" cy="128911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36169" y="5202655"/>
              <a:ext cx="143815" cy="147737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32492" y="5437087"/>
              <a:ext cx="153876" cy="136503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8027924" y="5691441"/>
              <a:ext cx="161925" cy="87630"/>
            </a:xfrm>
            <a:custGeom>
              <a:avLst/>
              <a:gdLst/>
              <a:ahLst/>
              <a:cxnLst/>
              <a:rect l="l" t="t" r="r" b="b"/>
              <a:pathLst>
                <a:path w="161925" h="87629">
                  <a:moveTo>
                    <a:pt x="33058" y="18224"/>
                  </a:moveTo>
                  <a:lnTo>
                    <a:pt x="18364" y="18224"/>
                  </a:lnTo>
                  <a:lnTo>
                    <a:pt x="18364" y="69227"/>
                  </a:lnTo>
                  <a:lnTo>
                    <a:pt x="33058" y="69227"/>
                  </a:lnTo>
                  <a:lnTo>
                    <a:pt x="33058" y="18224"/>
                  </a:lnTo>
                  <a:close/>
                </a:path>
                <a:path w="161925" h="87629">
                  <a:moveTo>
                    <a:pt x="161607" y="30607"/>
                  </a:moveTo>
                  <a:lnTo>
                    <a:pt x="158305" y="27330"/>
                  </a:lnTo>
                  <a:lnTo>
                    <a:pt x="146913" y="27330"/>
                  </a:lnTo>
                  <a:lnTo>
                    <a:pt x="146913" y="10934"/>
                  </a:lnTo>
                  <a:lnTo>
                    <a:pt x="146913" y="3276"/>
                  </a:lnTo>
                  <a:lnTo>
                    <a:pt x="143611" y="0"/>
                  </a:lnTo>
                  <a:lnTo>
                    <a:pt x="135902" y="0"/>
                  </a:lnTo>
                  <a:lnTo>
                    <a:pt x="135902" y="10934"/>
                  </a:lnTo>
                  <a:lnTo>
                    <a:pt x="135902" y="76517"/>
                  </a:lnTo>
                  <a:lnTo>
                    <a:pt x="11023" y="76517"/>
                  </a:lnTo>
                  <a:lnTo>
                    <a:pt x="11023" y="10934"/>
                  </a:lnTo>
                  <a:lnTo>
                    <a:pt x="135902" y="10934"/>
                  </a:lnTo>
                  <a:lnTo>
                    <a:pt x="135902" y="0"/>
                  </a:lnTo>
                  <a:lnTo>
                    <a:pt x="3314" y="0"/>
                  </a:lnTo>
                  <a:lnTo>
                    <a:pt x="0" y="3276"/>
                  </a:lnTo>
                  <a:lnTo>
                    <a:pt x="0" y="84162"/>
                  </a:lnTo>
                  <a:lnTo>
                    <a:pt x="3314" y="87439"/>
                  </a:lnTo>
                  <a:lnTo>
                    <a:pt x="143611" y="87439"/>
                  </a:lnTo>
                  <a:lnTo>
                    <a:pt x="146913" y="84162"/>
                  </a:lnTo>
                  <a:lnTo>
                    <a:pt x="146913" y="76517"/>
                  </a:lnTo>
                  <a:lnTo>
                    <a:pt x="146913" y="60121"/>
                  </a:lnTo>
                  <a:lnTo>
                    <a:pt x="158305" y="60121"/>
                  </a:lnTo>
                  <a:lnTo>
                    <a:pt x="161607" y="56832"/>
                  </a:lnTo>
                  <a:lnTo>
                    <a:pt x="161607" y="30607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8321040" y="47442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49987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99872" y="153924"/>
                  </a:lnTo>
                  <a:lnTo>
                    <a:pt x="4998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8321040" y="47442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0" y="153924"/>
                  </a:moveTo>
                  <a:lnTo>
                    <a:pt x="499872" y="15392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4" name="object 174"/>
          <p:cNvSpPr txBox="1"/>
          <p:nvPr/>
        </p:nvSpPr>
        <p:spPr>
          <a:xfrm>
            <a:off x="8321040" y="4724780"/>
            <a:ext cx="50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€3.96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8316277" y="4968049"/>
            <a:ext cx="509905" cy="163830"/>
            <a:chOff x="8316277" y="4968049"/>
            <a:chExt cx="509905" cy="163830"/>
          </a:xfrm>
        </p:grpSpPr>
        <p:sp>
          <p:nvSpPr>
            <p:cNvPr id="176" name="object 176"/>
            <p:cNvSpPr/>
            <p:nvPr/>
          </p:nvSpPr>
          <p:spPr>
            <a:xfrm>
              <a:off x="8321040" y="49728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49987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99872" y="153924"/>
                  </a:lnTo>
                  <a:lnTo>
                    <a:pt x="499872" y="0"/>
                  </a:lnTo>
                  <a:close/>
                </a:path>
              </a:pathLst>
            </a:custGeom>
            <a:solidFill>
              <a:srgbClr val="FF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8321040" y="49728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0" y="153924"/>
                  </a:moveTo>
                  <a:lnTo>
                    <a:pt x="499872" y="15392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8" name="object 178"/>
          <p:cNvSpPr txBox="1"/>
          <p:nvPr/>
        </p:nvSpPr>
        <p:spPr>
          <a:xfrm>
            <a:off x="8321040" y="4953076"/>
            <a:ext cx="50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CC0000"/>
                </a:solidFill>
                <a:latin typeface="Calibri"/>
                <a:cs typeface="Calibri"/>
              </a:rPr>
              <a:t>€2.42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8316277" y="5196649"/>
            <a:ext cx="509905" cy="163830"/>
            <a:chOff x="8316277" y="5196649"/>
            <a:chExt cx="509905" cy="163830"/>
          </a:xfrm>
        </p:grpSpPr>
        <p:sp>
          <p:nvSpPr>
            <p:cNvPr id="180" name="object 180"/>
            <p:cNvSpPr/>
            <p:nvPr/>
          </p:nvSpPr>
          <p:spPr>
            <a:xfrm>
              <a:off x="8321040" y="52014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49987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99872" y="153924"/>
                  </a:lnTo>
                  <a:lnTo>
                    <a:pt x="4998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8321040" y="52014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0" y="153924"/>
                  </a:moveTo>
                  <a:lnTo>
                    <a:pt x="499872" y="15392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/>
          <p:cNvSpPr txBox="1"/>
          <p:nvPr/>
        </p:nvSpPr>
        <p:spPr>
          <a:xfrm>
            <a:off x="8321040" y="5182361"/>
            <a:ext cx="50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€4.50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8316277" y="5425249"/>
            <a:ext cx="509905" cy="163830"/>
            <a:chOff x="8316277" y="5425249"/>
            <a:chExt cx="509905" cy="163830"/>
          </a:xfrm>
        </p:grpSpPr>
        <p:sp>
          <p:nvSpPr>
            <p:cNvPr id="184" name="object 184"/>
            <p:cNvSpPr/>
            <p:nvPr/>
          </p:nvSpPr>
          <p:spPr>
            <a:xfrm>
              <a:off x="8321040" y="54300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49987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99872" y="153924"/>
                  </a:lnTo>
                  <a:lnTo>
                    <a:pt x="499872" y="0"/>
                  </a:lnTo>
                  <a:close/>
                </a:path>
              </a:pathLst>
            </a:custGeom>
            <a:solidFill>
              <a:srgbClr val="C1FF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8321040" y="54300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0" y="153924"/>
                  </a:moveTo>
                  <a:lnTo>
                    <a:pt x="499872" y="15392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4">
              <a:solidFill>
                <a:srgbClr val="0079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8321040" y="5410961"/>
            <a:ext cx="50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00853C"/>
                </a:solidFill>
                <a:latin typeface="Calibri"/>
                <a:cs typeface="Calibri"/>
              </a:rPr>
              <a:t>€9.19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8316277" y="5653849"/>
            <a:ext cx="509905" cy="163830"/>
            <a:chOff x="8316277" y="5653849"/>
            <a:chExt cx="509905" cy="163830"/>
          </a:xfrm>
        </p:grpSpPr>
        <p:sp>
          <p:nvSpPr>
            <p:cNvPr id="188" name="object 188"/>
            <p:cNvSpPr/>
            <p:nvPr/>
          </p:nvSpPr>
          <p:spPr>
            <a:xfrm>
              <a:off x="8321040" y="56586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49987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99872" y="153924"/>
                  </a:lnTo>
                  <a:lnTo>
                    <a:pt x="499872" y="0"/>
                  </a:lnTo>
                  <a:close/>
                </a:path>
              </a:pathLst>
            </a:custGeom>
            <a:solidFill>
              <a:srgbClr val="FF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8321040" y="5658611"/>
              <a:ext cx="500380" cy="154305"/>
            </a:xfrm>
            <a:custGeom>
              <a:avLst/>
              <a:gdLst/>
              <a:ahLst/>
              <a:cxnLst/>
              <a:rect l="l" t="t" r="r" b="b"/>
              <a:pathLst>
                <a:path w="500379" h="154304">
                  <a:moveTo>
                    <a:pt x="0" y="153924"/>
                  </a:moveTo>
                  <a:lnTo>
                    <a:pt x="499872" y="153924"/>
                  </a:lnTo>
                  <a:lnTo>
                    <a:pt x="49987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8321040" y="5639511"/>
            <a:ext cx="500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CC0000"/>
                </a:solidFill>
                <a:latin typeface="Calibri"/>
                <a:cs typeface="Calibri"/>
              </a:rPr>
              <a:t>€2.50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7836407" y="5029200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8475"/>
                </a:moveTo>
                <a:lnTo>
                  <a:pt x="0" y="0"/>
                </a:lnTo>
              </a:path>
            </a:pathLst>
          </a:custGeom>
          <a:ln w="9525">
            <a:solidFill>
              <a:srgbClr val="4D4D4D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 txBox="1"/>
          <p:nvPr/>
        </p:nvSpPr>
        <p:spPr>
          <a:xfrm>
            <a:off x="6714870" y="5572455"/>
            <a:ext cx="8280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Value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against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Volume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6670547" y="5388864"/>
            <a:ext cx="916305" cy="15557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55"/>
              </a:lnSpc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6663055" y="5043678"/>
            <a:ext cx="932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Average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Purchase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Spend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6670547" y="4863084"/>
            <a:ext cx="916305" cy="152400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1140"/>
              </a:lnSpc>
            </a:pPr>
            <a:r>
              <a:rPr dirty="0" sz="1000" spc="-50">
                <a:solidFill>
                  <a:srgbClr val="1B1C1B"/>
                </a:solidFill>
                <a:latin typeface="Calibri"/>
                <a:cs typeface="Calibri"/>
              </a:rPr>
              <a:t>/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7436929" y="3322129"/>
            <a:ext cx="680085" cy="992505"/>
            <a:chOff x="7436929" y="3322129"/>
            <a:chExt cx="680085" cy="992505"/>
          </a:xfrm>
        </p:grpSpPr>
        <p:sp>
          <p:nvSpPr>
            <p:cNvPr id="197" name="object 197"/>
            <p:cNvSpPr/>
            <p:nvPr/>
          </p:nvSpPr>
          <p:spPr>
            <a:xfrm>
              <a:off x="7441692" y="3381755"/>
              <a:ext cx="675640" cy="873760"/>
            </a:xfrm>
            <a:custGeom>
              <a:avLst/>
              <a:gdLst/>
              <a:ahLst/>
              <a:cxnLst/>
              <a:rect l="l" t="t" r="r" b="b"/>
              <a:pathLst>
                <a:path w="675640" h="873760">
                  <a:moveTo>
                    <a:pt x="126492" y="737616"/>
                  </a:moveTo>
                  <a:lnTo>
                    <a:pt x="0" y="737616"/>
                  </a:lnTo>
                  <a:lnTo>
                    <a:pt x="0" y="873252"/>
                  </a:lnTo>
                  <a:lnTo>
                    <a:pt x="126492" y="873252"/>
                  </a:lnTo>
                  <a:lnTo>
                    <a:pt x="126492" y="737616"/>
                  </a:lnTo>
                  <a:close/>
                </a:path>
                <a:path w="675640" h="873760">
                  <a:moveTo>
                    <a:pt x="16916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69164" y="137160"/>
                  </a:lnTo>
                  <a:lnTo>
                    <a:pt x="169164" y="0"/>
                  </a:lnTo>
                  <a:close/>
                </a:path>
                <a:path w="675640" h="873760">
                  <a:moveTo>
                    <a:pt x="675132" y="245364"/>
                  </a:moveTo>
                  <a:lnTo>
                    <a:pt x="0" y="245364"/>
                  </a:lnTo>
                  <a:lnTo>
                    <a:pt x="0" y="382524"/>
                  </a:lnTo>
                  <a:lnTo>
                    <a:pt x="675132" y="382524"/>
                  </a:lnTo>
                  <a:lnTo>
                    <a:pt x="675132" y="245364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441692" y="3326891"/>
              <a:ext cx="0" cy="982980"/>
            </a:xfrm>
            <a:custGeom>
              <a:avLst/>
              <a:gdLst/>
              <a:ahLst/>
              <a:cxnLst/>
              <a:rect l="l" t="t" r="r" b="b"/>
              <a:pathLst>
                <a:path w="0" h="982979">
                  <a:moveTo>
                    <a:pt x="0" y="0"/>
                  </a:moveTo>
                  <a:lnTo>
                    <a:pt x="0" y="98298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7638415" y="3363848"/>
            <a:ext cx="1504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8145018" y="3609847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16%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7470140" y="3855542"/>
            <a:ext cx="15049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7597267" y="4100576"/>
            <a:ext cx="1504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3%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6619747" y="3370834"/>
            <a:ext cx="5270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Last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 purchase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6616065" y="3620261"/>
            <a:ext cx="6178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700" spc="-1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6616065" y="3870452"/>
            <a:ext cx="534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6616065" y="4119753"/>
            <a:ext cx="678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(preference)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207" name="object 207"/>
          <p:cNvGraphicFramePr>
            <a:graphicFrameLocks noGrp="1"/>
          </p:cNvGraphicFramePr>
          <p:nvPr/>
        </p:nvGraphicFramePr>
        <p:xfrm>
          <a:off x="8556625" y="3371850"/>
          <a:ext cx="567690" cy="87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41.92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65.38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5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39.15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208" name="object 208"/>
          <p:cNvSpPr/>
          <p:nvPr/>
        </p:nvSpPr>
        <p:spPr>
          <a:xfrm>
            <a:off x="6628638" y="3313938"/>
            <a:ext cx="2403475" cy="0"/>
          </a:xfrm>
          <a:custGeom>
            <a:avLst/>
            <a:gdLst/>
            <a:ahLst/>
            <a:cxnLst/>
            <a:rect l="l" t="t" r="r" b="b"/>
            <a:pathLst>
              <a:path w="2403475" h="0">
                <a:moveTo>
                  <a:pt x="0" y="0"/>
                </a:moveTo>
                <a:lnTo>
                  <a:pt x="2403093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 txBox="1"/>
          <p:nvPr/>
        </p:nvSpPr>
        <p:spPr>
          <a:xfrm>
            <a:off x="8688451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10" name="object 210"/>
          <p:cNvGrpSpPr/>
          <p:nvPr/>
        </p:nvGrpSpPr>
        <p:grpSpPr>
          <a:xfrm>
            <a:off x="10573321" y="3322129"/>
            <a:ext cx="462280" cy="2504440"/>
            <a:chOff x="10573321" y="3322129"/>
            <a:chExt cx="462280" cy="2504440"/>
          </a:xfrm>
        </p:grpSpPr>
        <p:sp>
          <p:nvSpPr>
            <p:cNvPr id="211" name="object 211"/>
            <p:cNvSpPr/>
            <p:nvPr/>
          </p:nvSpPr>
          <p:spPr>
            <a:xfrm>
              <a:off x="10578084" y="3389375"/>
              <a:ext cx="457200" cy="2094230"/>
            </a:xfrm>
            <a:custGeom>
              <a:avLst/>
              <a:gdLst/>
              <a:ahLst/>
              <a:cxnLst/>
              <a:rect l="l" t="t" r="r" b="b"/>
              <a:pathLst>
                <a:path w="457200" h="2094229">
                  <a:moveTo>
                    <a:pt x="62484" y="1940052"/>
                  </a:moveTo>
                  <a:lnTo>
                    <a:pt x="0" y="1940052"/>
                  </a:lnTo>
                  <a:lnTo>
                    <a:pt x="0" y="2093976"/>
                  </a:lnTo>
                  <a:lnTo>
                    <a:pt x="62484" y="2093976"/>
                  </a:lnTo>
                  <a:lnTo>
                    <a:pt x="62484" y="1940052"/>
                  </a:lnTo>
                  <a:close/>
                </a:path>
                <a:path w="457200" h="2094229">
                  <a:moveTo>
                    <a:pt x="144780" y="830580"/>
                  </a:moveTo>
                  <a:lnTo>
                    <a:pt x="0" y="830580"/>
                  </a:lnTo>
                  <a:lnTo>
                    <a:pt x="0" y="984504"/>
                  </a:lnTo>
                  <a:lnTo>
                    <a:pt x="144780" y="984504"/>
                  </a:lnTo>
                  <a:lnTo>
                    <a:pt x="144780" y="830580"/>
                  </a:lnTo>
                  <a:close/>
                </a:path>
                <a:path w="457200" h="2094229">
                  <a:moveTo>
                    <a:pt x="228600" y="1107948"/>
                  </a:moveTo>
                  <a:lnTo>
                    <a:pt x="0" y="1107948"/>
                  </a:lnTo>
                  <a:lnTo>
                    <a:pt x="0" y="1261872"/>
                  </a:lnTo>
                  <a:lnTo>
                    <a:pt x="228600" y="1261872"/>
                  </a:lnTo>
                  <a:lnTo>
                    <a:pt x="228600" y="1107948"/>
                  </a:lnTo>
                  <a:close/>
                </a:path>
                <a:path w="457200" h="2094229">
                  <a:moveTo>
                    <a:pt x="248412" y="277368"/>
                  </a:moveTo>
                  <a:lnTo>
                    <a:pt x="0" y="277368"/>
                  </a:lnTo>
                  <a:lnTo>
                    <a:pt x="0" y="431292"/>
                  </a:lnTo>
                  <a:lnTo>
                    <a:pt x="248412" y="431292"/>
                  </a:lnTo>
                  <a:lnTo>
                    <a:pt x="248412" y="277368"/>
                  </a:lnTo>
                  <a:close/>
                </a:path>
                <a:path w="457200" h="2094229">
                  <a:moveTo>
                    <a:pt x="332232" y="553212"/>
                  </a:moveTo>
                  <a:lnTo>
                    <a:pt x="0" y="553212"/>
                  </a:lnTo>
                  <a:lnTo>
                    <a:pt x="0" y="707136"/>
                  </a:lnTo>
                  <a:lnTo>
                    <a:pt x="332232" y="707136"/>
                  </a:lnTo>
                  <a:lnTo>
                    <a:pt x="332232" y="553212"/>
                  </a:lnTo>
                  <a:close/>
                </a:path>
                <a:path w="457200" h="2094229">
                  <a:moveTo>
                    <a:pt x="457200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57200" y="15392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0578083" y="3326891"/>
              <a:ext cx="0" cy="2494915"/>
            </a:xfrm>
            <a:custGeom>
              <a:avLst/>
              <a:gdLst/>
              <a:ahLst/>
              <a:cxnLst/>
              <a:rect l="l" t="t" r="r" b="b"/>
              <a:pathLst>
                <a:path w="0" h="2494915">
                  <a:moveTo>
                    <a:pt x="0" y="0"/>
                  </a:moveTo>
                  <a:lnTo>
                    <a:pt x="0" y="2494788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>
            <a:off x="9645142" y="3396488"/>
            <a:ext cx="6305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Friends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or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family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9645142" y="3672585"/>
            <a:ext cx="608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Retailer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9645142" y="3950589"/>
            <a:ext cx="4787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Social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media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9645142" y="4226814"/>
            <a:ext cx="457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Salesperson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9645142" y="4504690"/>
            <a:ext cx="6324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Brands’</a:t>
            </a:r>
            <a:r>
              <a:rPr dirty="0" sz="7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1060048" y="3398646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10851895" y="3674440"/>
            <a:ext cx="1181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10934445" y="395274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10%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10748898" y="4229227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0831448" y="4506848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600">
              <a:latin typeface="Calibri"/>
              <a:cs typeface="Calibri"/>
            </a:endParaRPr>
          </a:p>
        </p:txBody>
      </p:sp>
      <p:graphicFrame>
        <p:nvGraphicFramePr>
          <p:cNvPr id="223" name="object 223"/>
          <p:cNvGraphicFramePr>
            <a:graphicFrameLocks noGrp="1"/>
          </p:cNvGraphicFramePr>
          <p:nvPr/>
        </p:nvGraphicFramePr>
        <p:xfrm>
          <a:off x="9626092" y="4774691"/>
          <a:ext cx="1379220" cy="104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1865"/>
                <a:gridCol w="41275"/>
                <a:gridCol w="153669"/>
                <a:gridCol w="156209"/>
              </a:tblGrid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r>
                        <a:rPr dirty="0" sz="7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ads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4%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0955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TV</a:t>
                      </a: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2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news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4%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1590"/>
                </a:tc>
              </a:tr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Newspapers/magazines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2%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3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70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r>
                        <a:rPr dirty="0" sz="7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blogs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2296">
                      <a:solidFill>
                        <a:srgbClr val="041F46"/>
                      </a:solidFill>
                      <a:prstDash val="solid"/>
                    </a:lnR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296">
                      <a:solidFill>
                        <a:srgbClr val="041F46"/>
                      </a:solidFill>
                      <a:prstDash val="solid"/>
                    </a:lnL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600" spc="-25">
                          <a:solidFill>
                            <a:srgbClr val="1B1C1B"/>
                          </a:solidFill>
                          <a:latin typeface="Calibri"/>
                          <a:cs typeface="Calibri"/>
                        </a:rPr>
                        <a:t>3%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2225"/>
                </a:tc>
              </a:tr>
              <a:tr h="62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24" name="object 224"/>
          <p:cNvGrpSpPr/>
          <p:nvPr/>
        </p:nvGrpSpPr>
        <p:grpSpPr>
          <a:xfrm>
            <a:off x="3463734" y="1816607"/>
            <a:ext cx="2649220" cy="3996054"/>
            <a:chOff x="3463734" y="1816607"/>
            <a:chExt cx="2649220" cy="3996054"/>
          </a:xfrm>
        </p:grpSpPr>
        <p:sp>
          <p:nvSpPr>
            <p:cNvPr id="225" name="object 225"/>
            <p:cNvSpPr/>
            <p:nvPr/>
          </p:nvSpPr>
          <p:spPr>
            <a:xfrm>
              <a:off x="5865876" y="2002535"/>
              <a:ext cx="247015" cy="3093720"/>
            </a:xfrm>
            <a:custGeom>
              <a:avLst/>
              <a:gdLst/>
              <a:ahLst/>
              <a:cxnLst/>
              <a:rect l="l" t="t" r="r" b="b"/>
              <a:pathLst>
                <a:path w="247014" h="3093720">
                  <a:moveTo>
                    <a:pt x="13716" y="2194560"/>
                  </a:moveTo>
                  <a:lnTo>
                    <a:pt x="0" y="2194560"/>
                  </a:lnTo>
                  <a:lnTo>
                    <a:pt x="0" y="2270760"/>
                  </a:lnTo>
                  <a:lnTo>
                    <a:pt x="13716" y="2270760"/>
                  </a:lnTo>
                  <a:lnTo>
                    <a:pt x="13716" y="2194560"/>
                  </a:lnTo>
                  <a:close/>
                </a:path>
                <a:path w="247014" h="3093720">
                  <a:moveTo>
                    <a:pt x="18275" y="822960"/>
                  </a:moveTo>
                  <a:lnTo>
                    <a:pt x="13716" y="822960"/>
                  </a:lnTo>
                  <a:lnTo>
                    <a:pt x="13716" y="899160"/>
                  </a:lnTo>
                  <a:lnTo>
                    <a:pt x="18275" y="899160"/>
                  </a:lnTo>
                  <a:lnTo>
                    <a:pt x="18275" y="822960"/>
                  </a:lnTo>
                  <a:close/>
                </a:path>
                <a:path w="247014" h="3093720">
                  <a:moveTo>
                    <a:pt x="25895" y="960120"/>
                  </a:moveTo>
                  <a:lnTo>
                    <a:pt x="13716" y="960120"/>
                  </a:lnTo>
                  <a:lnTo>
                    <a:pt x="13716" y="1036320"/>
                  </a:lnTo>
                  <a:lnTo>
                    <a:pt x="25895" y="1036320"/>
                  </a:lnTo>
                  <a:lnTo>
                    <a:pt x="25895" y="960120"/>
                  </a:lnTo>
                  <a:close/>
                </a:path>
                <a:path w="247014" h="3093720">
                  <a:moveTo>
                    <a:pt x="42659" y="685800"/>
                  </a:moveTo>
                  <a:lnTo>
                    <a:pt x="13716" y="685800"/>
                  </a:lnTo>
                  <a:lnTo>
                    <a:pt x="13716" y="762000"/>
                  </a:lnTo>
                  <a:lnTo>
                    <a:pt x="42659" y="762000"/>
                  </a:lnTo>
                  <a:lnTo>
                    <a:pt x="42659" y="685800"/>
                  </a:lnTo>
                  <a:close/>
                </a:path>
                <a:path w="247014" h="3093720">
                  <a:moveTo>
                    <a:pt x="47231" y="3017520"/>
                  </a:moveTo>
                  <a:lnTo>
                    <a:pt x="13716" y="3017520"/>
                  </a:lnTo>
                  <a:lnTo>
                    <a:pt x="13716" y="3093720"/>
                  </a:lnTo>
                  <a:lnTo>
                    <a:pt x="47231" y="3093720"/>
                  </a:lnTo>
                  <a:lnTo>
                    <a:pt x="47231" y="3017520"/>
                  </a:lnTo>
                  <a:close/>
                </a:path>
                <a:path w="247014" h="3093720">
                  <a:moveTo>
                    <a:pt x="65519" y="1234440"/>
                  </a:moveTo>
                  <a:lnTo>
                    <a:pt x="13716" y="1234440"/>
                  </a:lnTo>
                  <a:lnTo>
                    <a:pt x="13716" y="1310640"/>
                  </a:lnTo>
                  <a:lnTo>
                    <a:pt x="65519" y="1310640"/>
                  </a:lnTo>
                  <a:lnTo>
                    <a:pt x="65519" y="1234440"/>
                  </a:lnTo>
                  <a:close/>
                </a:path>
                <a:path w="247014" h="3093720">
                  <a:moveTo>
                    <a:pt x="83807" y="0"/>
                  </a:moveTo>
                  <a:lnTo>
                    <a:pt x="13716" y="0"/>
                  </a:lnTo>
                  <a:lnTo>
                    <a:pt x="13716" y="76200"/>
                  </a:lnTo>
                  <a:lnTo>
                    <a:pt x="83807" y="76200"/>
                  </a:lnTo>
                  <a:lnTo>
                    <a:pt x="83807" y="0"/>
                  </a:lnTo>
                  <a:close/>
                </a:path>
                <a:path w="247014" h="3093720">
                  <a:moveTo>
                    <a:pt x="86855" y="2880360"/>
                  </a:moveTo>
                  <a:lnTo>
                    <a:pt x="13716" y="2880360"/>
                  </a:lnTo>
                  <a:lnTo>
                    <a:pt x="13716" y="2956560"/>
                  </a:lnTo>
                  <a:lnTo>
                    <a:pt x="86855" y="2956560"/>
                  </a:lnTo>
                  <a:lnTo>
                    <a:pt x="86855" y="2880360"/>
                  </a:lnTo>
                  <a:close/>
                </a:path>
                <a:path w="247014" h="3093720">
                  <a:moveTo>
                    <a:pt x="99060" y="1645920"/>
                  </a:moveTo>
                  <a:lnTo>
                    <a:pt x="13716" y="1645920"/>
                  </a:lnTo>
                  <a:lnTo>
                    <a:pt x="13716" y="1722120"/>
                  </a:lnTo>
                  <a:lnTo>
                    <a:pt x="99060" y="1722120"/>
                  </a:lnTo>
                  <a:lnTo>
                    <a:pt x="99060" y="1645920"/>
                  </a:lnTo>
                  <a:close/>
                </a:path>
                <a:path w="247014" h="3093720">
                  <a:moveTo>
                    <a:pt x="115824" y="548640"/>
                  </a:moveTo>
                  <a:lnTo>
                    <a:pt x="13716" y="548640"/>
                  </a:lnTo>
                  <a:lnTo>
                    <a:pt x="13716" y="624840"/>
                  </a:lnTo>
                  <a:lnTo>
                    <a:pt x="115824" y="624840"/>
                  </a:lnTo>
                  <a:lnTo>
                    <a:pt x="115824" y="548640"/>
                  </a:lnTo>
                  <a:close/>
                </a:path>
                <a:path w="247014" h="3093720">
                  <a:moveTo>
                    <a:pt x="138671" y="1508760"/>
                  </a:moveTo>
                  <a:lnTo>
                    <a:pt x="13716" y="1508760"/>
                  </a:lnTo>
                  <a:lnTo>
                    <a:pt x="13716" y="1584972"/>
                  </a:lnTo>
                  <a:lnTo>
                    <a:pt x="138671" y="1584972"/>
                  </a:lnTo>
                  <a:lnTo>
                    <a:pt x="138671" y="1508760"/>
                  </a:lnTo>
                  <a:close/>
                </a:path>
                <a:path w="247014" h="3093720">
                  <a:moveTo>
                    <a:pt x="143243" y="1783080"/>
                  </a:moveTo>
                  <a:lnTo>
                    <a:pt x="13716" y="1783080"/>
                  </a:lnTo>
                  <a:lnTo>
                    <a:pt x="13716" y="1859280"/>
                  </a:lnTo>
                  <a:lnTo>
                    <a:pt x="143243" y="1859280"/>
                  </a:lnTo>
                  <a:lnTo>
                    <a:pt x="143243" y="1783080"/>
                  </a:lnTo>
                  <a:close/>
                </a:path>
                <a:path w="247014" h="3093720">
                  <a:moveTo>
                    <a:pt x="150876" y="274320"/>
                  </a:moveTo>
                  <a:lnTo>
                    <a:pt x="13716" y="274320"/>
                  </a:lnTo>
                  <a:lnTo>
                    <a:pt x="13716" y="350520"/>
                  </a:lnTo>
                  <a:lnTo>
                    <a:pt x="150876" y="350520"/>
                  </a:lnTo>
                  <a:lnTo>
                    <a:pt x="150876" y="274320"/>
                  </a:lnTo>
                  <a:close/>
                </a:path>
                <a:path w="247014" h="3093720">
                  <a:moveTo>
                    <a:pt x="246888" y="1920240"/>
                  </a:moveTo>
                  <a:lnTo>
                    <a:pt x="13716" y="1920240"/>
                  </a:lnTo>
                  <a:lnTo>
                    <a:pt x="13716" y="1996440"/>
                  </a:lnTo>
                  <a:lnTo>
                    <a:pt x="246888" y="1996440"/>
                  </a:lnTo>
                  <a:lnTo>
                    <a:pt x="246888" y="192024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754624" y="1865375"/>
              <a:ext cx="125095" cy="3916679"/>
            </a:xfrm>
            <a:custGeom>
              <a:avLst/>
              <a:gdLst/>
              <a:ahLst/>
              <a:cxnLst/>
              <a:rect l="l" t="t" r="r" b="b"/>
              <a:pathLst>
                <a:path w="125095" h="3916679">
                  <a:moveTo>
                    <a:pt x="124968" y="3840480"/>
                  </a:moveTo>
                  <a:lnTo>
                    <a:pt x="76200" y="3840480"/>
                  </a:lnTo>
                  <a:lnTo>
                    <a:pt x="76200" y="3916680"/>
                  </a:lnTo>
                  <a:lnTo>
                    <a:pt x="124968" y="3916680"/>
                  </a:lnTo>
                  <a:lnTo>
                    <a:pt x="124968" y="3840480"/>
                  </a:lnTo>
                  <a:close/>
                </a:path>
                <a:path w="125095" h="3916679">
                  <a:moveTo>
                    <a:pt x="124968" y="3703320"/>
                  </a:moveTo>
                  <a:lnTo>
                    <a:pt x="96012" y="3703320"/>
                  </a:lnTo>
                  <a:lnTo>
                    <a:pt x="96012" y="3779520"/>
                  </a:lnTo>
                  <a:lnTo>
                    <a:pt x="124968" y="3779520"/>
                  </a:lnTo>
                  <a:lnTo>
                    <a:pt x="124968" y="3703320"/>
                  </a:lnTo>
                  <a:close/>
                </a:path>
                <a:path w="125095" h="3916679">
                  <a:moveTo>
                    <a:pt x="124968" y="3566160"/>
                  </a:moveTo>
                  <a:lnTo>
                    <a:pt x="68580" y="3566160"/>
                  </a:lnTo>
                  <a:lnTo>
                    <a:pt x="68580" y="3642360"/>
                  </a:lnTo>
                  <a:lnTo>
                    <a:pt x="124968" y="3642360"/>
                  </a:lnTo>
                  <a:lnTo>
                    <a:pt x="124968" y="3566160"/>
                  </a:lnTo>
                  <a:close/>
                </a:path>
                <a:path w="125095" h="3916679">
                  <a:moveTo>
                    <a:pt x="124968" y="3429000"/>
                  </a:moveTo>
                  <a:lnTo>
                    <a:pt x="30480" y="3429000"/>
                  </a:lnTo>
                  <a:lnTo>
                    <a:pt x="30480" y="3505200"/>
                  </a:lnTo>
                  <a:lnTo>
                    <a:pt x="124968" y="3505200"/>
                  </a:lnTo>
                  <a:lnTo>
                    <a:pt x="124968" y="3429000"/>
                  </a:lnTo>
                  <a:close/>
                </a:path>
                <a:path w="125095" h="3916679">
                  <a:moveTo>
                    <a:pt x="124968" y="3291840"/>
                  </a:moveTo>
                  <a:lnTo>
                    <a:pt x="77724" y="3291840"/>
                  </a:lnTo>
                  <a:lnTo>
                    <a:pt x="77724" y="3368040"/>
                  </a:lnTo>
                  <a:lnTo>
                    <a:pt x="124968" y="3368040"/>
                  </a:lnTo>
                  <a:lnTo>
                    <a:pt x="124968" y="3291840"/>
                  </a:lnTo>
                  <a:close/>
                </a:path>
                <a:path w="125095" h="3916679">
                  <a:moveTo>
                    <a:pt x="124968" y="2880360"/>
                  </a:moveTo>
                  <a:lnTo>
                    <a:pt x="32004" y="2880360"/>
                  </a:lnTo>
                  <a:lnTo>
                    <a:pt x="32004" y="2956560"/>
                  </a:lnTo>
                  <a:lnTo>
                    <a:pt x="124968" y="2956560"/>
                  </a:lnTo>
                  <a:lnTo>
                    <a:pt x="124968" y="2880360"/>
                  </a:lnTo>
                  <a:close/>
                </a:path>
                <a:path w="125095" h="3916679">
                  <a:moveTo>
                    <a:pt x="124968" y="2743200"/>
                  </a:moveTo>
                  <a:lnTo>
                    <a:pt x="19812" y="2743200"/>
                  </a:lnTo>
                  <a:lnTo>
                    <a:pt x="19812" y="2819400"/>
                  </a:lnTo>
                  <a:lnTo>
                    <a:pt x="124968" y="2819400"/>
                  </a:lnTo>
                  <a:lnTo>
                    <a:pt x="124968" y="2743200"/>
                  </a:lnTo>
                  <a:close/>
                </a:path>
                <a:path w="125095" h="3916679">
                  <a:moveTo>
                    <a:pt x="124968" y="2606040"/>
                  </a:moveTo>
                  <a:lnTo>
                    <a:pt x="53340" y="2606040"/>
                  </a:lnTo>
                  <a:lnTo>
                    <a:pt x="53340" y="2682240"/>
                  </a:lnTo>
                  <a:lnTo>
                    <a:pt x="124968" y="2682240"/>
                  </a:lnTo>
                  <a:lnTo>
                    <a:pt x="124968" y="2606040"/>
                  </a:lnTo>
                  <a:close/>
                </a:path>
                <a:path w="125095" h="3916679">
                  <a:moveTo>
                    <a:pt x="124968" y="2468880"/>
                  </a:moveTo>
                  <a:lnTo>
                    <a:pt x="83820" y="2468880"/>
                  </a:lnTo>
                  <a:lnTo>
                    <a:pt x="83820" y="2545080"/>
                  </a:lnTo>
                  <a:lnTo>
                    <a:pt x="124968" y="2545080"/>
                  </a:lnTo>
                  <a:lnTo>
                    <a:pt x="124968" y="2468880"/>
                  </a:lnTo>
                  <a:close/>
                </a:path>
                <a:path w="125095" h="3916679">
                  <a:moveTo>
                    <a:pt x="124968" y="2194560"/>
                  </a:moveTo>
                  <a:lnTo>
                    <a:pt x="0" y="2194560"/>
                  </a:lnTo>
                  <a:lnTo>
                    <a:pt x="0" y="2270760"/>
                  </a:lnTo>
                  <a:lnTo>
                    <a:pt x="124968" y="2270760"/>
                  </a:lnTo>
                  <a:lnTo>
                    <a:pt x="124968" y="2194560"/>
                  </a:lnTo>
                  <a:close/>
                </a:path>
                <a:path w="125095" h="3916679">
                  <a:moveTo>
                    <a:pt x="124968" y="1508760"/>
                  </a:moveTo>
                  <a:lnTo>
                    <a:pt x="45720" y="1508760"/>
                  </a:lnTo>
                  <a:lnTo>
                    <a:pt x="45720" y="1584960"/>
                  </a:lnTo>
                  <a:lnTo>
                    <a:pt x="124968" y="1584960"/>
                  </a:lnTo>
                  <a:lnTo>
                    <a:pt x="124968" y="1508760"/>
                  </a:lnTo>
                  <a:close/>
                </a:path>
                <a:path w="125095" h="3916679">
                  <a:moveTo>
                    <a:pt x="124968" y="1234440"/>
                  </a:moveTo>
                  <a:lnTo>
                    <a:pt x="36576" y="1234440"/>
                  </a:lnTo>
                  <a:lnTo>
                    <a:pt x="36576" y="1310640"/>
                  </a:lnTo>
                  <a:lnTo>
                    <a:pt x="124968" y="1310640"/>
                  </a:lnTo>
                  <a:lnTo>
                    <a:pt x="124968" y="1234440"/>
                  </a:lnTo>
                  <a:close/>
                </a:path>
                <a:path w="125095" h="3916679">
                  <a:moveTo>
                    <a:pt x="124968" y="548640"/>
                  </a:moveTo>
                  <a:lnTo>
                    <a:pt x="91440" y="548640"/>
                  </a:lnTo>
                  <a:lnTo>
                    <a:pt x="91440" y="624840"/>
                  </a:lnTo>
                  <a:lnTo>
                    <a:pt x="124968" y="624840"/>
                  </a:lnTo>
                  <a:lnTo>
                    <a:pt x="124968" y="548640"/>
                  </a:lnTo>
                  <a:close/>
                </a:path>
                <a:path w="125095" h="3916679">
                  <a:moveTo>
                    <a:pt x="124968" y="274320"/>
                  </a:moveTo>
                  <a:lnTo>
                    <a:pt x="70104" y="274320"/>
                  </a:lnTo>
                  <a:lnTo>
                    <a:pt x="70104" y="350520"/>
                  </a:lnTo>
                  <a:lnTo>
                    <a:pt x="124968" y="350520"/>
                  </a:lnTo>
                  <a:lnTo>
                    <a:pt x="124968" y="274320"/>
                  </a:lnTo>
                  <a:close/>
                </a:path>
                <a:path w="125095" h="3916679">
                  <a:moveTo>
                    <a:pt x="124968" y="0"/>
                  </a:moveTo>
                  <a:lnTo>
                    <a:pt x="16764" y="0"/>
                  </a:lnTo>
                  <a:lnTo>
                    <a:pt x="16764" y="76200"/>
                  </a:lnTo>
                  <a:lnTo>
                    <a:pt x="124968" y="76200"/>
                  </a:lnTo>
                  <a:lnTo>
                    <a:pt x="124968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879591" y="1834895"/>
              <a:ext cx="0" cy="3977640"/>
            </a:xfrm>
            <a:custGeom>
              <a:avLst/>
              <a:gdLst/>
              <a:ahLst/>
              <a:cxnLst/>
              <a:rect l="l" t="t" r="r" b="b"/>
              <a:pathLst>
                <a:path w="0" h="3977640">
                  <a:moveTo>
                    <a:pt x="0" y="0"/>
                  </a:moveTo>
                  <a:lnTo>
                    <a:pt x="0" y="397764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3471671" y="1816607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0"/>
                  </a:moveTo>
                  <a:lnTo>
                    <a:pt x="0" y="60960"/>
                  </a:lnTo>
                </a:path>
              </a:pathLst>
            </a:custGeom>
            <a:ln w="15875">
              <a:solidFill>
                <a:srgbClr val="2387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9" name="object 229"/>
          <p:cNvGrpSpPr/>
          <p:nvPr/>
        </p:nvGrpSpPr>
        <p:grpSpPr>
          <a:xfrm>
            <a:off x="9447276" y="3386328"/>
            <a:ext cx="123825" cy="2284095"/>
            <a:chOff x="9447276" y="3386328"/>
            <a:chExt cx="123825" cy="2284095"/>
          </a:xfrm>
        </p:grpSpPr>
        <p:sp>
          <p:nvSpPr>
            <p:cNvPr id="230" name="object 230"/>
            <p:cNvSpPr/>
            <p:nvPr/>
          </p:nvSpPr>
          <p:spPr>
            <a:xfrm>
              <a:off x="9471660" y="3386328"/>
              <a:ext cx="76200" cy="2284095"/>
            </a:xfrm>
            <a:custGeom>
              <a:avLst/>
              <a:gdLst/>
              <a:ahLst/>
              <a:cxnLst/>
              <a:rect l="l" t="t" r="r" b="b"/>
              <a:pathLst>
                <a:path w="76200" h="2284095">
                  <a:moveTo>
                    <a:pt x="30099" y="2207387"/>
                  </a:moveTo>
                  <a:lnTo>
                    <a:pt x="0" y="2207387"/>
                  </a:lnTo>
                  <a:lnTo>
                    <a:pt x="38100" y="2283587"/>
                  </a:lnTo>
                  <a:lnTo>
                    <a:pt x="69850" y="2220087"/>
                  </a:lnTo>
                  <a:lnTo>
                    <a:pt x="30099" y="2220087"/>
                  </a:lnTo>
                  <a:lnTo>
                    <a:pt x="30099" y="2207387"/>
                  </a:lnTo>
                  <a:close/>
                </a:path>
                <a:path w="76200" h="228409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2220087"/>
                  </a:lnTo>
                  <a:lnTo>
                    <a:pt x="45974" y="22200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2284095">
                  <a:moveTo>
                    <a:pt x="76200" y="2207387"/>
                  </a:moveTo>
                  <a:lnTo>
                    <a:pt x="45974" y="2207387"/>
                  </a:lnTo>
                  <a:lnTo>
                    <a:pt x="45974" y="2220087"/>
                  </a:lnTo>
                  <a:lnTo>
                    <a:pt x="69850" y="2220087"/>
                  </a:lnTo>
                  <a:lnTo>
                    <a:pt x="76200" y="2207387"/>
                  </a:lnTo>
                  <a:close/>
                </a:path>
                <a:path w="76200" h="228409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28409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228409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9447276" y="3764280"/>
              <a:ext cx="123825" cy="1397635"/>
            </a:xfrm>
            <a:custGeom>
              <a:avLst/>
              <a:gdLst/>
              <a:ahLst/>
              <a:cxnLst/>
              <a:rect l="l" t="t" r="r" b="b"/>
              <a:pathLst>
                <a:path w="123825" h="1397635">
                  <a:moveTo>
                    <a:pt x="123444" y="0"/>
                  </a:moveTo>
                  <a:lnTo>
                    <a:pt x="0" y="0"/>
                  </a:lnTo>
                  <a:lnTo>
                    <a:pt x="0" y="1397508"/>
                  </a:lnTo>
                  <a:lnTo>
                    <a:pt x="123444" y="1397508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/>
          <p:cNvSpPr txBox="1"/>
          <p:nvPr/>
        </p:nvSpPr>
        <p:spPr>
          <a:xfrm>
            <a:off x="9454260" y="3816113"/>
            <a:ext cx="127635" cy="12973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Ordered</a:t>
            </a:r>
            <a:r>
              <a:rPr dirty="0" sz="8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by</a:t>
            </a:r>
            <a:r>
              <a:rPr dirty="0" sz="8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8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3" name="object 233"/>
          <p:cNvSpPr/>
          <p:nvPr/>
        </p:nvSpPr>
        <p:spPr>
          <a:xfrm>
            <a:off x="9510521" y="3313938"/>
            <a:ext cx="2354580" cy="0"/>
          </a:xfrm>
          <a:custGeom>
            <a:avLst/>
            <a:gdLst/>
            <a:ahLst/>
            <a:cxnLst/>
            <a:rect l="l" t="t" r="r" b="b"/>
            <a:pathLst>
              <a:path w="2354579" h="0">
                <a:moveTo>
                  <a:pt x="0" y="0"/>
                </a:moveTo>
                <a:lnTo>
                  <a:pt x="2354579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 txBox="1"/>
          <p:nvPr/>
        </p:nvSpPr>
        <p:spPr>
          <a:xfrm>
            <a:off x="11524868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235" name="object 235"/>
          <p:cNvGraphicFramePr>
            <a:graphicFrameLocks noGrp="1"/>
          </p:cNvGraphicFramePr>
          <p:nvPr/>
        </p:nvGraphicFramePr>
        <p:xfrm>
          <a:off x="11392154" y="3368675"/>
          <a:ext cx="568325" cy="2394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76.30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41.62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55.49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24.28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38.15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20.81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20.81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10.40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13.87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236" name="object 236"/>
          <p:cNvSpPr txBox="1"/>
          <p:nvPr/>
        </p:nvSpPr>
        <p:spPr>
          <a:xfrm>
            <a:off x="378663" y="4365497"/>
            <a:ext cx="2254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Perceptions: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closely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aligned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brand,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tablestake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378663" y="4887214"/>
            <a:ext cx="2127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Performance: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overperformance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 across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KoRo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drugstore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retailers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378663" y="5409057"/>
            <a:ext cx="221361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behavior: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Underperformance</a:t>
            </a:r>
            <a:r>
              <a:rPr dirty="0" sz="9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indicating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dirty="0" sz="9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preference</a:t>
            </a:r>
            <a:r>
              <a:rPr dirty="0" sz="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toward</a:t>
            </a:r>
            <a:r>
              <a:rPr dirty="0" sz="9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offline</a:t>
            </a:r>
            <a:r>
              <a:rPr dirty="0" sz="9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purchases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378663" y="5930900"/>
            <a:ext cx="22517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dirty="0" sz="9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considerations: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par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willingness</a:t>
            </a:r>
            <a:r>
              <a:rPr dirty="0" sz="9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spend,</a:t>
            </a:r>
            <a:r>
              <a:rPr dirty="0" sz="9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9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dried</a:t>
            </a:r>
            <a:r>
              <a:rPr dirty="0" sz="9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fruits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lower</a:t>
            </a:r>
            <a:r>
              <a:rPr dirty="0" sz="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protein</a:t>
            </a:r>
            <a:r>
              <a:rPr dirty="0" sz="9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energy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0" name="object 240"/>
          <p:cNvSpPr/>
          <p:nvPr/>
        </p:nvSpPr>
        <p:spPr>
          <a:xfrm>
            <a:off x="3471671" y="2438400"/>
            <a:ext cx="0" cy="62865"/>
          </a:xfrm>
          <a:custGeom>
            <a:avLst/>
            <a:gdLst/>
            <a:ahLst/>
            <a:cxnLst/>
            <a:rect l="l" t="t" r="r" b="b"/>
            <a:pathLst>
              <a:path w="0" h="62864">
                <a:moveTo>
                  <a:pt x="0" y="0"/>
                </a:moveTo>
                <a:lnTo>
                  <a:pt x="0" y="62357"/>
                </a:lnTo>
              </a:path>
            </a:pathLst>
          </a:custGeom>
          <a:ln w="15875">
            <a:solidFill>
              <a:srgbClr val="2387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 txBox="1"/>
          <p:nvPr/>
        </p:nvSpPr>
        <p:spPr>
          <a:xfrm>
            <a:off x="3415665" y="1903936"/>
            <a:ext cx="127635" cy="509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2387D7"/>
                </a:solidFill>
                <a:latin typeface="Calibri"/>
                <a:cs typeface="Calibri"/>
              </a:rPr>
              <a:t>Tablestakes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2" name="object 242"/>
          <p:cNvSpPr/>
          <p:nvPr/>
        </p:nvSpPr>
        <p:spPr>
          <a:xfrm>
            <a:off x="3470147" y="3758184"/>
            <a:ext cx="0" cy="496570"/>
          </a:xfrm>
          <a:custGeom>
            <a:avLst/>
            <a:gdLst/>
            <a:ahLst/>
            <a:cxnLst/>
            <a:rect l="l" t="t" r="r" b="b"/>
            <a:pathLst>
              <a:path w="0" h="496570">
                <a:moveTo>
                  <a:pt x="0" y="0"/>
                </a:moveTo>
                <a:lnTo>
                  <a:pt x="0" y="496062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470147" y="2558795"/>
            <a:ext cx="0" cy="497205"/>
          </a:xfrm>
          <a:custGeom>
            <a:avLst/>
            <a:gdLst/>
            <a:ahLst/>
            <a:cxnLst/>
            <a:rect l="l" t="t" r="r" b="b"/>
            <a:pathLst>
              <a:path w="0" h="497205">
                <a:moveTo>
                  <a:pt x="0" y="0"/>
                </a:moveTo>
                <a:lnTo>
                  <a:pt x="0" y="496823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 txBox="1"/>
          <p:nvPr/>
        </p:nvSpPr>
        <p:spPr>
          <a:xfrm>
            <a:off x="3414648" y="3094218"/>
            <a:ext cx="127635" cy="6280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808080"/>
                </a:solidFill>
                <a:latin typeface="Calibri"/>
                <a:cs typeface="Calibri"/>
              </a:rPr>
              <a:t>Differentiators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5" name="object 245"/>
          <p:cNvSpPr/>
          <p:nvPr/>
        </p:nvSpPr>
        <p:spPr>
          <a:xfrm>
            <a:off x="3471671" y="5233415"/>
            <a:ext cx="0" cy="577850"/>
          </a:xfrm>
          <a:custGeom>
            <a:avLst/>
            <a:gdLst/>
            <a:ahLst/>
            <a:cxnLst/>
            <a:rect l="l" t="t" r="r" b="b"/>
            <a:pathLst>
              <a:path w="0" h="577850">
                <a:moveTo>
                  <a:pt x="0" y="0"/>
                </a:moveTo>
                <a:lnTo>
                  <a:pt x="0" y="577684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3471671" y="432511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 txBox="1"/>
          <p:nvPr/>
        </p:nvSpPr>
        <p:spPr>
          <a:xfrm>
            <a:off x="3415665" y="4938459"/>
            <a:ext cx="127635" cy="2616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7E6600"/>
                </a:solidFill>
                <a:latin typeface="Calibri"/>
                <a:cs typeface="Calibri"/>
              </a:rPr>
              <a:t>Niche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/>
          <p:nvPr/>
        </p:nvSpPr>
        <p:spPr>
          <a:xfrm>
            <a:off x="11428856" y="6380479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3468" y="0"/>
            <a:ext cx="1209040" cy="1211580"/>
            <a:chOff x="10983468" y="0"/>
            <a:chExt cx="1209040" cy="1211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36511" y="131063"/>
              <a:ext cx="690253" cy="71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83468" y="74676"/>
              <a:ext cx="1129665" cy="830580"/>
            </a:xfrm>
            <a:custGeom>
              <a:avLst/>
              <a:gdLst/>
              <a:ahLst/>
              <a:cxnLst/>
              <a:rect l="l" t="t" r="r" b="b"/>
              <a:pathLst>
                <a:path w="1129665" h="830580">
                  <a:moveTo>
                    <a:pt x="11292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129283" y="830579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83468" y="0"/>
              <a:ext cx="1209040" cy="1211580"/>
            </a:xfrm>
            <a:custGeom>
              <a:avLst/>
              <a:gdLst/>
              <a:ahLst/>
              <a:cxnLst/>
              <a:rect l="l" t="t" r="r" b="b"/>
              <a:pathLst>
                <a:path w="1209040" h="1211580">
                  <a:moveTo>
                    <a:pt x="1208531" y="0"/>
                  </a:moveTo>
                  <a:lnTo>
                    <a:pt x="0" y="0"/>
                  </a:lnTo>
                  <a:lnTo>
                    <a:pt x="1208531" y="1211579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D5E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4438" y="407328"/>
              <a:ext cx="75810" cy="758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0603" y="250206"/>
              <a:ext cx="151620" cy="232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595702" y="217698"/>
              <a:ext cx="303530" cy="227965"/>
            </a:xfrm>
            <a:custGeom>
              <a:avLst/>
              <a:gdLst/>
              <a:ahLst/>
              <a:cxnLst/>
              <a:rect l="l" t="t" r="r" b="b"/>
              <a:pathLst>
                <a:path w="303529" h="227965">
                  <a:moveTo>
                    <a:pt x="303240" y="0"/>
                  </a:moveTo>
                  <a:lnTo>
                    <a:pt x="0" y="0"/>
                  </a:lnTo>
                  <a:lnTo>
                    <a:pt x="0" y="227555"/>
                  </a:lnTo>
                  <a:lnTo>
                    <a:pt x="32490" y="227555"/>
                  </a:lnTo>
                  <a:lnTo>
                    <a:pt x="36746" y="206467"/>
                  </a:lnTo>
                  <a:lnTo>
                    <a:pt x="48351" y="189245"/>
                  </a:lnTo>
                  <a:lnTo>
                    <a:pt x="65563" y="177633"/>
                  </a:lnTo>
                  <a:lnTo>
                    <a:pt x="86640" y="173375"/>
                  </a:lnTo>
                  <a:lnTo>
                    <a:pt x="303240" y="173375"/>
                  </a:lnTo>
                  <a:lnTo>
                    <a:pt x="303240" y="147129"/>
                  </a:lnTo>
                  <a:lnTo>
                    <a:pt x="107055" y="147129"/>
                  </a:lnTo>
                  <a:lnTo>
                    <a:pt x="100778" y="140840"/>
                  </a:lnTo>
                  <a:lnTo>
                    <a:pt x="100787" y="135788"/>
                  </a:lnTo>
                  <a:lnTo>
                    <a:pt x="103905" y="132632"/>
                  </a:lnTo>
                  <a:lnTo>
                    <a:pt x="147965" y="91491"/>
                  </a:lnTo>
                  <a:lnTo>
                    <a:pt x="150009" y="89446"/>
                  </a:lnTo>
                  <a:lnTo>
                    <a:pt x="130795" y="89446"/>
                  </a:lnTo>
                  <a:lnTo>
                    <a:pt x="123615" y="86407"/>
                  </a:lnTo>
                  <a:lnTo>
                    <a:pt x="118931" y="80709"/>
                  </a:lnTo>
                  <a:lnTo>
                    <a:pt x="113183" y="74158"/>
                  </a:lnTo>
                  <a:lnTo>
                    <a:pt x="107686" y="67398"/>
                  </a:lnTo>
                  <a:lnTo>
                    <a:pt x="102446" y="60436"/>
                  </a:lnTo>
                  <a:lnTo>
                    <a:pt x="97470" y="53281"/>
                  </a:lnTo>
                  <a:lnTo>
                    <a:pt x="99830" y="50929"/>
                  </a:lnTo>
                  <a:lnTo>
                    <a:pt x="105489" y="50929"/>
                  </a:lnTo>
                  <a:lnTo>
                    <a:pt x="102646" y="48084"/>
                  </a:lnTo>
                  <a:lnTo>
                    <a:pt x="106436" y="44292"/>
                  </a:lnTo>
                  <a:lnTo>
                    <a:pt x="112095" y="44292"/>
                  </a:lnTo>
                  <a:lnTo>
                    <a:pt x="109270" y="41465"/>
                  </a:lnTo>
                  <a:lnTo>
                    <a:pt x="113060" y="37673"/>
                  </a:lnTo>
                  <a:lnTo>
                    <a:pt x="118687" y="37673"/>
                  </a:lnTo>
                  <a:lnTo>
                    <a:pt x="115881" y="34869"/>
                  </a:lnTo>
                  <a:lnTo>
                    <a:pt x="118232" y="32507"/>
                  </a:lnTo>
                  <a:lnTo>
                    <a:pt x="303240" y="32507"/>
                  </a:lnTo>
                  <a:lnTo>
                    <a:pt x="303240" y="0"/>
                  </a:lnTo>
                  <a:close/>
                </a:path>
                <a:path w="303529" h="227965">
                  <a:moveTo>
                    <a:pt x="303240" y="173375"/>
                  </a:moveTo>
                  <a:lnTo>
                    <a:pt x="86640" y="173375"/>
                  </a:lnTo>
                  <a:lnTo>
                    <a:pt x="107717" y="177633"/>
                  </a:lnTo>
                  <a:lnTo>
                    <a:pt x="124929" y="189245"/>
                  </a:lnTo>
                  <a:lnTo>
                    <a:pt x="136535" y="206467"/>
                  </a:lnTo>
                  <a:lnTo>
                    <a:pt x="140790" y="227555"/>
                  </a:lnTo>
                  <a:lnTo>
                    <a:pt x="303241" y="227555"/>
                  </a:lnTo>
                  <a:lnTo>
                    <a:pt x="303240" y="173375"/>
                  </a:lnTo>
                  <a:close/>
                </a:path>
                <a:path w="303529" h="227965">
                  <a:moveTo>
                    <a:pt x="155466" y="99930"/>
                  </a:moveTo>
                  <a:lnTo>
                    <a:pt x="154594" y="100855"/>
                  </a:lnTo>
                  <a:lnTo>
                    <a:pt x="115267" y="143992"/>
                  </a:lnTo>
                  <a:lnTo>
                    <a:pt x="112131" y="147129"/>
                  </a:lnTo>
                  <a:lnTo>
                    <a:pt x="200614" y="147129"/>
                  </a:lnTo>
                  <a:lnTo>
                    <a:pt x="197404" y="143992"/>
                  </a:lnTo>
                  <a:lnTo>
                    <a:pt x="165455" y="110075"/>
                  </a:lnTo>
                  <a:lnTo>
                    <a:pt x="167360" y="109610"/>
                  </a:lnTo>
                  <a:lnTo>
                    <a:pt x="169083" y="108599"/>
                  </a:lnTo>
                  <a:lnTo>
                    <a:pt x="170419" y="107163"/>
                  </a:lnTo>
                  <a:lnTo>
                    <a:pt x="173695" y="103483"/>
                  </a:lnTo>
                  <a:lnTo>
                    <a:pt x="162730" y="103483"/>
                  </a:lnTo>
                  <a:lnTo>
                    <a:pt x="157437" y="100855"/>
                  </a:lnTo>
                  <a:lnTo>
                    <a:pt x="155466" y="99930"/>
                  </a:lnTo>
                  <a:close/>
                </a:path>
                <a:path w="303529" h="227965">
                  <a:moveTo>
                    <a:pt x="303240" y="101343"/>
                  </a:moveTo>
                  <a:lnTo>
                    <a:pt x="175599" y="101343"/>
                  </a:lnTo>
                  <a:lnTo>
                    <a:pt x="208748" y="132632"/>
                  </a:lnTo>
                  <a:lnTo>
                    <a:pt x="211826" y="135788"/>
                  </a:lnTo>
                  <a:lnTo>
                    <a:pt x="211813" y="140840"/>
                  </a:lnTo>
                  <a:lnTo>
                    <a:pt x="208748" y="143992"/>
                  </a:lnTo>
                  <a:lnTo>
                    <a:pt x="205539" y="147129"/>
                  </a:lnTo>
                  <a:lnTo>
                    <a:pt x="303240" y="147129"/>
                  </a:lnTo>
                  <a:lnTo>
                    <a:pt x="303240" y="101343"/>
                  </a:lnTo>
                  <a:close/>
                </a:path>
                <a:path w="303529" h="227965">
                  <a:moveTo>
                    <a:pt x="303240" y="38797"/>
                  </a:moveTo>
                  <a:lnTo>
                    <a:pt x="204001" y="38797"/>
                  </a:lnTo>
                  <a:lnTo>
                    <a:pt x="206091" y="40887"/>
                  </a:lnTo>
                  <a:lnTo>
                    <a:pt x="206839" y="42253"/>
                  </a:lnTo>
                  <a:lnTo>
                    <a:pt x="164336" y="101754"/>
                  </a:lnTo>
                  <a:lnTo>
                    <a:pt x="162730" y="103483"/>
                  </a:lnTo>
                  <a:lnTo>
                    <a:pt x="173695" y="103483"/>
                  </a:lnTo>
                  <a:lnTo>
                    <a:pt x="175599" y="101343"/>
                  </a:lnTo>
                  <a:lnTo>
                    <a:pt x="303240" y="101343"/>
                  </a:lnTo>
                  <a:lnTo>
                    <a:pt x="303240" y="38797"/>
                  </a:lnTo>
                  <a:close/>
                </a:path>
                <a:path w="303529" h="227965">
                  <a:moveTo>
                    <a:pt x="303240" y="32507"/>
                  </a:moveTo>
                  <a:lnTo>
                    <a:pt x="118232" y="32507"/>
                  </a:lnTo>
                  <a:lnTo>
                    <a:pt x="125403" y="37453"/>
                  </a:lnTo>
                  <a:lnTo>
                    <a:pt x="132345" y="42710"/>
                  </a:lnTo>
                  <a:lnTo>
                    <a:pt x="139046" y="48270"/>
                  </a:lnTo>
                  <a:lnTo>
                    <a:pt x="145496" y="54125"/>
                  </a:lnTo>
                  <a:lnTo>
                    <a:pt x="151191" y="58812"/>
                  </a:lnTo>
                  <a:lnTo>
                    <a:pt x="154224" y="65995"/>
                  </a:lnTo>
                  <a:lnTo>
                    <a:pt x="153731" y="71982"/>
                  </a:lnTo>
                  <a:lnTo>
                    <a:pt x="153619" y="73350"/>
                  </a:lnTo>
                  <a:lnTo>
                    <a:pt x="153524" y="73842"/>
                  </a:lnTo>
                  <a:lnTo>
                    <a:pt x="153438" y="74524"/>
                  </a:lnTo>
                  <a:lnTo>
                    <a:pt x="142414" y="85568"/>
                  </a:lnTo>
                  <a:lnTo>
                    <a:pt x="138907" y="88836"/>
                  </a:lnTo>
                  <a:lnTo>
                    <a:pt x="138141" y="88836"/>
                  </a:lnTo>
                  <a:lnTo>
                    <a:pt x="130795" y="89446"/>
                  </a:lnTo>
                  <a:lnTo>
                    <a:pt x="150009" y="89446"/>
                  </a:lnTo>
                  <a:lnTo>
                    <a:pt x="198541" y="40887"/>
                  </a:lnTo>
                  <a:lnTo>
                    <a:pt x="200599" y="38797"/>
                  </a:lnTo>
                  <a:lnTo>
                    <a:pt x="303240" y="38797"/>
                  </a:lnTo>
                  <a:lnTo>
                    <a:pt x="303240" y="32507"/>
                  </a:lnTo>
                  <a:close/>
                </a:path>
                <a:path w="303529" h="227965">
                  <a:moveTo>
                    <a:pt x="105489" y="50929"/>
                  </a:moveTo>
                  <a:lnTo>
                    <a:pt x="99830" y="50929"/>
                  </a:lnTo>
                  <a:lnTo>
                    <a:pt x="127492" y="78605"/>
                  </a:lnTo>
                  <a:lnTo>
                    <a:pt x="128760" y="78605"/>
                  </a:lnTo>
                  <a:lnTo>
                    <a:pt x="130321" y="77048"/>
                  </a:lnTo>
                  <a:lnTo>
                    <a:pt x="130325" y="75779"/>
                  </a:lnTo>
                  <a:lnTo>
                    <a:pt x="105489" y="50929"/>
                  </a:lnTo>
                  <a:close/>
                </a:path>
                <a:path w="303529" h="227965">
                  <a:moveTo>
                    <a:pt x="112095" y="44292"/>
                  </a:moveTo>
                  <a:lnTo>
                    <a:pt x="106436" y="44292"/>
                  </a:lnTo>
                  <a:lnTo>
                    <a:pt x="134116" y="71982"/>
                  </a:lnTo>
                  <a:lnTo>
                    <a:pt x="135384" y="71982"/>
                  </a:lnTo>
                  <a:lnTo>
                    <a:pt x="136945" y="70420"/>
                  </a:lnTo>
                  <a:lnTo>
                    <a:pt x="136941" y="69151"/>
                  </a:lnTo>
                  <a:lnTo>
                    <a:pt x="112095" y="44292"/>
                  </a:lnTo>
                  <a:close/>
                </a:path>
                <a:path w="303529" h="227965">
                  <a:moveTo>
                    <a:pt x="118687" y="37673"/>
                  </a:moveTo>
                  <a:lnTo>
                    <a:pt x="113060" y="37673"/>
                  </a:lnTo>
                  <a:lnTo>
                    <a:pt x="140736" y="65363"/>
                  </a:lnTo>
                  <a:lnTo>
                    <a:pt x="142004" y="65363"/>
                  </a:lnTo>
                  <a:lnTo>
                    <a:pt x="143565" y="63796"/>
                  </a:lnTo>
                  <a:lnTo>
                    <a:pt x="143565" y="62528"/>
                  </a:lnTo>
                  <a:lnTo>
                    <a:pt x="118687" y="37673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0"/>
            <a:ext cx="3096895" cy="6858000"/>
          </a:xfrm>
          <a:custGeom>
            <a:avLst/>
            <a:gdLst/>
            <a:ahLst/>
            <a:cxnLst/>
            <a:rect l="l" t="t" r="r" b="b"/>
            <a:pathLst>
              <a:path w="3096895" h="6858000">
                <a:moveTo>
                  <a:pt x="3096768" y="0"/>
                </a:moveTo>
                <a:lnTo>
                  <a:pt x="0" y="0"/>
                </a:lnTo>
                <a:lnTo>
                  <a:pt x="0" y="6858000"/>
                </a:lnTo>
                <a:lnTo>
                  <a:pt x="3096768" y="6858000"/>
                </a:lnTo>
                <a:lnTo>
                  <a:pt x="3096768" y="0"/>
                </a:lnTo>
                <a:close/>
              </a:path>
            </a:pathLst>
          </a:custGeom>
          <a:solidFill>
            <a:srgbClr val="D5E6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663" y="2313558"/>
            <a:ext cx="20974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031739"/>
                </a:solidFill>
                <a:latin typeface="Calibri"/>
                <a:cs typeface="Calibri"/>
              </a:rPr>
              <a:t>Pragmatic</a:t>
            </a:r>
            <a:r>
              <a:rPr dirty="0" sz="1600" spc="-10" b="1" i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600" spc="-30" b="1" i="1">
                <a:solidFill>
                  <a:srgbClr val="031739"/>
                </a:solidFill>
                <a:latin typeface="Calibri"/>
                <a:cs typeface="Calibri"/>
              </a:rPr>
              <a:t>Value-</a:t>
            </a:r>
            <a:r>
              <a:rPr dirty="0" sz="1600" spc="-10" b="1" i="1">
                <a:solidFill>
                  <a:srgbClr val="031739"/>
                </a:solidFill>
                <a:latin typeface="Calibri"/>
                <a:cs typeface="Calibri"/>
              </a:rPr>
              <a:t>seekers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3095625" cy="3813810"/>
            <a:chOff x="0" y="0"/>
            <a:chExt cx="3095625" cy="3813810"/>
          </a:xfrm>
        </p:grpSpPr>
        <p:sp>
          <p:nvSpPr>
            <p:cNvPr id="13" name="object 13"/>
            <p:cNvSpPr/>
            <p:nvPr/>
          </p:nvSpPr>
          <p:spPr>
            <a:xfrm>
              <a:off x="1142999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368807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368807" y="512063"/>
                  </a:lnTo>
                  <a:lnTo>
                    <a:pt x="368807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42999" y="2743200"/>
              <a:ext cx="368935" cy="512445"/>
            </a:xfrm>
            <a:custGeom>
              <a:avLst/>
              <a:gdLst/>
              <a:ahLst/>
              <a:cxnLst/>
              <a:rect l="l" t="t" r="r" b="b"/>
              <a:pathLst>
                <a:path w="368934" h="512445">
                  <a:moveTo>
                    <a:pt x="0" y="512063"/>
                  </a:moveTo>
                  <a:lnTo>
                    <a:pt x="368807" y="512063"/>
                  </a:lnTo>
                  <a:lnTo>
                    <a:pt x="368807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1667" y="2743200"/>
              <a:ext cx="702945" cy="512445"/>
            </a:xfrm>
            <a:custGeom>
              <a:avLst/>
              <a:gdLst/>
              <a:ahLst/>
              <a:cxnLst/>
              <a:rect l="l" t="t" r="r" b="b"/>
              <a:pathLst>
                <a:path w="702944" h="512445">
                  <a:moveTo>
                    <a:pt x="702563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702563" y="512063"/>
                  </a:lnTo>
                  <a:lnTo>
                    <a:pt x="7025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1667" y="2743200"/>
              <a:ext cx="702945" cy="512445"/>
            </a:xfrm>
            <a:custGeom>
              <a:avLst/>
              <a:gdLst/>
              <a:ahLst/>
              <a:cxnLst/>
              <a:rect l="l" t="t" r="r" b="b"/>
              <a:pathLst>
                <a:path w="702944" h="512445">
                  <a:moveTo>
                    <a:pt x="0" y="512063"/>
                  </a:moveTo>
                  <a:lnTo>
                    <a:pt x="702563" y="512063"/>
                  </a:lnTo>
                  <a:lnTo>
                    <a:pt x="702563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42160" y="2743200"/>
              <a:ext cx="660400" cy="512445"/>
            </a:xfrm>
            <a:custGeom>
              <a:avLst/>
              <a:gdLst/>
              <a:ahLst/>
              <a:cxnLst/>
              <a:rect l="l" t="t" r="r" b="b"/>
              <a:pathLst>
                <a:path w="660400" h="512445">
                  <a:moveTo>
                    <a:pt x="659892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659892" y="512063"/>
                  </a:lnTo>
                  <a:lnTo>
                    <a:pt x="6598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42160" y="2743200"/>
              <a:ext cx="660400" cy="512445"/>
            </a:xfrm>
            <a:custGeom>
              <a:avLst/>
              <a:gdLst/>
              <a:ahLst/>
              <a:cxnLst/>
              <a:rect l="l" t="t" r="r" b="b"/>
              <a:pathLst>
                <a:path w="660400" h="512445">
                  <a:moveTo>
                    <a:pt x="0" y="512063"/>
                  </a:moveTo>
                  <a:lnTo>
                    <a:pt x="659892" y="512063"/>
                  </a:lnTo>
                  <a:lnTo>
                    <a:pt x="659892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60575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432815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432815" y="512063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560575" y="2743200"/>
              <a:ext cx="433070" cy="512445"/>
            </a:xfrm>
            <a:custGeom>
              <a:avLst/>
              <a:gdLst/>
              <a:ahLst/>
              <a:cxnLst/>
              <a:rect l="l" t="t" r="r" b="b"/>
              <a:pathLst>
                <a:path w="433069" h="512445">
                  <a:moveTo>
                    <a:pt x="0" y="512063"/>
                  </a:moveTo>
                  <a:lnTo>
                    <a:pt x="432815" y="512063"/>
                  </a:lnTo>
                  <a:lnTo>
                    <a:pt x="432815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76044" y="3296411"/>
              <a:ext cx="826135" cy="510540"/>
            </a:xfrm>
            <a:custGeom>
              <a:avLst/>
              <a:gdLst/>
              <a:ahLst/>
              <a:cxnLst/>
              <a:rect l="l" t="t" r="r" b="b"/>
              <a:pathLst>
                <a:path w="826135" h="510539">
                  <a:moveTo>
                    <a:pt x="826007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826007" y="510539"/>
                  </a:lnTo>
                  <a:lnTo>
                    <a:pt x="826007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76044" y="3296411"/>
              <a:ext cx="826135" cy="510540"/>
            </a:xfrm>
            <a:custGeom>
              <a:avLst/>
              <a:gdLst/>
              <a:ahLst/>
              <a:cxnLst/>
              <a:rect l="l" t="t" r="r" b="b"/>
              <a:pathLst>
                <a:path w="826135" h="510539">
                  <a:moveTo>
                    <a:pt x="0" y="510539"/>
                  </a:moveTo>
                  <a:lnTo>
                    <a:pt x="826007" y="510539"/>
                  </a:lnTo>
                  <a:lnTo>
                    <a:pt x="826007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60575" y="3296411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2667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266700" y="510539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60575" y="3296411"/>
              <a:ext cx="266700" cy="510540"/>
            </a:xfrm>
            <a:custGeom>
              <a:avLst/>
              <a:gdLst/>
              <a:ahLst/>
              <a:cxnLst/>
              <a:rect l="l" t="t" r="r" b="b"/>
              <a:pathLst>
                <a:path w="266700" h="510539">
                  <a:moveTo>
                    <a:pt x="0" y="510539"/>
                  </a:moveTo>
                  <a:lnTo>
                    <a:pt x="266700" y="510539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667" y="3296411"/>
              <a:ext cx="457200" cy="510540"/>
            </a:xfrm>
            <a:custGeom>
              <a:avLst/>
              <a:gdLst/>
              <a:ahLst/>
              <a:cxnLst/>
              <a:rect l="l" t="t" r="r" b="b"/>
              <a:pathLst>
                <a:path w="457200" h="510539">
                  <a:moveTo>
                    <a:pt x="457200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457200" y="51053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7E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1667" y="3296411"/>
              <a:ext cx="457200" cy="510540"/>
            </a:xfrm>
            <a:custGeom>
              <a:avLst/>
              <a:gdLst/>
              <a:ahLst/>
              <a:cxnLst/>
              <a:rect l="l" t="t" r="r" b="b"/>
              <a:pathLst>
                <a:path w="457200" h="510539">
                  <a:moveTo>
                    <a:pt x="0" y="510539"/>
                  </a:moveTo>
                  <a:lnTo>
                    <a:pt x="457200" y="510539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97635" y="3296411"/>
              <a:ext cx="614680" cy="510540"/>
            </a:xfrm>
            <a:custGeom>
              <a:avLst/>
              <a:gdLst/>
              <a:ahLst/>
              <a:cxnLst/>
              <a:rect l="l" t="t" r="r" b="b"/>
              <a:pathLst>
                <a:path w="614680" h="510539">
                  <a:moveTo>
                    <a:pt x="614172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614172" y="510539"/>
                  </a:lnTo>
                  <a:lnTo>
                    <a:pt x="6141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7635" y="3296411"/>
              <a:ext cx="614680" cy="510540"/>
            </a:xfrm>
            <a:custGeom>
              <a:avLst/>
              <a:gdLst/>
              <a:ahLst/>
              <a:cxnLst/>
              <a:rect l="l" t="t" r="r" b="b"/>
              <a:pathLst>
                <a:path w="614680" h="510539">
                  <a:moveTo>
                    <a:pt x="0" y="510539"/>
                  </a:moveTo>
                  <a:lnTo>
                    <a:pt x="614172" y="510539"/>
                  </a:lnTo>
                  <a:lnTo>
                    <a:pt x="614172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822" y="3465866"/>
              <a:ext cx="173591" cy="172451"/>
            </a:xfrm>
            <a:prstGeom prst="rect">
              <a:avLst/>
            </a:prstGeom>
          </p:spPr>
        </p:pic>
        <p:pic>
          <p:nvPicPr>
            <p:cNvPr id="30" name="object 30" descr="Woman browsing store shelves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3095243" cy="2197608"/>
            </a:xfrm>
            <a:prstGeom prst="rect">
              <a:avLst/>
            </a:prstGeom>
          </p:spPr>
        </p:pic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4383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Channel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&amp;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Brand: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/>
              <a:t>focus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expanded</a:t>
            </a:r>
            <a:r>
              <a:rPr dirty="0" spc="-70"/>
              <a:t> </a:t>
            </a:r>
            <a:r>
              <a:rPr dirty="0"/>
              <a:t>listings</a:t>
            </a:r>
            <a:r>
              <a:rPr dirty="0" spc="-80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/>
              <a:t>central</a:t>
            </a:r>
            <a:r>
              <a:rPr dirty="0" spc="-90"/>
              <a:t> </a:t>
            </a:r>
            <a:r>
              <a:rPr dirty="0" spc="-10"/>
              <a:t>retail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352038" y="6345428"/>
            <a:ext cx="7392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1.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Ordered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overall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importance;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2.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Percentages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channel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(i.e.,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online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sales,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in-store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specific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percentage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in-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store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sales)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663" y="3965194"/>
            <a:ext cx="1235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1200" spc="-4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highlights: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1668" y="4213859"/>
            <a:ext cx="2313940" cy="0"/>
          </a:xfrm>
          <a:custGeom>
            <a:avLst/>
            <a:gdLst/>
            <a:ahLst/>
            <a:cxnLst/>
            <a:rect l="l" t="t" r="r" b="b"/>
            <a:pathLst>
              <a:path w="2313940" h="0">
                <a:moveTo>
                  <a:pt x="231381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3173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6474333" y="1235963"/>
            <a:ext cx="5520690" cy="1732914"/>
            <a:chOff x="6474333" y="1235963"/>
            <a:chExt cx="5520690" cy="1732914"/>
          </a:xfrm>
        </p:grpSpPr>
        <p:sp>
          <p:nvSpPr>
            <p:cNvPr id="36" name="object 36"/>
            <p:cNvSpPr/>
            <p:nvPr/>
          </p:nvSpPr>
          <p:spPr>
            <a:xfrm>
              <a:off x="6483858" y="1309877"/>
              <a:ext cx="5501640" cy="1649095"/>
            </a:xfrm>
            <a:custGeom>
              <a:avLst/>
              <a:gdLst/>
              <a:ahLst/>
              <a:cxnLst/>
              <a:rect l="l" t="t" r="r" b="b"/>
              <a:pathLst>
                <a:path w="5501640" h="1649095">
                  <a:moveTo>
                    <a:pt x="0" y="1648968"/>
                  </a:moveTo>
                  <a:lnTo>
                    <a:pt x="5501640" y="1648968"/>
                  </a:lnTo>
                  <a:lnTo>
                    <a:pt x="5501640" y="0"/>
                  </a:lnTo>
                  <a:lnTo>
                    <a:pt x="0" y="0"/>
                  </a:lnTo>
                  <a:lnTo>
                    <a:pt x="0" y="1648968"/>
                  </a:lnTo>
                  <a:close/>
                </a:path>
              </a:pathLst>
            </a:custGeom>
            <a:ln w="19049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48700" y="1235963"/>
              <a:ext cx="1169035" cy="140335"/>
            </a:xfrm>
            <a:custGeom>
              <a:avLst/>
              <a:gdLst/>
              <a:ahLst/>
              <a:cxnLst/>
              <a:rect l="l" t="t" r="r" b="b"/>
              <a:pathLst>
                <a:path w="1169034" h="140334">
                  <a:moveTo>
                    <a:pt x="1168907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1168907" y="14020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3354704" y="1300352"/>
            <a:ext cx="2985135" cy="4669155"/>
            <a:chOff x="3354704" y="1300352"/>
            <a:chExt cx="2985135" cy="4669155"/>
          </a:xfrm>
        </p:grpSpPr>
        <p:sp>
          <p:nvSpPr>
            <p:cNvPr id="39" name="object 39"/>
            <p:cNvSpPr/>
            <p:nvPr/>
          </p:nvSpPr>
          <p:spPr>
            <a:xfrm>
              <a:off x="3364229" y="1309877"/>
              <a:ext cx="2966085" cy="4650105"/>
            </a:xfrm>
            <a:custGeom>
              <a:avLst/>
              <a:gdLst/>
              <a:ahLst/>
              <a:cxnLst/>
              <a:rect l="l" t="t" r="r" b="b"/>
              <a:pathLst>
                <a:path w="2966085" h="4650105">
                  <a:moveTo>
                    <a:pt x="0" y="4649724"/>
                  </a:moveTo>
                  <a:lnTo>
                    <a:pt x="2965704" y="4649724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4649724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4631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04459" y="183400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4631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204459" y="197116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84631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04459" y="2108326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4631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204459" y="22456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846320" y="23827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1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04459" y="25199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619118" y="2657094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846320" y="265709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19119" y="2657093"/>
              <a:ext cx="2649220" cy="274320"/>
            </a:xfrm>
            <a:custGeom>
              <a:avLst/>
              <a:gdLst/>
              <a:ahLst/>
              <a:cxnLst/>
              <a:rect l="l" t="t" r="r" b="b"/>
              <a:pathLst>
                <a:path w="2649220" h="274319">
                  <a:moveTo>
                    <a:pt x="1227226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1227226" y="274320"/>
                  </a:lnTo>
                  <a:lnTo>
                    <a:pt x="1227226" y="137160"/>
                  </a:lnTo>
                  <a:close/>
                </a:path>
                <a:path w="2649220" h="274319">
                  <a:moveTo>
                    <a:pt x="2648762" y="0"/>
                  </a:moveTo>
                  <a:lnTo>
                    <a:pt x="1943481" y="0"/>
                  </a:lnTo>
                  <a:lnTo>
                    <a:pt x="1943481" y="137160"/>
                  </a:lnTo>
                  <a:lnTo>
                    <a:pt x="2648762" y="137160"/>
                  </a:lnTo>
                  <a:lnTo>
                    <a:pt x="2648762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846320" y="279425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562600" y="279425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631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204459" y="29314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846320" y="30685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619118" y="320573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227226" y="137160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84631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204459" y="32057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562600" y="320573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05281" y="137160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846320" y="334289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846320" y="348005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84631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204459" y="36172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846320" y="375437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846320" y="389153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846320" y="4028693"/>
              <a:ext cx="716280" cy="274320"/>
            </a:xfrm>
            <a:custGeom>
              <a:avLst/>
              <a:gdLst/>
              <a:ahLst/>
              <a:cxnLst/>
              <a:rect l="l" t="t" r="r" b="b"/>
              <a:pathLst>
                <a:path w="716279" h="274320">
                  <a:moveTo>
                    <a:pt x="358140" y="137160"/>
                  </a:moveTo>
                  <a:lnTo>
                    <a:pt x="0" y="137160"/>
                  </a:lnTo>
                  <a:lnTo>
                    <a:pt x="0" y="274320"/>
                  </a:lnTo>
                  <a:lnTo>
                    <a:pt x="358140" y="274320"/>
                  </a:lnTo>
                  <a:lnTo>
                    <a:pt x="358140" y="137160"/>
                  </a:lnTo>
                  <a:close/>
                </a:path>
                <a:path w="716279" h="274320">
                  <a:moveTo>
                    <a:pt x="716280" y="0"/>
                  </a:moveTo>
                  <a:lnTo>
                    <a:pt x="358140" y="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204459" y="4165854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84631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204459" y="430301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19118" y="4440173"/>
              <a:ext cx="1227455" cy="137160"/>
            </a:xfrm>
            <a:custGeom>
              <a:avLst/>
              <a:gdLst/>
              <a:ahLst/>
              <a:cxnLst/>
              <a:rect l="l" t="t" r="r" b="b"/>
              <a:pathLst>
                <a:path w="1227454" h="137160">
                  <a:moveTo>
                    <a:pt x="1227226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1227226" y="137159"/>
                  </a:lnTo>
                  <a:lnTo>
                    <a:pt x="1227226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846320" y="444017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562600" y="4440173"/>
              <a:ext cx="705485" cy="137160"/>
            </a:xfrm>
            <a:custGeom>
              <a:avLst/>
              <a:gdLst/>
              <a:ahLst/>
              <a:cxnLst/>
              <a:rect l="l" t="t" r="r" b="b"/>
              <a:pathLst>
                <a:path w="705485" h="137160">
                  <a:moveTo>
                    <a:pt x="705281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705281" y="137159"/>
                  </a:lnTo>
                  <a:lnTo>
                    <a:pt x="705281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84631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204459" y="457733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84631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204459" y="47144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846320" y="4851654"/>
              <a:ext cx="716280" cy="411480"/>
            </a:xfrm>
            <a:custGeom>
              <a:avLst/>
              <a:gdLst/>
              <a:ahLst/>
              <a:cxnLst/>
              <a:rect l="l" t="t" r="r" b="b"/>
              <a:pathLst>
                <a:path w="716279" h="411479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274320"/>
                  </a:lnTo>
                  <a:lnTo>
                    <a:pt x="0" y="411480"/>
                  </a:lnTo>
                  <a:lnTo>
                    <a:pt x="358140" y="411480"/>
                  </a:lnTo>
                  <a:lnTo>
                    <a:pt x="716280" y="411480"/>
                  </a:lnTo>
                  <a:lnTo>
                    <a:pt x="716280" y="27432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846320" y="5263133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84631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FB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204459" y="5400293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358139" y="137159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84631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8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204459" y="5537517"/>
              <a:ext cx="358140" cy="137160"/>
            </a:xfrm>
            <a:custGeom>
              <a:avLst/>
              <a:gdLst/>
              <a:ahLst/>
              <a:cxnLst/>
              <a:rect l="l" t="t" r="r" b="b"/>
              <a:pathLst>
                <a:path w="358139" h="137160">
                  <a:moveTo>
                    <a:pt x="358139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358139" y="13716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846320" y="5674677"/>
              <a:ext cx="716280" cy="137160"/>
            </a:xfrm>
            <a:custGeom>
              <a:avLst/>
              <a:gdLst/>
              <a:ahLst/>
              <a:cxnLst/>
              <a:rect l="l" t="t" r="r" b="b"/>
              <a:pathLst>
                <a:path w="716279" h="137160">
                  <a:moveTo>
                    <a:pt x="716280" y="0"/>
                  </a:moveTo>
                  <a:lnTo>
                    <a:pt x="358140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358140" y="137160"/>
                  </a:lnTo>
                  <a:lnTo>
                    <a:pt x="716280" y="137160"/>
                  </a:lnTo>
                  <a:lnTo>
                    <a:pt x="716280" y="0"/>
                  </a:lnTo>
                  <a:close/>
                </a:path>
              </a:pathLst>
            </a:custGeom>
            <a:solidFill>
              <a:srgbClr val="007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12768" y="1701800"/>
              <a:ext cx="2661920" cy="4116704"/>
            </a:xfrm>
            <a:custGeom>
              <a:avLst/>
              <a:gdLst/>
              <a:ahLst/>
              <a:cxnLst/>
              <a:rect l="l" t="t" r="r" b="b"/>
              <a:pathLst>
                <a:path w="2661920" h="4116704">
                  <a:moveTo>
                    <a:pt x="1233551" y="0"/>
                  </a:moveTo>
                  <a:lnTo>
                    <a:pt x="1233551" y="4116387"/>
                  </a:lnTo>
                </a:path>
                <a:path w="2661920" h="4116704">
                  <a:moveTo>
                    <a:pt x="1591690" y="0"/>
                  </a:moveTo>
                  <a:lnTo>
                    <a:pt x="1591690" y="4116387"/>
                  </a:lnTo>
                </a:path>
                <a:path w="2661920" h="4116704">
                  <a:moveTo>
                    <a:pt x="1949830" y="0"/>
                  </a:moveTo>
                  <a:lnTo>
                    <a:pt x="1949830" y="4116387"/>
                  </a:lnTo>
                </a:path>
                <a:path w="2661920" h="4116704">
                  <a:moveTo>
                    <a:pt x="0" y="132207"/>
                  </a:moveTo>
                  <a:lnTo>
                    <a:pt x="2661411" y="132207"/>
                  </a:lnTo>
                </a:path>
                <a:path w="2661920" h="4116704">
                  <a:moveTo>
                    <a:pt x="0" y="269366"/>
                  </a:moveTo>
                  <a:lnTo>
                    <a:pt x="2661411" y="269366"/>
                  </a:lnTo>
                </a:path>
                <a:path w="2661920" h="4116704">
                  <a:moveTo>
                    <a:pt x="0" y="406526"/>
                  </a:moveTo>
                  <a:lnTo>
                    <a:pt x="2661411" y="406526"/>
                  </a:lnTo>
                </a:path>
                <a:path w="2661920" h="4116704">
                  <a:moveTo>
                    <a:pt x="0" y="543687"/>
                  </a:moveTo>
                  <a:lnTo>
                    <a:pt x="2661411" y="543687"/>
                  </a:lnTo>
                </a:path>
                <a:path w="2661920" h="4116704">
                  <a:moveTo>
                    <a:pt x="0" y="680974"/>
                  </a:moveTo>
                  <a:lnTo>
                    <a:pt x="2661411" y="680974"/>
                  </a:lnTo>
                </a:path>
                <a:path w="2661920" h="4116704">
                  <a:moveTo>
                    <a:pt x="0" y="818134"/>
                  </a:moveTo>
                  <a:lnTo>
                    <a:pt x="2661411" y="818134"/>
                  </a:lnTo>
                </a:path>
                <a:path w="2661920" h="4116704">
                  <a:moveTo>
                    <a:pt x="0" y="955294"/>
                  </a:moveTo>
                  <a:lnTo>
                    <a:pt x="2661411" y="955294"/>
                  </a:lnTo>
                </a:path>
                <a:path w="2661920" h="4116704">
                  <a:moveTo>
                    <a:pt x="0" y="1092453"/>
                  </a:moveTo>
                  <a:lnTo>
                    <a:pt x="2661411" y="1092453"/>
                  </a:lnTo>
                </a:path>
                <a:path w="2661920" h="4116704">
                  <a:moveTo>
                    <a:pt x="0" y="1229614"/>
                  </a:moveTo>
                  <a:lnTo>
                    <a:pt x="2661411" y="1229614"/>
                  </a:lnTo>
                </a:path>
                <a:path w="2661920" h="4116704">
                  <a:moveTo>
                    <a:pt x="0" y="1366774"/>
                  </a:moveTo>
                  <a:lnTo>
                    <a:pt x="2661411" y="1366774"/>
                  </a:lnTo>
                </a:path>
                <a:path w="2661920" h="4116704">
                  <a:moveTo>
                    <a:pt x="0" y="1503934"/>
                  </a:moveTo>
                  <a:lnTo>
                    <a:pt x="2661411" y="1503934"/>
                  </a:lnTo>
                </a:path>
                <a:path w="2661920" h="4116704">
                  <a:moveTo>
                    <a:pt x="0" y="1641094"/>
                  </a:moveTo>
                  <a:lnTo>
                    <a:pt x="2661411" y="1641094"/>
                  </a:lnTo>
                </a:path>
                <a:path w="2661920" h="4116704">
                  <a:moveTo>
                    <a:pt x="0" y="1778253"/>
                  </a:moveTo>
                  <a:lnTo>
                    <a:pt x="2661411" y="1778253"/>
                  </a:lnTo>
                </a:path>
                <a:path w="2661920" h="4116704">
                  <a:moveTo>
                    <a:pt x="0" y="1915414"/>
                  </a:moveTo>
                  <a:lnTo>
                    <a:pt x="2661411" y="1915414"/>
                  </a:lnTo>
                </a:path>
                <a:path w="2661920" h="4116704">
                  <a:moveTo>
                    <a:pt x="0" y="2052574"/>
                  </a:moveTo>
                  <a:lnTo>
                    <a:pt x="2661411" y="2052574"/>
                  </a:lnTo>
                </a:path>
                <a:path w="2661920" h="4116704">
                  <a:moveTo>
                    <a:pt x="0" y="2189734"/>
                  </a:moveTo>
                  <a:lnTo>
                    <a:pt x="2661411" y="2189734"/>
                  </a:lnTo>
                </a:path>
                <a:path w="2661920" h="4116704">
                  <a:moveTo>
                    <a:pt x="0" y="2326894"/>
                  </a:moveTo>
                  <a:lnTo>
                    <a:pt x="2661411" y="2326894"/>
                  </a:lnTo>
                </a:path>
                <a:path w="2661920" h="4116704">
                  <a:moveTo>
                    <a:pt x="0" y="2464054"/>
                  </a:moveTo>
                  <a:lnTo>
                    <a:pt x="2661411" y="2464054"/>
                  </a:lnTo>
                </a:path>
                <a:path w="2661920" h="4116704">
                  <a:moveTo>
                    <a:pt x="0" y="2601214"/>
                  </a:moveTo>
                  <a:lnTo>
                    <a:pt x="2661411" y="2601214"/>
                  </a:lnTo>
                </a:path>
                <a:path w="2661920" h="4116704">
                  <a:moveTo>
                    <a:pt x="0" y="2738374"/>
                  </a:moveTo>
                  <a:lnTo>
                    <a:pt x="2661411" y="2738374"/>
                  </a:lnTo>
                </a:path>
                <a:path w="2661920" h="4116704">
                  <a:moveTo>
                    <a:pt x="0" y="2875534"/>
                  </a:moveTo>
                  <a:lnTo>
                    <a:pt x="2661411" y="2875534"/>
                  </a:lnTo>
                </a:path>
                <a:path w="2661920" h="4116704">
                  <a:moveTo>
                    <a:pt x="0" y="3012694"/>
                  </a:moveTo>
                  <a:lnTo>
                    <a:pt x="2661411" y="3012694"/>
                  </a:lnTo>
                </a:path>
                <a:path w="2661920" h="4116704">
                  <a:moveTo>
                    <a:pt x="0" y="3149854"/>
                  </a:moveTo>
                  <a:lnTo>
                    <a:pt x="2661411" y="3149854"/>
                  </a:lnTo>
                </a:path>
                <a:path w="2661920" h="4116704">
                  <a:moveTo>
                    <a:pt x="0" y="3287014"/>
                  </a:moveTo>
                  <a:lnTo>
                    <a:pt x="2661411" y="3287014"/>
                  </a:lnTo>
                </a:path>
                <a:path w="2661920" h="4116704">
                  <a:moveTo>
                    <a:pt x="0" y="3424174"/>
                  </a:moveTo>
                  <a:lnTo>
                    <a:pt x="2661411" y="3424174"/>
                  </a:lnTo>
                </a:path>
                <a:path w="2661920" h="4116704">
                  <a:moveTo>
                    <a:pt x="0" y="3561334"/>
                  </a:moveTo>
                  <a:lnTo>
                    <a:pt x="2661411" y="3561334"/>
                  </a:lnTo>
                </a:path>
                <a:path w="2661920" h="4116704">
                  <a:moveTo>
                    <a:pt x="0" y="3698494"/>
                  </a:moveTo>
                  <a:lnTo>
                    <a:pt x="2661411" y="3698494"/>
                  </a:lnTo>
                </a:path>
                <a:path w="2661920" h="4116704">
                  <a:moveTo>
                    <a:pt x="0" y="3835654"/>
                  </a:moveTo>
                  <a:lnTo>
                    <a:pt x="2661411" y="3835654"/>
                  </a:lnTo>
                </a:path>
                <a:path w="2661920" h="4116704">
                  <a:moveTo>
                    <a:pt x="0" y="3972877"/>
                  </a:moveTo>
                  <a:lnTo>
                    <a:pt x="2661411" y="3972877"/>
                  </a:lnTo>
                </a:path>
                <a:path w="2661920" h="4116704">
                  <a:moveTo>
                    <a:pt x="6350" y="0"/>
                  </a:moveTo>
                  <a:lnTo>
                    <a:pt x="6350" y="4116387"/>
                  </a:lnTo>
                </a:path>
                <a:path w="2661920" h="4116704">
                  <a:moveTo>
                    <a:pt x="2655061" y="0"/>
                  </a:moveTo>
                  <a:lnTo>
                    <a:pt x="2655061" y="4116387"/>
                  </a:lnTo>
                </a:path>
                <a:path w="2661920" h="4116704">
                  <a:moveTo>
                    <a:pt x="0" y="6350"/>
                  </a:moveTo>
                  <a:lnTo>
                    <a:pt x="2661411" y="6350"/>
                  </a:lnTo>
                </a:path>
                <a:path w="2661920" h="4116704">
                  <a:moveTo>
                    <a:pt x="0" y="4110037"/>
                  </a:moveTo>
                  <a:lnTo>
                    <a:pt x="2661411" y="411003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7" name="object 8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00543" y="1874520"/>
            <a:ext cx="135635" cy="164591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8035" y="1905000"/>
            <a:ext cx="297179" cy="103632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48139" y="1894332"/>
            <a:ext cx="193501" cy="124967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58500" y="1886711"/>
            <a:ext cx="283464" cy="140208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34318" y="1931077"/>
            <a:ext cx="402243" cy="51477"/>
          </a:xfrm>
          <a:prstGeom prst="rect">
            <a:avLst/>
          </a:prstGeom>
        </p:spPr>
      </p:pic>
      <p:grpSp>
        <p:nvGrpSpPr>
          <p:cNvPr id="92" name="object 92"/>
          <p:cNvGrpSpPr/>
          <p:nvPr/>
        </p:nvGrpSpPr>
        <p:grpSpPr>
          <a:xfrm>
            <a:off x="9700259" y="1894332"/>
            <a:ext cx="243840" cy="123825"/>
            <a:chOff x="9700259" y="1894332"/>
            <a:chExt cx="243840" cy="123825"/>
          </a:xfrm>
        </p:grpSpPr>
        <p:pic>
          <p:nvPicPr>
            <p:cNvPr id="93" name="object 9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00259" y="1894332"/>
              <a:ext cx="117346" cy="12344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40467" y="1894332"/>
              <a:ext cx="103630" cy="123444"/>
            </a:xfrm>
            <a:prstGeom prst="rect">
              <a:avLst/>
            </a:prstGeom>
          </p:spPr>
        </p:pic>
      </p:grpSp>
      <p:pic>
        <p:nvPicPr>
          <p:cNvPr id="95" name="object 95" descr="Lidl - Wikipedia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38816" y="1883664"/>
            <a:ext cx="144779" cy="144779"/>
          </a:xfrm>
          <a:prstGeom prst="rect">
            <a:avLst/>
          </a:prstGeom>
        </p:spPr>
      </p:pic>
      <p:pic>
        <p:nvPicPr>
          <p:cNvPr id="96" name="object 96" descr="Koro_logo_Vektor | KoRo Handels GmbH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813474" y="1894322"/>
            <a:ext cx="139680" cy="127903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11297411" y="1688592"/>
            <a:ext cx="582295" cy="1135380"/>
            <a:chOff x="11297411" y="1688592"/>
            <a:chExt cx="582295" cy="1135380"/>
          </a:xfrm>
        </p:grpSpPr>
        <p:sp>
          <p:nvSpPr>
            <p:cNvPr id="98" name="object 98"/>
            <p:cNvSpPr/>
            <p:nvPr/>
          </p:nvSpPr>
          <p:spPr>
            <a:xfrm>
              <a:off x="11297411" y="1688592"/>
              <a:ext cx="582295" cy="1135380"/>
            </a:xfrm>
            <a:custGeom>
              <a:avLst/>
              <a:gdLst/>
              <a:ahLst/>
              <a:cxnLst/>
              <a:rect l="l" t="t" r="r" b="b"/>
              <a:pathLst>
                <a:path w="582295" h="1135380">
                  <a:moveTo>
                    <a:pt x="582168" y="0"/>
                  </a:moveTo>
                  <a:lnTo>
                    <a:pt x="0" y="0"/>
                  </a:lnTo>
                  <a:lnTo>
                    <a:pt x="0" y="1135379"/>
                  </a:lnTo>
                  <a:lnTo>
                    <a:pt x="582168" y="1135379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FFCC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The Amazon Logo: Inspiring Insights for Business Owners and Marketers -  crowdspring Blog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43715" y="1912620"/>
              <a:ext cx="289559" cy="88391"/>
            </a:xfrm>
            <a:prstGeom prst="rect">
              <a:avLst/>
            </a:prstGeom>
          </p:spPr>
        </p:pic>
      </p:grpSp>
      <p:sp>
        <p:nvSpPr>
          <p:cNvPr id="100" name="object 100"/>
          <p:cNvSpPr txBox="1"/>
          <p:nvPr/>
        </p:nvSpPr>
        <p:spPr>
          <a:xfrm>
            <a:off x="3606800" y="1699386"/>
            <a:ext cx="7620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Functional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attribute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901946" y="1699386"/>
            <a:ext cx="2470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Brand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221985" y="1699386"/>
            <a:ext cx="3244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613272" y="1699386"/>
            <a:ext cx="606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Scores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606800" y="1807311"/>
            <a:ext cx="82676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Tastes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Healthy</a:t>
            </a:r>
            <a:r>
              <a:rPr dirty="0" sz="800" spc="-4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ingredients</a:t>
            </a:r>
            <a:r>
              <a:rPr dirty="0" sz="800" spc="50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quality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606800" y="2233422"/>
            <a:ext cx="9740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All-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natural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organic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606800" y="2370582"/>
            <a:ext cx="10693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Good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for</a:t>
            </a:r>
            <a:r>
              <a:rPr dirty="0" sz="800" spc="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everyday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eating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606800" y="2507742"/>
            <a:ext cx="8985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No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artificial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additives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606800" y="2630271"/>
            <a:ext cx="75882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Great</a:t>
            </a:r>
            <a:r>
              <a:rPr dirty="0" sz="800" spc="-3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value</a:t>
            </a:r>
            <a:r>
              <a:rPr dirty="0" sz="800" spc="50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Affordably</a:t>
            </a:r>
            <a:r>
              <a:rPr dirty="0" sz="800" spc="35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priced</a:t>
            </a:r>
            <a:r>
              <a:rPr dirty="0" sz="800" spc="50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Premium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606800" y="3056077"/>
            <a:ext cx="6019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606800" y="3193795"/>
            <a:ext cx="6521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High</a:t>
            </a:r>
            <a:r>
              <a:rPr dirty="0" sz="800" spc="-2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dirty="0" sz="800" spc="-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protein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606800" y="3330955"/>
            <a:ext cx="10210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Provide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energy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boost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606800" y="3468115"/>
            <a:ext cx="4978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Sustainable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606800" y="3605276"/>
            <a:ext cx="6540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Locally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sourced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606800" y="3742435"/>
            <a:ext cx="11823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Fair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ethnical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 production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606800" y="3879596"/>
            <a:ext cx="6629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Vegan</a:t>
            </a:r>
            <a:r>
              <a:rPr dirty="0" sz="800" spc="-4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kind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373754" y="4016755"/>
            <a:ext cx="18243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Many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products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flavors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606800" y="4153915"/>
            <a:ext cx="657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Low</a:t>
            </a:r>
            <a:r>
              <a:rPr dirty="0" sz="800" spc="-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calories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06800" y="4291076"/>
            <a:ext cx="11017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Versatility</a:t>
            </a:r>
            <a:r>
              <a:rPr dirty="0" sz="800" spc="1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cook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06800" y="4428490"/>
            <a:ext cx="94424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Available</a:t>
            </a:r>
            <a:r>
              <a:rPr dirty="0" sz="800" spc="30" b="1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4D4D4D"/>
                </a:solidFill>
                <a:latin typeface="Calibri"/>
                <a:cs typeface="Calibri"/>
              </a:rPr>
              <a:t>everywhere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606800" y="4565650"/>
            <a:ext cx="83311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Unique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original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606800" y="4702809"/>
            <a:ext cx="80264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Easily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recognizable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606800" y="4839970"/>
            <a:ext cx="8242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Socially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responsible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606800" y="4977129"/>
            <a:ext cx="10604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Transparent</a:t>
            </a:r>
            <a:r>
              <a:rPr dirty="0" sz="800" spc="-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supply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chain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06800" y="5114290"/>
            <a:ext cx="3371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Trusted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06800" y="5251450"/>
            <a:ext cx="6870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Popular</a:t>
            </a:r>
            <a:r>
              <a:rPr dirty="0" sz="800" spc="-3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373754" y="5388609"/>
            <a:ext cx="18243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Availability</a:t>
            </a:r>
            <a:r>
              <a:rPr dirty="0" sz="800" spc="65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800" spc="1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mass-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prod.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06800" y="5525820"/>
            <a:ext cx="4933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D4D4D"/>
                </a:solidFill>
                <a:latin typeface="Calibri"/>
                <a:cs typeface="Calibri"/>
              </a:rPr>
              <a:t>Gluten-</a:t>
            </a:r>
            <a:r>
              <a:rPr dirty="0" sz="800" spc="-20" i="1">
                <a:solidFill>
                  <a:srgbClr val="4D4D4D"/>
                </a:solidFill>
                <a:latin typeface="Calibri"/>
                <a:cs typeface="Calibri"/>
              </a:rPr>
              <a:t>free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606800" y="5662676"/>
            <a:ext cx="7296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Modern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dirty="0" sz="800" spc="-3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 spc="-25" i="1">
                <a:solidFill>
                  <a:srgbClr val="4D4D4D"/>
                </a:solidFill>
                <a:latin typeface="Calibri"/>
                <a:cs typeface="Calibri"/>
              </a:rPr>
              <a:t>new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4492752" y="1235963"/>
            <a:ext cx="1070610" cy="4580890"/>
            <a:chOff x="4492752" y="1235963"/>
            <a:chExt cx="1070610" cy="4580890"/>
          </a:xfrm>
        </p:grpSpPr>
        <p:pic>
          <p:nvPicPr>
            <p:cNvPr id="130" name="object 130" descr="Koro_logo_Vektor | KoRo Handels GmbH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4121" y="1469042"/>
              <a:ext cx="198054" cy="181758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849368" y="1447800"/>
              <a:ext cx="708660" cy="4364355"/>
            </a:xfrm>
            <a:custGeom>
              <a:avLst/>
              <a:gdLst/>
              <a:ahLst/>
              <a:cxnLst/>
              <a:rect l="l" t="t" r="r" b="b"/>
              <a:pathLst>
                <a:path w="708660" h="4364355">
                  <a:moveTo>
                    <a:pt x="0" y="0"/>
                  </a:moveTo>
                  <a:lnTo>
                    <a:pt x="0" y="4364037"/>
                  </a:lnTo>
                </a:path>
                <a:path w="708660" h="4364355">
                  <a:moveTo>
                    <a:pt x="708660" y="0"/>
                  </a:moveTo>
                  <a:lnTo>
                    <a:pt x="708660" y="4364037"/>
                  </a:lnTo>
                </a:path>
              </a:pathLst>
            </a:custGeom>
            <a:ln w="9525">
              <a:solidFill>
                <a:srgbClr val="30333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4492752" y="1235963"/>
              <a:ext cx="707390" cy="140335"/>
            </a:xfrm>
            <a:custGeom>
              <a:avLst/>
              <a:gdLst/>
              <a:ahLst/>
              <a:cxnLst/>
              <a:rect l="l" t="t" r="r" b="b"/>
              <a:pathLst>
                <a:path w="707389" h="140334">
                  <a:moveTo>
                    <a:pt x="707136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707136" y="140208"/>
                  </a:lnTo>
                  <a:lnTo>
                    <a:pt x="707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/>
          <p:cNvSpPr txBox="1"/>
          <p:nvPr/>
        </p:nvSpPr>
        <p:spPr>
          <a:xfrm>
            <a:off x="4509770" y="1217803"/>
            <a:ext cx="676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1</a:t>
            </a:r>
            <a:endParaRPr baseline="27777" sz="9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662669" y="1217803"/>
            <a:ext cx="1144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Channel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</a:t>
            </a:r>
            <a:r>
              <a:rPr dirty="0" baseline="27777" sz="900" spc="-15" b="1">
                <a:solidFill>
                  <a:srgbClr val="031739"/>
                </a:solidFill>
                <a:latin typeface="Calibri"/>
                <a:cs typeface="Calibri"/>
              </a:rPr>
              <a:t>2</a:t>
            </a:r>
            <a:endParaRPr baseline="27777" sz="900">
              <a:latin typeface="Calibri"/>
              <a:cs typeface="Calibri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7133843" y="1478280"/>
            <a:ext cx="4197350" cy="123825"/>
            <a:chOff x="7133843" y="1478280"/>
            <a:chExt cx="4197350" cy="123825"/>
          </a:xfrm>
        </p:grpSpPr>
        <p:sp>
          <p:nvSpPr>
            <p:cNvPr id="136" name="object 136"/>
            <p:cNvSpPr/>
            <p:nvPr/>
          </p:nvSpPr>
          <p:spPr>
            <a:xfrm>
              <a:off x="7133843" y="1501140"/>
              <a:ext cx="4197350" cy="76200"/>
            </a:xfrm>
            <a:custGeom>
              <a:avLst/>
              <a:gdLst/>
              <a:ahLst/>
              <a:cxnLst/>
              <a:rect l="l" t="t" r="r" b="b"/>
              <a:pathLst>
                <a:path w="419735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589" y="46100"/>
                  </a:lnTo>
                  <a:lnTo>
                    <a:pt x="38100" y="46100"/>
                  </a:lnTo>
                  <a:lnTo>
                    <a:pt x="38100" y="30225"/>
                  </a:lnTo>
                  <a:lnTo>
                    <a:pt x="74615" y="30225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197350" h="76200">
                  <a:moveTo>
                    <a:pt x="4159250" y="0"/>
                  </a:moveTo>
                  <a:lnTo>
                    <a:pt x="4144402" y="2988"/>
                  </a:lnTo>
                  <a:lnTo>
                    <a:pt x="4132294" y="11144"/>
                  </a:lnTo>
                  <a:lnTo>
                    <a:pt x="4124138" y="23252"/>
                  </a:lnTo>
                  <a:lnTo>
                    <a:pt x="4121150" y="38100"/>
                  </a:lnTo>
                  <a:lnTo>
                    <a:pt x="4124138" y="52947"/>
                  </a:lnTo>
                  <a:lnTo>
                    <a:pt x="4132294" y="65055"/>
                  </a:lnTo>
                  <a:lnTo>
                    <a:pt x="4144402" y="73211"/>
                  </a:lnTo>
                  <a:lnTo>
                    <a:pt x="4159250" y="76200"/>
                  </a:lnTo>
                  <a:lnTo>
                    <a:pt x="4174097" y="73211"/>
                  </a:lnTo>
                  <a:lnTo>
                    <a:pt x="4186205" y="65055"/>
                  </a:lnTo>
                  <a:lnTo>
                    <a:pt x="4194361" y="52947"/>
                  </a:lnTo>
                  <a:lnTo>
                    <a:pt x="4195739" y="46100"/>
                  </a:lnTo>
                  <a:lnTo>
                    <a:pt x="4159250" y="46100"/>
                  </a:lnTo>
                  <a:lnTo>
                    <a:pt x="4159250" y="30225"/>
                  </a:lnTo>
                  <a:lnTo>
                    <a:pt x="4195765" y="30225"/>
                  </a:lnTo>
                  <a:lnTo>
                    <a:pt x="4194361" y="23252"/>
                  </a:lnTo>
                  <a:lnTo>
                    <a:pt x="4186205" y="11144"/>
                  </a:lnTo>
                  <a:lnTo>
                    <a:pt x="4174097" y="2988"/>
                  </a:lnTo>
                  <a:lnTo>
                    <a:pt x="4159250" y="0"/>
                  </a:lnTo>
                  <a:close/>
                </a:path>
                <a:path w="4197350" h="76200">
                  <a:moveTo>
                    <a:pt x="74615" y="30225"/>
                  </a:moveTo>
                  <a:lnTo>
                    <a:pt x="38100" y="30225"/>
                  </a:lnTo>
                  <a:lnTo>
                    <a:pt x="38100" y="46100"/>
                  </a:lnTo>
                  <a:lnTo>
                    <a:pt x="74589" y="46100"/>
                  </a:lnTo>
                  <a:lnTo>
                    <a:pt x="76200" y="38100"/>
                  </a:lnTo>
                  <a:lnTo>
                    <a:pt x="74615" y="30225"/>
                  </a:lnTo>
                  <a:close/>
                </a:path>
                <a:path w="4197350" h="76200">
                  <a:moveTo>
                    <a:pt x="4122734" y="30225"/>
                  </a:moveTo>
                  <a:lnTo>
                    <a:pt x="74615" y="30225"/>
                  </a:lnTo>
                  <a:lnTo>
                    <a:pt x="76200" y="38100"/>
                  </a:lnTo>
                  <a:lnTo>
                    <a:pt x="74589" y="46100"/>
                  </a:lnTo>
                  <a:lnTo>
                    <a:pt x="4122760" y="46100"/>
                  </a:lnTo>
                  <a:lnTo>
                    <a:pt x="4121150" y="38100"/>
                  </a:lnTo>
                  <a:lnTo>
                    <a:pt x="4122734" y="30225"/>
                  </a:lnTo>
                  <a:close/>
                </a:path>
                <a:path w="4197350" h="76200">
                  <a:moveTo>
                    <a:pt x="4195765" y="30225"/>
                  </a:moveTo>
                  <a:lnTo>
                    <a:pt x="4159250" y="30225"/>
                  </a:lnTo>
                  <a:lnTo>
                    <a:pt x="4159250" y="46100"/>
                  </a:lnTo>
                  <a:lnTo>
                    <a:pt x="4195739" y="46100"/>
                  </a:lnTo>
                  <a:lnTo>
                    <a:pt x="4197350" y="38100"/>
                  </a:lnTo>
                  <a:lnTo>
                    <a:pt x="4195765" y="30225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953499" y="1478280"/>
              <a:ext cx="866140" cy="123825"/>
            </a:xfrm>
            <a:custGeom>
              <a:avLst/>
              <a:gdLst/>
              <a:ahLst/>
              <a:cxnLst/>
              <a:rect l="l" t="t" r="r" b="b"/>
              <a:pathLst>
                <a:path w="866140" h="123825">
                  <a:moveTo>
                    <a:pt x="865631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865631" y="123444"/>
                  </a:lnTo>
                  <a:lnTo>
                    <a:pt x="86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/>
          <p:cNvSpPr txBox="1"/>
          <p:nvPr/>
        </p:nvSpPr>
        <p:spPr>
          <a:xfrm>
            <a:off x="9049639" y="1458213"/>
            <a:ext cx="6769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In-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8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specific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139" name="object 139"/>
          <p:cNvGraphicFramePr>
            <a:graphicFrameLocks noGrp="1"/>
          </p:cNvGraphicFramePr>
          <p:nvPr/>
        </p:nvGraphicFramePr>
        <p:xfrm>
          <a:off x="6576441" y="1679829"/>
          <a:ext cx="539305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10"/>
                <a:gridCol w="587375"/>
                <a:gridCol w="590550"/>
                <a:gridCol w="587375"/>
                <a:gridCol w="588644"/>
                <a:gridCol w="587374"/>
                <a:gridCol w="588645"/>
                <a:gridCol w="589279"/>
                <a:gridCol w="588010"/>
              </a:tblGrid>
              <a:tr h="194310">
                <a:tc row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Online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Supermarkets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Drugstores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Discount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solidFill>
                      <a:srgbClr val="2387D7">
                        <a:alpha val="1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2387D7"/>
                          </a:solidFill>
                          <a:latin typeface="Calibri"/>
                          <a:cs typeface="Calibri"/>
                        </a:rPr>
                        <a:t>Specialty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700" spc="-10" b="1">
                          <a:solidFill>
                            <a:srgbClr val="BE9900"/>
                          </a:solidFill>
                          <a:latin typeface="Calibri"/>
                          <a:cs typeface="Calibri"/>
                        </a:rPr>
                        <a:t>Mktplace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2139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2387D7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FFCC00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605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37%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9525">
                      <a:solidFill>
                        <a:srgbClr val="4D4D4D"/>
                      </a:solidFill>
                      <a:prstDash val="dot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4D4D4D"/>
                      </a:solidFill>
                      <a:prstDash val="dot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5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2387D7">
                        <a:alpha val="1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dirty="0" sz="1000" spc="-25" b="1" i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30%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31739"/>
                      </a:solidFill>
                      <a:prstDash val="solid"/>
                    </a:lnL>
                    <a:lnR w="19050">
                      <a:solidFill>
                        <a:srgbClr val="031739"/>
                      </a:solidFill>
                      <a:prstDash val="solid"/>
                    </a:lnR>
                    <a:lnT w="19050">
                      <a:solidFill>
                        <a:srgbClr val="031739"/>
                      </a:solidFill>
                      <a:prstDash val="solid"/>
                    </a:lnT>
                    <a:lnB w="19050">
                      <a:solidFill>
                        <a:srgbClr val="031739"/>
                      </a:solidFill>
                      <a:prstDash val="solid"/>
                    </a:lnB>
                    <a:solidFill>
                      <a:srgbClr val="FFCC00">
                        <a:alpha val="10195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40" name="object 140"/>
          <p:cNvGrpSpPr/>
          <p:nvPr/>
        </p:nvGrpSpPr>
        <p:grpSpPr>
          <a:xfrm>
            <a:off x="6474333" y="3055620"/>
            <a:ext cx="2701290" cy="1368425"/>
            <a:chOff x="6474333" y="3055620"/>
            <a:chExt cx="2701290" cy="1368425"/>
          </a:xfrm>
        </p:grpSpPr>
        <p:sp>
          <p:nvSpPr>
            <p:cNvPr id="141" name="object 141"/>
            <p:cNvSpPr/>
            <p:nvPr/>
          </p:nvSpPr>
          <p:spPr>
            <a:xfrm>
              <a:off x="6483858" y="3120390"/>
              <a:ext cx="2682240" cy="1294130"/>
            </a:xfrm>
            <a:custGeom>
              <a:avLst/>
              <a:gdLst/>
              <a:ahLst/>
              <a:cxnLst/>
              <a:rect l="l" t="t" r="r" b="b"/>
              <a:pathLst>
                <a:path w="2682240" h="1294129">
                  <a:moveTo>
                    <a:pt x="0" y="1293875"/>
                  </a:moveTo>
                  <a:lnTo>
                    <a:pt x="2682240" y="1293875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293875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353300" y="3055620"/>
              <a:ext cx="940435" cy="139065"/>
            </a:xfrm>
            <a:custGeom>
              <a:avLst/>
              <a:gdLst/>
              <a:ahLst/>
              <a:cxnLst/>
              <a:rect l="l" t="t" r="r" b="b"/>
              <a:pathLst>
                <a:path w="940434" h="139064">
                  <a:moveTo>
                    <a:pt x="940307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940307" y="138684"/>
                  </a:lnTo>
                  <a:lnTo>
                    <a:pt x="940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3" name="object 143"/>
          <p:cNvGrpSpPr/>
          <p:nvPr/>
        </p:nvGrpSpPr>
        <p:grpSpPr>
          <a:xfrm>
            <a:off x="6474333" y="4507991"/>
            <a:ext cx="2701290" cy="1473835"/>
            <a:chOff x="6474333" y="4507991"/>
            <a:chExt cx="2701290" cy="1473835"/>
          </a:xfrm>
        </p:grpSpPr>
        <p:sp>
          <p:nvSpPr>
            <p:cNvPr id="144" name="object 144"/>
            <p:cNvSpPr/>
            <p:nvPr/>
          </p:nvSpPr>
          <p:spPr>
            <a:xfrm>
              <a:off x="6483858" y="4586477"/>
              <a:ext cx="2682240" cy="1385570"/>
            </a:xfrm>
            <a:custGeom>
              <a:avLst/>
              <a:gdLst/>
              <a:ahLst/>
              <a:cxnLst/>
              <a:rect l="l" t="t" r="r" b="b"/>
              <a:pathLst>
                <a:path w="2682240" h="1385570">
                  <a:moveTo>
                    <a:pt x="0" y="1385316"/>
                  </a:moveTo>
                  <a:lnTo>
                    <a:pt x="2682240" y="1385316"/>
                  </a:lnTo>
                  <a:lnTo>
                    <a:pt x="2682240" y="0"/>
                  </a:lnTo>
                  <a:lnTo>
                    <a:pt x="0" y="0"/>
                  </a:lnTo>
                  <a:lnTo>
                    <a:pt x="0" y="1385316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574280" y="4507991"/>
              <a:ext cx="498475" cy="140335"/>
            </a:xfrm>
            <a:custGeom>
              <a:avLst/>
              <a:gdLst/>
              <a:ahLst/>
              <a:cxnLst/>
              <a:rect l="l" t="t" r="r" b="b"/>
              <a:pathLst>
                <a:path w="498475" h="140335">
                  <a:moveTo>
                    <a:pt x="498348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498348" y="140207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6" name="object 1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17232" y="2240660"/>
            <a:ext cx="137922" cy="139446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03972" y="2240660"/>
            <a:ext cx="139446" cy="139446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92236" y="2240660"/>
            <a:ext cx="139446" cy="139446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80501" y="2240660"/>
            <a:ext cx="139446" cy="139446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32032" y="2240660"/>
            <a:ext cx="137922" cy="139446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168765" y="2240660"/>
            <a:ext cx="137921" cy="139446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755505" y="2240660"/>
            <a:ext cx="139446" cy="139446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343768" y="2240660"/>
            <a:ext cx="139446" cy="139446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18772" y="2240660"/>
            <a:ext cx="139446" cy="139446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7432040" y="3036823"/>
            <a:ext cx="784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7651242" y="4490466"/>
            <a:ext cx="344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9333356" y="3055620"/>
            <a:ext cx="2661920" cy="2926080"/>
            <a:chOff x="9333356" y="3055620"/>
            <a:chExt cx="2661920" cy="2926080"/>
          </a:xfrm>
        </p:grpSpPr>
        <p:sp>
          <p:nvSpPr>
            <p:cNvPr id="158" name="object 158"/>
            <p:cNvSpPr/>
            <p:nvPr/>
          </p:nvSpPr>
          <p:spPr>
            <a:xfrm>
              <a:off x="9342881" y="3118866"/>
              <a:ext cx="2642870" cy="2853055"/>
            </a:xfrm>
            <a:custGeom>
              <a:avLst/>
              <a:gdLst/>
              <a:ahLst/>
              <a:cxnLst/>
              <a:rect l="l" t="t" r="r" b="b"/>
              <a:pathLst>
                <a:path w="2642870" h="2853054">
                  <a:moveTo>
                    <a:pt x="0" y="2852927"/>
                  </a:moveTo>
                  <a:lnTo>
                    <a:pt x="2642616" y="2852927"/>
                  </a:lnTo>
                  <a:lnTo>
                    <a:pt x="2642616" y="0"/>
                  </a:lnTo>
                  <a:lnTo>
                    <a:pt x="0" y="0"/>
                  </a:lnTo>
                  <a:lnTo>
                    <a:pt x="0" y="2852927"/>
                  </a:lnTo>
                  <a:close/>
                </a:path>
              </a:pathLst>
            </a:custGeom>
            <a:ln w="190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067543" y="3055620"/>
              <a:ext cx="1193800" cy="139065"/>
            </a:xfrm>
            <a:custGeom>
              <a:avLst/>
              <a:gdLst/>
              <a:ahLst/>
              <a:cxnLst/>
              <a:rect l="l" t="t" r="r" b="b"/>
              <a:pathLst>
                <a:path w="1193800" h="139064">
                  <a:moveTo>
                    <a:pt x="1193292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1193292" y="138684"/>
                  </a:lnTo>
                  <a:lnTo>
                    <a:pt x="1193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>
            <a:off x="10171938" y="3036823"/>
            <a:ext cx="9842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Sources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of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Influence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8938386" y="4744211"/>
            <a:ext cx="103505" cy="1075055"/>
            <a:chOff x="8938386" y="4744211"/>
            <a:chExt cx="103505" cy="1075055"/>
          </a:xfrm>
        </p:grpSpPr>
        <p:sp>
          <p:nvSpPr>
            <p:cNvPr id="162" name="object 162"/>
            <p:cNvSpPr/>
            <p:nvPr/>
          </p:nvSpPr>
          <p:spPr>
            <a:xfrm>
              <a:off x="8938386" y="4744211"/>
              <a:ext cx="103505" cy="1075055"/>
            </a:xfrm>
            <a:custGeom>
              <a:avLst/>
              <a:gdLst/>
              <a:ahLst/>
              <a:cxnLst/>
              <a:rect l="l" t="t" r="r" b="b"/>
              <a:pathLst>
                <a:path w="103504" h="1075054">
                  <a:moveTo>
                    <a:pt x="7112" y="978712"/>
                  </a:moveTo>
                  <a:lnTo>
                    <a:pt x="1016" y="982243"/>
                  </a:lnTo>
                  <a:lnTo>
                    <a:pt x="0" y="986129"/>
                  </a:lnTo>
                  <a:lnTo>
                    <a:pt x="51689" y="1074762"/>
                  </a:lnTo>
                  <a:lnTo>
                    <a:pt x="59034" y="1062164"/>
                  </a:lnTo>
                  <a:lnTo>
                    <a:pt x="45339" y="1062164"/>
                  </a:lnTo>
                  <a:lnTo>
                    <a:pt x="45339" y="1038719"/>
                  </a:lnTo>
                  <a:lnTo>
                    <a:pt x="10922" y="979728"/>
                  </a:lnTo>
                  <a:lnTo>
                    <a:pt x="7112" y="978712"/>
                  </a:lnTo>
                  <a:close/>
                </a:path>
                <a:path w="103504" h="1075054">
                  <a:moveTo>
                    <a:pt x="45339" y="1038719"/>
                  </a:moveTo>
                  <a:lnTo>
                    <a:pt x="45339" y="1062164"/>
                  </a:lnTo>
                  <a:lnTo>
                    <a:pt x="58039" y="1062164"/>
                  </a:lnTo>
                  <a:lnTo>
                    <a:pt x="58039" y="1058964"/>
                  </a:lnTo>
                  <a:lnTo>
                    <a:pt x="46228" y="1058964"/>
                  </a:lnTo>
                  <a:lnTo>
                    <a:pt x="51689" y="1049603"/>
                  </a:lnTo>
                  <a:lnTo>
                    <a:pt x="45339" y="1038719"/>
                  </a:lnTo>
                  <a:close/>
                </a:path>
                <a:path w="103504" h="1075054">
                  <a:moveTo>
                    <a:pt x="96266" y="978712"/>
                  </a:moveTo>
                  <a:lnTo>
                    <a:pt x="92456" y="979728"/>
                  </a:lnTo>
                  <a:lnTo>
                    <a:pt x="58039" y="1038719"/>
                  </a:lnTo>
                  <a:lnTo>
                    <a:pt x="58039" y="1062164"/>
                  </a:lnTo>
                  <a:lnTo>
                    <a:pt x="59034" y="1062164"/>
                  </a:lnTo>
                  <a:lnTo>
                    <a:pt x="103378" y="986129"/>
                  </a:lnTo>
                  <a:lnTo>
                    <a:pt x="102362" y="982243"/>
                  </a:lnTo>
                  <a:lnTo>
                    <a:pt x="96266" y="978712"/>
                  </a:lnTo>
                  <a:close/>
                </a:path>
                <a:path w="103504" h="1075054">
                  <a:moveTo>
                    <a:pt x="51689" y="1049603"/>
                  </a:moveTo>
                  <a:lnTo>
                    <a:pt x="46228" y="1058964"/>
                  </a:lnTo>
                  <a:lnTo>
                    <a:pt x="57150" y="1058964"/>
                  </a:lnTo>
                  <a:lnTo>
                    <a:pt x="51689" y="1049603"/>
                  </a:lnTo>
                  <a:close/>
                </a:path>
                <a:path w="103504" h="1075054">
                  <a:moveTo>
                    <a:pt x="58039" y="1038719"/>
                  </a:moveTo>
                  <a:lnTo>
                    <a:pt x="51689" y="1049603"/>
                  </a:lnTo>
                  <a:lnTo>
                    <a:pt x="57150" y="1058964"/>
                  </a:lnTo>
                  <a:lnTo>
                    <a:pt x="58039" y="1058964"/>
                  </a:lnTo>
                  <a:lnTo>
                    <a:pt x="58039" y="1038719"/>
                  </a:lnTo>
                  <a:close/>
                </a:path>
                <a:path w="103504" h="1075054">
                  <a:moveTo>
                    <a:pt x="58039" y="0"/>
                  </a:moveTo>
                  <a:lnTo>
                    <a:pt x="45339" y="0"/>
                  </a:lnTo>
                  <a:lnTo>
                    <a:pt x="45339" y="1038719"/>
                  </a:lnTo>
                  <a:lnTo>
                    <a:pt x="51689" y="1049603"/>
                  </a:lnTo>
                  <a:lnTo>
                    <a:pt x="58039" y="1038719"/>
                  </a:lnTo>
                  <a:lnTo>
                    <a:pt x="58039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8944355" y="4907279"/>
              <a:ext cx="91440" cy="673735"/>
            </a:xfrm>
            <a:custGeom>
              <a:avLst/>
              <a:gdLst/>
              <a:ahLst/>
              <a:cxnLst/>
              <a:rect l="l" t="t" r="r" b="b"/>
              <a:pathLst>
                <a:path w="91440" h="673735">
                  <a:moveTo>
                    <a:pt x="91440" y="0"/>
                  </a:moveTo>
                  <a:lnTo>
                    <a:pt x="0" y="0"/>
                  </a:lnTo>
                  <a:lnTo>
                    <a:pt x="0" y="673608"/>
                  </a:lnTo>
                  <a:lnTo>
                    <a:pt x="91440" y="673608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4" name="object 164"/>
          <p:cNvSpPr txBox="1"/>
          <p:nvPr/>
        </p:nvSpPr>
        <p:spPr>
          <a:xfrm>
            <a:off x="8947404" y="4910245"/>
            <a:ext cx="101600" cy="6711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r>
              <a:rPr dirty="0" sz="6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8029383" y="4760236"/>
            <a:ext cx="160655" cy="1049020"/>
            <a:chOff x="8029383" y="4760236"/>
            <a:chExt cx="160655" cy="1049020"/>
          </a:xfrm>
        </p:grpSpPr>
        <p:pic>
          <p:nvPicPr>
            <p:cNvPr id="166" name="object 1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50462" y="4760236"/>
              <a:ext cx="117529" cy="118654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47360" y="4979808"/>
              <a:ext cx="127014" cy="130027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8029371" y="5232717"/>
              <a:ext cx="160655" cy="87630"/>
            </a:xfrm>
            <a:custGeom>
              <a:avLst/>
              <a:gdLst/>
              <a:ahLst/>
              <a:cxnLst/>
              <a:rect l="l" t="t" r="r" b="b"/>
              <a:pathLst>
                <a:path w="160654" h="87629">
                  <a:moveTo>
                    <a:pt x="32778" y="18224"/>
                  </a:moveTo>
                  <a:lnTo>
                    <a:pt x="18211" y="18224"/>
                  </a:lnTo>
                  <a:lnTo>
                    <a:pt x="18211" y="69227"/>
                  </a:lnTo>
                  <a:lnTo>
                    <a:pt x="32778" y="69227"/>
                  </a:lnTo>
                  <a:lnTo>
                    <a:pt x="32778" y="18224"/>
                  </a:lnTo>
                  <a:close/>
                </a:path>
                <a:path w="160654" h="87629">
                  <a:moveTo>
                    <a:pt x="160223" y="30607"/>
                  </a:moveTo>
                  <a:lnTo>
                    <a:pt x="156946" y="27330"/>
                  </a:lnTo>
                  <a:lnTo>
                    <a:pt x="145656" y="27330"/>
                  </a:lnTo>
                  <a:lnTo>
                    <a:pt x="145656" y="10934"/>
                  </a:lnTo>
                  <a:lnTo>
                    <a:pt x="145656" y="3276"/>
                  </a:lnTo>
                  <a:lnTo>
                    <a:pt x="142379" y="0"/>
                  </a:lnTo>
                  <a:lnTo>
                    <a:pt x="134734" y="0"/>
                  </a:lnTo>
                  <a:lnTo>
                    <a:pt x="134734" y="10934"/>
                  </a:lnTo>
                  <a:lnTo>
                    <a:pt x="134734" y="76517"/>
                  </a:lnTo>
                  <a:lnTo>
                    <a:pt x="10934" y="76517"/>
                  </a:lnTo>
                  <a:lnTo>
                    <a:pt x="10934" y="10934"/>
                  </a:lnTo>
                  <a:lnTo>
                    <a:pt x="134734" y="10934"/>
                  </a:lnTo>
                  <a:lnTo>
                    <a:pt x="134734" y="0"/>
                  </a:lnTo>
                  <a:lnTo>
                    <a:pt x="3276" y="0"/>
                  </a:lnTo>
                  <a:lnTo>
                    <a:pt x="0" y="3276"/>
                  </a:lnTo>
                  <a:lnTo>
                    <a:pt x="0" y="84162"/>
                  </a:lnTo>
                  <a:lnTo>
                    <a:pt x="3289" y="87439"/>
                  </a:lnTo>
                  <a:lnTo>
                    <a:pt x="142379" y="87439"/>
                  </a:lnTo>
                  <a:lnTo>
                    <a:pt x="145656" y="84162"/>
                  </a:lnTo>
                  <a:lnTo>
                    <a:pt x="145656" y="76517"/>
                  </a:lnTo>
                  <a:lnTo>
                    <a:pt x="145656" y="60121"/>
                  </a:lnTo>
                  <a:lnTo>
                    <a:pt x="156946" y="60121"/>
                  </a:lnTo>
                  <a:lnTo>
                    <a:pt x="160223" y="56832"/>
                  </a:lnTo>
                  <a:lnTo>
                    <a:pt x="160223" y="30607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32491" y="5438611"/>
              <a:ext cx="153876" cy="136503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34778" y="5661379"/>
              <a:ext cx="145061" cy="147737"/>
            </a:xfrm>
            <a:prstGeom prst="rect">
              <a:avLst/>
            </a:prstGeom>
          </p:spPr>
        </p:pic>
      </p:grpSp>
      <p:sp>
        <p:nvSpPr>
          <p:cNvPr id="171" name="object 171"/>
          <p:cNvSpPr txBox="1"/>
          <p:nvPr/>
        </p:nvSpPr>
        <p:spPr>
          <a:xfrm>
            <a:off x="8321040" y="47442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€3.80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321040" y="4972811"/>
            <a:ext cx="500380" cy="154305"/>
          </a:xfrm>
          <a:prstGeom prst="rect">
            <a:avLst/>
          </a:prstGeom>
          <a:solidFill>
            <a:srgbClr val="FFC1C1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CC0000"/>
                </a:solidFill>
                <a:latin typeface="Calibri"/>
                <a:cs typeface="Calibri"/>
              </a:rPr>
              <a:t>€2.53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8321040" y="5201411"/>
            <a:ext cx="500380" cy="154305"/>
          </a:xfrm>
          <a:prstGeom prst="rect">
            <a:avLst/>
          </a:prstGeom>
          <a:solidFill>
            <a:srgbClr val="FFC1C1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 b="1">
                <a:solidFill>
                  <a:srgbClr val="CC0000"/>
                </a:solidFill>
                <a:latin typeface="Calibri"/>
                <a:cs typeface="Calibri"/>
              </a:rPr>
              <a:t>€2.22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8321040" y="54300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€7.29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8321040" y="5658611"/>
            <a:ext cx="500380" cy="154305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1145"/>
              </a:lnSpc>
            </a:pPr>
            <a:r>
              <a:rPr dirty="0" sz="1000" spc="-10">
                <a:solidFill>
                  <a:srgbClr val="1B1C1B"/>
                </a:solidFill>
                <a:latin typeface="Calibri"/>
                <a:cs typeface="Calibri"/>
              </a:rPr>
              <a:t>€5.10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836407" y="5029200"/>
            <a:ext cx="0" cy="498475"/>
          </a:xfrm>
          <a:custGeom>
            <a:avLst/>
            <a:gdLst/>
            <a:ahLst/>
            <a:cxnLst/>
            <a:rect l="l" t="t" r="r" b="b"/>
            <a:pathLst>
              <a:path w="0" h="498475">
                <a:moveTo>
                  <a:pt x="0" y="498475"/>
                </a:moveTo>
                <a:lnTo>
                  <a:pt x="0" y="0"/>
                </a:lnTo>
              </a:path>
            </a:pathLst>
          </a:custGeom>
          <a:ln w="9525">
            <a:solidFill>
              <a:srgbClr val="4D4D4D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 txBox="1"/>
          <p:nvPr/>
        </p:nvSpPr>
        <p:spPr>
          <a:xfrm>
            <a:off x="6714870" y="5572455"/>
            <a:ext cx="8280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Value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against</a:t>
            </a:r>
            <a:r>
              <a:rPr dirty="0" sz="7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Volume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670547" y="5388864"/>
            <a:ext cx="916305" cy="155575"/>
          </a:xfrm>
          <a:prstGeom prst="rect">
            <a:avLst/>
          </a:prstGeom>
          <a:solidFill>
            <a:srgbClr val="FFC1C1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635">
              <a:lnSpc>
                <a:spcPts val="1155"/>
              </a:lnSpc>
            </a:pPr>
            <a:r>
              <a:rPr dirty="0" sz="1000" spc="-10" b="1">
                <a:solidFill>
                  <a:srgbClr val="CC0000"/>
                </a:solidFill>
                <a:latin typeface="Calibri"/>
                <a:cs typeface="Calibri"/>
              </a:rPr>
              <a:t>-</a:t>
            </a:r>
            <a:r>
              <a:rPr dirty="0" sz="1000" spc="-25" b="1">
                <a:solidFill>
                  <a:srgbClr val="CC0000"/>
                </a:solidFill>
                <a:latin typeface="Calibri"/>
                <a:cs typeface="Calibri"/>
              </a:rPr>
              <a:t>1%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6663055" y="5043678"/>
            <a:ext cx="932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Average</a:t>
            </a:r>
            <a:r>
              <a:rPr dirty="0" sz="7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Purchase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Spend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6670547" y="4863084"/>
            <a:ext cx="916305" cy="152400"/>
          </a:xfrm>
          <a:prstGeom prst="rect">
            <a:avLst/>
          </a:prstGeom>
          <a:solidFill>
            <a:srgbClr val="D9D9D9"/>
          </a:solidFill>
          <a:ln w="9525">
            <a:solidFill>
              <a:srgbClr val="4D4D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1140"/>
              </a:lnSpc>
            </a:pPr>
            <a:r>
              <a:rPr dirty="0" sz="1000" spc="-50">
                <a:solidFill>
                  <a:srgbClr val="1B1C1B"/>
                </a:solidFill>
                <a:latin typeface="Calibri"/>
                <a:cs typeface="Calibri"/>
              </a:rPr>
              <a:t>/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7441692" y="4119371"/>
            <a:ext cx="40005" cy="135890"/>
          </a:xfrm>
          <a:custGeom>
            <a:avLst/>
            <a:gdLst/>
            <a:ahLst/>
            <a:cxnLst/>
            <a:rect l="l" t="t" r="r" b="b"/>
            <a:pathLst>
              <a:path w="40004" h="135889">
                <a:moveTo>
                  <a:pt x="39624" y="0"/>
                </a:moveTo>
                <a:lnTo>
                  <a:pt x="0" y="0"/>
                </a:lnTo>
                <a:lnTo>
                  <a:pt x="0" y="135635"/>
                </a:lnTo>
                <a:lnTo>
                  <a:pt x="39624" y="135635"/>
                </a:lnTo>
                <a:lnTo>
                  <a:pt x="39624" y="0"/>
                </a:lnTo>
                <a:close/>
              </a:path>
            </a:pathLst>
          </a:custGeom>
          <a:solidFill>
            <a:srgbClr val="041F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2" name="object 182"/>
          <p:cNvGrpSpPr/>
          <p:nvPr/>
        </p:nvGrpSpPr>
        <p:grpSpPr>
          <a:xfrm>
            <a:off x="7436929" y="3322129"/>
            <a:ext cx="680085" cy="992505"/>
            <a:chOff x="7436929" y="3322129"/>
            <a:chExt cx="680085" cy="992505"/>
          </a:xfrm>
        </p:grpSpPr>
        <p:sp>
          <p:nvSpPr>
            <p:cNvPr id="183" name="object 183"/>
            <p:cNvSpPr/>
            <p:nvPr/>
          </p:nvSpPr>
          <p:spPr>
            <a:xfrm>
              <a:off x="7441692" y="3381755"/>
              <a:ext cx="675640" cy="382905"/>
            </a:xfrm>
            <a:custGeom>
              <a:avLst/>
              <a:gdLst/>
              <a:ahLst/>
              <a:cxnLst/>
              <a:rect l="l" t="t" r="r" b="b"/>
              <a:pathLst>
                <a:path w="675640" h="382904">
                  <a:moveTo>
                    <a:pt x="199644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199644" y="137160"/>
                  </a:lnTo>
                  <a:lnTo>
                    <a:pt x="199644" y="0"/>
                  </a:lnTo>
                  <a:close/>
                </a:path>
                <a:path w="675640" h="382904">
                  <a:moveTo>
                    <a:pt x="675132" y="245364"/>
                  </a:moveTo>
                  <a:lnTo>
                    <a:pt x="0" y="245364"/>
                  </a:lnTo>
                  <a:lnTo>
                    <a:pt x="0" y="382524"/>
                  </a:lnTo>
                  <a:lnTo>
                    <a:pt x="675132" y="382524"/>
                  </a:lnTo>
                  <a:lnTo>
                    <a:pt x="675132" y="245364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441692" y="3326891"/>
              <a:ext cx="0" cy="982980"/>
            </a:xfrm>
            <a:custGeom>
              <a:avLst/>
              <a:gdLst/>
              <a:ahLst/>
              <a:cxnLst/>
              <a:rect l="l" t="t" r="r" b="b"/>
              <a:pathLst>
                <a:path w="0" h="982979">
                  <a:moveTo>
                    <a:pt x="0" y="0"/>
                  </a:moveTo>
                  <a:lnTo>
                    <a:pt x="0" y="98298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7668514" y="3363848"/>
            <a:ext cx="1504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8145018" y="3609847"/>
            <a:ext cx="2025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470140" y="3855542"/>
            <a:ext cx="15049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7509764" y="4100576"/>
            <a:ext cx="1504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6619747" y="3370834"/>
            <a:ext cx="5270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Last</a:t>
            </a: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 purchase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616065" y="3620261"/>
            <a:ext cx="6178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700" spc="-1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6616065" y="3870452"/>
            <a:ext cx="534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(weekly)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616065" y="4119753"/>
            <a:ext cx="6781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031739"/>
                </a:solidFill>
                <a:latin typeface="Calibri"/>
                <a:cs typeface="Calibri"/>
              </a:rPr>
              <a:t>Food</a:t>
            </a:r>
            <a:r>
              <a:rPr dirty="0" sz="700" spc="-2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31739"/>
                </a:solidFill>
                <a:latin typeface="Calibri"/>
                <a:cs typeface="Calibri"/>
              </a:rPr>
              <a:t>(preference)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93" name="object 193"/>
          <p:cNvGraphicFramePr>
            <a:graphicFrameLocks noGrp="1"/>
          </p:cNvGraphicFramePr>
          <p:nvPr/>
        </p:nvGraphicFramePr>
        <p:xfrm>
          <a:off x="8556625" y="3371850"/>
          <a:ext cx="567690" cy="87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52.23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67.26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00" spc="-5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39.15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194" name="object 194"/>
          <p:cNvSpPr/>
          <p:nvPr/>
        </p:nvSpPr>
        <p:spPr>
          <a:xfrm>
            <a:off x="6628638" y="3313938"/>
            <a:ext cx="2403475" cy="0"/>
          </a:xfrm>
          <a:custGeom>
            <a:avLst/>
            <a:gdLst/>
            <a:ahLst/>
            <a:cxnLst/>
            <a:rect l="l" t="t" r="r" b="b"/>
            <a:pathLst>
              <a:path w="2403475" h="0">
                <a:moveTo>
                  <a:pt x="0" y="0"/>
                </a:moveTo>
                <a:lnTo>
                  <a:pt x="2403093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 txBox="1"/>
          <p:nvPr/>
        </p:nvSpPr>
        <p:spPr>
          <a:xfrm>
            <a:off x="8688451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10573321" y="3322129"/>
            <a:ext cx="462280" cy="2504440"/>
            <a:chOff x="10573321" y="3322129"/>
            <a:chExt cx="462280" cy="2504440"/>
          </a:xfrm>
        </p:grpSpPr>
        <p:sp>
          <p:nvSpPr>
            <p:cNvPr id="197" name="object 197"/>
            <p:cNvSpPr/>
            <p:nvPr/>
          </p:nvSpPr>
          <p:spPr>
            <a:xfrm>
              <a:off x="10578084" y="3389375"/>
              <a:ext cx="457200" cy="2369820"/>
            </a:xfrm>
            <a:custGeom>
              <a:avLst/>
              <a:gdLst/>
              <a:ahLst/>
              <a:cxnLst/>
              <a:rect l="l" t="t" r="r" b="b"/>
              <a:pathLst>
                <a:path w="457200" h="2369820">
                  <a:moveTo>
                    <a:pt x="12192" y="2215896"/>
                  </a:moveTo>
                  <a:lnTo>
                    <a:pt x="0" y="2215896"/>
                  </a:lnTo>
                  <a:lnTo>
                    <a:pt x="0" y="2369820"/>
                  </a:lnTo>
                  <a:lnTo>
                    <a:pt x="12192" y="2369820"/>
                  </a:lnTo>
                  <a:lnTo>
                    <a:pt x="12192" y="2215896"/>
                  </a:lnTo>
                  <a:close/>
                </a:path>
                <a:path w="457200" h="2369820">
                  <a:moveTo>
                    <a:pt x="50292" y="1662684"/>
                  </a:moveTo>
                  <a:lnTo>
                    <a:pt x="0" y="1662684"/>
                  </a:lnTo>
                  <a:lnTo>
                    <a:pt x="0" y="1816608"/>
                  </a:lnTo>
                  <a:lnTo>
                    <a:pt x="50292" y="1816608"/>
                  </a:lnTo>
                  <a:lnTo>
                    <a:pt x="50292" y="1662684"/>
                  </a:lnTo>
                  <a:close/>
                </a:path>
                <a:path w="457200" h="2369820">
                  <a:moveTo>
                    <a:pt x="62484" y="1940052"/>
                  </a:moveTo>
                  <a:lnTo>
                    <a:pt x="0" y="1940052"/>
                  </a:lnTo>
                  <a:lnTo>
                    <a:pt x="0" y="2093976"/>
                  </a:lnTo>
                  <a:lnTo>
                    <a:pt x="62484" y="2093976"/>
                  </a:lnTo>
                  <a:lnTo>
                    <a:pt x="62484" y="1940052"/>
                  </a:lnTo>
                  <a:close/>
                </a:path>
                <a:path w="457200" h="2369820">
                  <a:moveTo>
                    <a:pt x="62484" y="1385316"/>
                  </a:moveTo>
                  <a:lnTo>
                    <a:pt x="0" y="1385316"/>
                  </a:lnTo>
                  <a:lnTo>
                    <a:pt x="0" y="1539240"/>
                  </a:lnTo>
                  <a:lnTo>
                    <a:pt x="62484" y="1539240"/>
                  </a:lnTo>
                  <a:lnTo>
                    <a:pt x="62484" y="1385316"/>
                  </a:lnTo>
                  <a:close/>
                </a:path>
                <a:path w="457200" h="2369820">
                  <a:moveTo>
                    <a:pt x="138684" y="1107948"/>
                  </a:moveTo>
                  <a:lnTo>
                    <a:pt x="0" y="1107948"/>
                  </a:lnTo>
                  <a:lnTo>
                    <a:pt x="0" y="1261872"/>
                  </a:lnTo>
                  <a:lnTo>
                    <a:pt x="138684" y="1261872"/>
                  </a:lnTo>
                  <a:lnTo>
                    <a:pt x="138684" y="1107948"/>
                  </a:lnTo>
                  <a:close/>
                </a:path>
                <a:path w="457200" h="2369820">
                  <a:moveTo>
                    <a:pt x="138684" y="277368"/>
                  </a:moveTo>
                  <a:lnTo>
                    <a:pt x="0" y="277368"/>
                  </a:lnTo>
                  <a:lnTo>
                    <a:pt x="0" y="431292"/>
                  </a:lnTo>
                  <a:lnTo>
                    <a:pt x="138684" y="431292"/>
                  </a:lnTo>
                  <a:lnTo>
                    <a:pt x="138684" y="277368"/>
                  </a:lnTo>
                  <a:close/>
                </a:path>
                <a:path w="457200" h="2369820">
                  <a:moveTo>
                    <a:pt x="152400" y="830580"/>
                  </a:moveTo>
                  <a:lnTo>
                    <a:pt x="0" y="830580"/>
                  </a:lnTo>
                  <a:lnTo>
                    <a:pt x="0" y="984504"/>
                  </a:lnTo>
                  <a:lnTo>
                    <a:pt x="152400" y="984504"/>
                  </a:lnTo>
                  <a:lnTo>
                    <a:pt x="152400" y="830580"/>
                  </a:lnTo>
                  <a:close/>
                </a:path>
                <a:path w="457200" h="2369820">
                  <a:moveTo>
                    <a:pt x="291084" y="553212"/>
                  </a:moveTo>
                  <a:lnTo>
                    <a:pt x="0" y="553212"/>
                  </a:lnTo>
                  <a:lnTo>
                    <a:pt x="0" y="707136"/>
                  </a:lnTo>
                  <a:lnTo>
                    <a:pt x="291084" y="707136"/>
                  </a:lnTo>
                  <a:lnTo>
                    <a:pt x="291084" y="553212"/>
                  </a:lnTo>
                  <a:close/>
                </a:path>
                <a:path w="457200" h="2369820">
                  <a:moveTo>
                    <a:pt x="457200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457200" y="15392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0578083" y="3326891"/>
              <a:ext cx="0" cy="2494915"/>
            </a:xfrm>
            <a:custGeom>
              <a:avLst/>
              <a:gdLst/>
              <a:ahLst/>
              <a:cxnLst/>
              <a:rect l="l" t="t" r="r" b="b"/>
              <a:pathLst>
                <a:path w="0" h="2494915">
                  <a:moveTo>
                    <a:pt x="0" y="0"/>
                  </a:moveTo>
                  <a:lnTo>
                    <a:pt x="0" y="2494788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9645142" y="3396488"/>
            <a:ext cx="6305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Friends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or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family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9645142" y="3672585"/>
            <a:ext cx="608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Retailer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9645142" y="3950589"/>
            <a:ext cx="4787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Social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media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9645142" y="4226814"/>
            <a:ext cx="457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Salesperson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9645142" y="4504690"/>
            <a:ext cx="6324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Brands’</a:t>
            </a:r>
            <a:r>
              <a:rPr dirty="0" sz="7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websites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9645142" y="4780915"/>
            <a:ext cx="405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Online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ads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9645142" y="5058917"/>
            <a:ext cx="327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TV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1B1C1B"/>
                </a:solidFill>
                <a:latin typeface="Calibri"/>
                <a:cs typeface="Calibri"/>
              </a:rPr>
              <a:t>news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9645142" y="5335015"/>
            <a:ext cx="87756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Newspapers/magazines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9645142" y="5612993"/>
            <a:ext cx="4711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1B1C1B"/>
                </a:solidFill>
                <a:latin typeface="Calibri"/>
                <a:cs typeface="Calibri"/>
              </a:rPr>
              <a:t>Online</a:t>
            </a:r>
            <a:r>
              <a:rPr dirty="0" sz="7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B1C1B"/>
                </a:solidFill>
                <a:latin typeface="Calibri"/>
                <a:cs typeface="Calibri"/>
              </a:rPr>
              <a:t>blogs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1060048" y="3398646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0742421" y="3674440"/>
            <a:ext cx="1181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10894821" y="3952747"/>
            <a:ext cx="1555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0754994" y="4229227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10742421" y="4506848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10666221" y="4783328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10653521" y="5060950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10666221" y="5337428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2%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10615421" y="5615127"/>
            <a:ext cx="117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1B1C1B"/>
                </a:solidFill>
                <a:latin typeface="Calibri"/>
                <a:cs typeface="Calibri"/>
              </a:rPr>
              <a:t>0%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3463734" y="1816607"/>
            <a:ext cx="2649220" cy="3996054"/>
            <a:chOff x="3463734" y="1816607"/>
            <a:chExt cx="2649220" cy="3996054"/>
          </a:xfrm>
        </p:grpSpPr>
        <p:sp>
          <p:nvSpPr>
            <p:cNvPr id="218" name="object 218"/>
            <p:cNvSpPr/>
            <p:nvPr/>
          </p:nvSpPr>
          <p:spPr>
            <a:xfrm>
              <a:off x="5859780" y="1865375"/>
              <a:ext cx="253365" cy="3642360"/>
            </a:xfrm>
            <a:custGeom>
              <a:avLst/>
              <a:gdLst/>
              <a:ahLst/>
              <a:cxnLst/>
              <a:rect l="l" t="t" r="r" b="b"/>
              <a:pathLst>
                <a:path w="253364" h="3642360">
                  <a:moveTo>
                    <a:pt x="1524" y="3566160"/>
                  </a:moveTo>
                  <a:lnTo>
                    <a:pt x="0" y="3566160"/>
                  </a:lnTo>
                  <a:lnTo>
                    <a:pt x="0" y="3642360"/>
                  </a:lnTo>
                  <a:lnTo>
                    <a:pt x="1524" y="3642360"/>
                  </a:lnTo>
                  <a:lnTo>
                    <a:pt x="1524" y="3566160"/>
                  </a:lnTo>
                  <a:close/>
                </a:path>
                <a:path w="253364" h="3642360">
                  <a:moveTo>
                    <a:pt x="10668" y="2468880"/>
                  </a:moveTo>
                  <a:lnTo>
                    <a:pt x="1524" y="2468880"/>
                  </a:lnTo>
                  <a:lnTo>
                    <a:pt x="1524" y="2545080"/>
                  </a:lnTo>
                  <a:lnTo>
                    <a:pt x="10668" y="2545080"/>
                  </a:lnTo>
                  <a:lnTo>
                    <a:pt x="10668" y="2468880"/>
                  </a:lnTo>
                  <a:close/>
                </a:path>
                <a:path w="253364" h="3642360">
                  <a:moveTo>
                    <a:pt x="19812" y="137160"/>
                  </a:moveTo>
                  <a:lnTo>
                    <a:pt x="1524" y="137160"/>
                  </a:lnTo>
                  <a:lnTo>
                    <a:pt x="1524" y="213360"/>
                  </a:lnTo>
                  <a:lnTo>
                    <a:pt x="19812" y="213360"/>
                  </a:lnTo>
                  <a:lnTo>
                    <a:pt x="19812" y="137160"/>
                  </a:lnTo>
                  <a:close/>
                </a:path>
                <a:path w="253364" h="3642360">
                  <a:moveTo>
                    <a:pt x="21336" y="2194560"/>
                  </a:moveTo>
                  <a:lnTo>
                    <a:pt x="1524" y="2194560"/>
                  </a:lnTo>
                  <a:lnTo>
                    <a:pt x="1524" y="2270760"/>
                  </a:lnTo>
                  <a:lnTo>
                    <a:pt x="21336" y="2270760"/>
                  </a:lnTo>
                  <a:lnTo>
                    <a:pt x="21336" y="2194560"/>
                  </a:lnTo>
                  <a:close/>
                </a:path>
                <a:path w="253364" h="3642360">
                  <a:moveTo>
                    <a:pt x="21336" y="1508760"/>
                  </a:moveTo>
                  <a:lnTo>
                    <a:pt x="1524" y="1508760"/>
                  </a:lnTo>
                  <a:lnTo>
                    <a:pt x="1524" y="1584960"/>
                  </a:lnTo>
                  <a:lnTo>
                    <a:pt x="21336" y="1584960"/>
                  </a:lnTo>
                  <a:lnTo>
                    <a:pt x="21336" y="1508760"/>
                  </a:lnTo>
                  <a:close/>
                </a:path>
                <a:path w="253364" h="3642360">
                  <a:moveTo>
                    <a:pt x="62484" y="2331720"/>
                  </a:moveTo>
                  <a:lnTo>
                    <a:pt x="1524" y="2331720"/>
                  </a:lnTo>
                  <a:lnTo>
                    <a:pt x="1524" y="2407920"/>
                  </a:lnTo>
                  <a:lnTo>
                    <a:pt x="62484" y="2407920"/>
                  </a:lnTo>
                  <a:lnTo>
                    <a:pt x="62484" y="2331720"/>
                  </a:lnTo>
                  <a:close/>
                </a:path>
                <a:path w="253364" h="3642360">
                  <a:moveTo>
                    <a:pt x="73139" y="2606040"/>
                  </a:moveTo>
                  <a:lnTo>
                    <a:pt x="1524" y="2606040"/>
                  </a:lnTo>
                  <a:lnTo>
                    <a:pt x="1524" y="2682240"/>
                  </a:lnTo>
                  <a:lnTo>
                    <a:pt x="73139" y="2682240"/>
                  </a:lnTo>
                  <a:lnTo>
                    <a:pt x="73139" y="2606040"/>
                  </a:lnTo>
                  <a:close/>
                </a:path>
                <a:path w="253364" h="3642360">
                  <a:moveTo>
                    <a:pt x="92951" y="1371600"/>
                  </a:moveTo>
                  <a:lnTo>
                    <a:pt x="1524" y="1371600"/>
                  </a:lnTo>
                  <a:lnTo>
                    <a:pt x="1524" y="1447800"/>
                  </a:lnTo>
                  <a:lnTo>
                    <a:pt x="92951" y="1447800"/>
                  </a:lnTo>
                  <a:lnTo>
                    <a:pt x="92951" y="1371600"/>
                  </a:lnTo>
                  <a:close/>
                </a:path>
                <a:path w="253364" h="3642360">
                  <a:moveTo>
                    <a:pt x="103632" y="548640"/>
                  </a:moveTo>
                  <a:lnTo>
                    <a:pt x="1524" y="548640"/>
                  </a:lnTo>
                  <a:lnTo>
                    <a:pt x="1524" y="624840"/>
                  </a:lnTo>
                  <a:lnTo>
                    <a:pt x="103632" y="624840"/>
                  </a:lnTo>
                  <a:lnTo>
                    <a:pt x="103632" y="548640"/>
                  </a:lnTo>
                  <a:close/>
                </a:path>
                <a:path w="253364" h="3642360">
                  <a:moveTo>
                    <a:pt x="115824" y="0"/>
                  </a:moveTo>
                  <a:lnTo>
                    <a:pt x="1524" y="0"/>
                  </a:lnTo>
                  <a:lnTo>
                    <a:pt x="1524" y="76200"/>
                  </a:lnTo>
                  <a:lnTo>
                    <a:pt x="115824" y="76200"/>
                  </a:lnTo>
                  <a:lnTo>
                    <a:pt x="115824" y="0"/>
                  </a:lnTo>
                  <a:close/>
                </a:path>
                <a:path w="253364" h="3642360">
                  <a:moveTo>
                    <a:pt x="220967" y="960120"/>
                  </a:moveTo>
                  <a:lnTo>
                    <a:pt x="1524" y="960120"/>
                  </a:lnTo>
                  <a:lnTo>
                    <a:pt x="1524" y="1036320"/>
                  </a:lnTo>
                  <a:lnTo>
                    <a:pt x="220967" y="1036320"/>
                  </a:lnTo>
                  <a:lnTo>
                    <a:pt x="220967" y="960120"/>
                  </a:lnTo>
                  <a:close/>
                </a:path>
                <a:path w="253364" h="3642360">
                  <a:moveTo>
                    <a:pt x="252984" y="822960"/>
                  </a:moveTo>
                  <a:lnTo>
                    <a:pt x="1524" y="822960"/>
                  </a:lnTo>
                  <a:lnTo>
                    <a:pt x="1524" y="899160"/>
                  </a:lnTo>
                  <a:lnTo>
                    <a:pt x="252984" y="899160"/>
                  </a:lnTo>
                  <a:lnTo>
                    <a:pt x="252984" y="82296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754624" y="2139695"/>
              <a:ext cx="106680" cy="3642360"/>
            </a:xfrm>
            <a:custGeom>
              <a:avLst/>
              <a:gdLst/>
              <a:ahLst/>
              <a:cxnLst/>
              <a:rect l="l" t="t" r="r" b="b"/>
              <a:pathLst>
                <a:path w="106679" h="3642360">
                  <a:moveTo>
                    <a:pt x="106680" y="3566160"/>
                  </a:moveTo>
                  <a:lnTo>
                    <a:pt x="50292" y="3566160"/>
                  </a:lnTo>
                  <a:lnTo>
                    <a:pt x="50292" y="3642360"/>
                  </a:lnTo>
                  <a:lnTo>
                    <a:pt x="106680" y="3642360"/>
                  </a:lnTo>
                  <a:lnTo>
                    <a:pt x="106680" y="3566160"/>
                  </a:lnTo>
                  <a:close/>
                </a:path>
                <a:path w="106679" h="3642360">
                  <a:moveTo>
                    <a:pt x="106680" y="3429000"/>
                  </a:moveTo>
                  <a:lnTo>
                    <a:pt x="22860" y="3429000"/>
                  </a:lnTo>
                  <a:lnTo>
                    <a:pt x="22860" y="3505200"/>
                  </a:lnTo>
                  <a:lnTo>
                    <a:pt x="106680" y="3505200"/>
                  </a:lnTo>
                  <a:lnTo>
                    <a:pt x="106680" y="3429000"/>
                  </a:lnTo>
                  <a:close/>
                </a:path>
                <a:path w="106679" h="3642360">
                  <a:moveTo>
                    <a:pt x="106680" y="3154680"/>
                  </a:moveTo>
                  <a:lnTo>
                    <a:pt x="51816" y="3154680"/>
                  </a:lnTo>
                  <a:lnTo>
                    <a:pt x="51816" y="3230880"/>
                  </a:lnTo>
                  <a:lnTo>
                    <a:pt x="106680" y="3230880"/>
                  </a:lnTo>
                  <a:lnTo>
                    <a:pt x="106680" y="3154680"/>
                  </a:lnTo>
                  <a:close/>
                </a:path>
                <a:path w="106679" h="3642360">
                  <a:moveTo>
                    <a:pt x="106680" y="3017520"/>
                  </a:moveTo>
                  <a:lnTo>
                    <a:pt x="51816" y="3017520"/>
                  </a:lnTo>
                  <a:lnTo>
                    <a:pt x="51816" y="3093720"/>
                  </a:lnTo>
                  <a:lnTo>
                    <a:pt x="106680" y="3093720"/>
                  </a:lnTo>
                  <a:lnTo>
                    <a:pt x="106680" y="3017520"/>
                  </a:lnTo>
                  <a:close/>
                </a:path>
                <a:path w="106679" h="3642360">
                  <a:moveTo>
                    <a:pt x="106680" y="2880360"/>
                  </a:moveTo>
                  <a:lnTo>
                    <a:pt x="53340" y="2880360"/>
                  </a:lnTo>
                  <a:lnTo>
                    <a:pt x="53340" y="2956560"/>
                  </a:lnTo>
                  <a:lnTo>
                    <a:pt x="106680" y="2956560"/>
                  </a:lnTo>
                  <a:lnTo>
                    <a:pt x="106680" y="2880360"/>
                  </a:lnTo>
                  <a:close/>
                </a:path>
                <a:path w="106679" h="3642360">
                  <a:moveTo>
                    <a:pt x="106680" y="2743200"/>
                  </a:moveTo>
                  <a:lnTo>
                    <a:pt x="36576" y="2743200"/>
                  </a:lnTo>
                  <a:lnTo>
                    <a:pt x="36576" y="2819400"/>
                  </a:lnTo>
                  <a:lnTo>
                    <a:pt x="106680" y="2819400"/>
                  </a:lnTo>
                  <a:lnTo>
                    <a:pt x="106680" y="2743200"/>
                  </a:lnTo>
                  <a:close/>
                </a:path>
                <a:path w="106679" h="3642360">
                  <a:moveTo>
                    <a:pt x="106680" y="2606040"/>
                  </a:moveTo>
                  <a:lnTo>
                    <a:pt x="102108" y="2606040"/>
                  </a:lnTo>
                  <a:lnTo>
                    <a:pt x="102108" y="2682240"/>
                  </a:lnTo>
                  <a:lnTo>
                    <a:pt x="106680" y="2682240"/>
                  </a:lnTo>
                  <a:lnTo>
                    <a:pt x="106680" y="2606040"/>
                  </a:lnTo>
                  <a:close/>
                </a:path>
                <a:path w="106679" h="3642360">
                  <a:moveTo>
                    <a:pt x="106680" y="2468880"/>
                  </a:moveTo>
                  <a:lnTo>
                    <a:pt x="60960" y="2468880"/>
                  </a:lnTo>
                  <a:lnTo>
                    <a:pt x="60960" y="2545080"/>
                  </a:lnTo>
                  <a:lnTo>
                    <a:pt x="106680" y="2545080"/>
                  </a:lnTo>
                  <a:lnTo>
                    <a:pt x="106680" y="2468880"/>
                  </a:lnTo>
                  <a:close/>
                </a:path>
                <a:path w="106679" h="3642360">
                  <a:moveTo>
                    <a:pt x="106680" y="1783080"/>
                  </a:moveTo>
                  <a:lnTo>
                    <a:pt x="0" y="1783080"/>
                  </a:lnTo>
                  <a:lnTo>
                    <a:pt x="0" y="1859280"/>
                  </a:lnTo>
                  <a:lnTo>
                    <a:pt x="106680" y="1859280"/>
                  </a:lnTo>
                  <a:lnTo>
                    <a:pt x="106680" y="1783080"/>
                  </a:lnTo>
                  <a:close/>
                </a:path>
                <a:path w="106679" h="3642360">
                  <a:moveTo>
                    <a:pt x="106680" y="1645920"/>
                  </a:moveTo>
                  <a:lnTo>
                    <a:pt x="4572" y="1645920"/>
                  </a:lnTo>
                  <a:lnTo>
                    <a:pt x="4572" y="1722120"/>
                  </a:lnTo>
                  <a:lnTo>
                    <a:pt x="106680" y="1722120"/>
                  </a:lnTo>
                  <a:lnTo>
                    <a:pt x="106680" y="1645920"/>
                  </a:lnTo>
                  <a:close/>
                </a:path>
                <a:path w="106679" h="3642360">
                  <a:moveTo>
                    <a:pt x="106680" y="1508760"/>
                  </a:moveTo>
                  <a:lnTo>
                    <a:pt x="39624" y="1508760"/>
                  </a:lnTo>
                  <a:lnTo>
                    <a:pt x="39624" y="1584960"/>
                  </a:lnTo>
                  <a:lnTo>
                    <a:pt x="106680" y="1584960"/>
                  </a:lnTo>
                  <a:lnTo>
                    <a:pt x="106680" y="1508760"/>
                  </a:lnTo>
                  <a:close/>
                </a:path>
                <a:path w="106679" h="3642360">
                  <a:moveTo>
                    <a:pt x="106680" y="1371600"/>
                  </a:moveTo>
                  <a:lnTo>
                    <a:pt x="7620" y="1371600"/>
                  </a:lnTo>
                  <a:lnTo>
                    <a:pt x="7620" y="1447812"/>
                  </a:lnTo>
                  <a:lnTo>
                    <a:pt x="106680" y="1447812"/>
                  </a:lnTo>
                  <a:lnTo>
                    <a:pt x="106680" y="1371600"/>
                  </a:lnTo>
                  <a:close/>
                </a:path>
                <a:path w="106679" h="3642360">
                  <a:moveTo>
                    <a:pt x="106680" y="960120"/>
                  </a:moveTo>
                  <a:lnTo>
                    <a:pt x="77724" y="960120"/>
                  </a:lnTo>
                  <a:lnTo>
                    <a:pt x="77724" y="1036320"/>
                  </a:lnTo>
                  <a:lnTo>
                    <a:pt x="106680" y="1036320"/>
                  </a:lnTo>
                  <a:lnTo>
                    <a:pt x="106680" y="960120"/>
                  </a:lnTo>
                  <a:close/>
                </a:path>
                <a:path w="106679" h="3642360">
                  <a:moveTo>
                    <a:pt x="106680" y="822960"/>
                  </a:moveTo>
                  <a:lnTo>
                    <a:pt x="65532" y="822960"/>
                  </a:lnTo>
                  <a:lnTo>
                    <a:pt x="65532" y="899160"/>
                  </a:lnTo>
                  <a:lnTo>
                    <a:pt x="106680" y="899160"/>
                  </a:lnTo>
                  <a:lnTo>
                    <a:pt x="106680" y="822960"/>
                  </a:lnTo>
                  <a:close/>
                </a:path>
                <a:path w="106679" h="3642360">
                  <a:moveTo>
                    <a:pt x="106680" y="411480"/>
                  </a:moveTo>
                  <a:lnTo>
                    <a:pt x="82296" y="411480"/>
                  </a:lnTo>
                  <a:lnTo>
                    <a:pt x="82296" y="487680"/>
                  </a:lnTo>
                  <a:lnTo>
                    <a:pt x="106680" y="487680"/>
                  </a:lnTo>
                  <a:lnTo>
                    <a:pt x="106680" y="411480"/>
                  </a:lnTo>
                  <a:close/>
                </a:path>
                <a:path w="106679" h="3642360">
                  <a:moveTo>
                    <a:pt x="106680" y="137160"/>
                  </a:moveTo>
                  <a:lnTo>
                    <a:pt x="44196" y="137160"/>
                  </a:lnTo>
                  <a:lnTo>
                    <a:pt x="44196" y="213360"/>
                  </a:lnTo>
                  <a:lnTo>
                    <a:pt x="106680" y="213360"/>
                  </a:lnTo>
                  <a:lnTo>
                    <a:pt x="106680" y="137160"/>
                  </a:lnTo>
                  <a:close/>
                </a:path>
                <a:path w="106679" h="3642360">
                  <a:moveTo>
                    <a:pt x="106680" y="0"/>
                  </a:moveTo>
                  <a:lnTo>
                    <a:pt x="105156" y="0"/>
                  </a:lnTo>
                  <a:lnTo>
                    <a:pt x="105156" y="76200"/>
                  </a:lnTo>
                  <a:lnTo>
                    <a:pt x="106680" y="7620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5861303" y="1834895"/>
              <a:ext cx="0" cy="3977640"/>
            </a:xfrm>
            <a:custGeom>
              <a:avLst/>
              <a:gdLst/>
              <a:ahLst/>
              <a:cxnLst/>
              <a:rect l="l" t="t" r="r" b="b"/>
              <a:pathLst>
                <a:path w="0" h="3977640">
                  <a:moveTo>
                    <a:pt x="0" y="0"/>
                  </a:moveTo>
                  <a:lnTo>
                    <a:pt x="0" y="3977640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3471671" y="1816607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w="0" h="60960">
                  <a:moveTo>
                    <a:pt x="0" y="0"/>
                  </a:moveTo>
                  <a:lnTo>
                    <a:pt x="0" y="60960"/>
                  </a:lnTo>
                </a:path>
              </a:pathLst>
            </a:custGeom>
            <a:ln w="15875">
              <a:solidFill>
                <a:srgbClr val="2387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2" name="object 222"/>
          <p:cNvGrpSpPr/>
          <p:nvPr/>
        </p:nvGrpSpPr>
        <p:grpSpPr>
          <a:xfrm>
            <a:off x="9447276" y="3386328"/>
            <a:ext cx="123825" cy="2284095"/>
            <a:chOff x="9447276" y="3386328"/>
            <a:chExt cx="123825" cy="2284095"/>
          </a:xfrm>
        </p:grpSpPr>
        <p:sp>
          <p:nvSpPr>
            <p:cNvPr id="223" name="object 223"/>
            <p:cNvSpPr/>
            <p:nvPr/>
          </p:nvSpPr>
          <p:spPr>
            <a:xfrm>
              <a:off x="9471660" y="3386328"/>
              <a:ext cx="76200" cy="2284095"/>
            </a:xfrm>
            <a:custGeom>
              <a:avLst/>
              <a:gdLst/>
              <a:ahLst/>
              <a:cxnLst/>
              <a:rect l="l" t="t" r="r" b="b"/>
              <a:pathLst>
                <a:path w="76200" h="2284095">
                  <a:moveTo>
                    <a:pt x="30099" y="2207387"/>
                  </a:moveTo>
                  <a:lnTo>
                    <a:pt x="0" y="2207387"/>
                  </a:lnTo>
                  <a:lnTo>
                    <a:pt x="38100" y="2283587"/>
                  </a:lnTo>
                  <a:lnTo>
                    <a:pt x="69850" y="2220087"/>
                  </a:lnTo>
                  <a:lnTo>
                    <a:pt x="30099" y="2220087"/>
                  </a:lnTo>
                  <a:lnTo>
                    <a:pt x="30099" y="2207387"/>
                  </a:lnTo>
                  <a:close/>
                </a:path>
                <a:path w="76200" h="2284095">
                  <a:moveTo>
                    <a:pt x="45974" y="38100"/>
                  </a:moveTo>
                  <a:lnTo>
                    <a:pt x="30099" y="38100"/>
                  </a:lnTo>
                  <a:lnTo>
                    <a:pt x="30099" y="2220087"/>
                  </a:lnTo>
                  <a:lnTo>
                    <a:pt x="45974" y="2220087"/>
                  </a:lnTo>
                  <a:lnTo>
                    <a:pt x="45974" y="76200"/>
                  </a:lnTo>
                  <a:lnTo>
                    <a:pt x="38100" y="76200"/>
                  </a:lnTo>
                  <a:lnTo>
                    <a:pt x="30226" y="74615"/>
                  </a:lnTo>
                  <a:lnTo>
                    <a:pt x="45974" y="74615"/>
                  </a:lnTo>
                  <a:lnTo>
                    <a:pt x="45974" y="38100"/>
                  </a:lnTo>
                  <a:close/>
                </a:path>
                <a:path w="76200" h="2284095">
                  <a:moveTo>
                    <a:pt x="76200" y="2207387"/>
                  </a:moveTo>
                  <a:lnTo>
                    <a:pt x="45974" y="2207387"/>
                  </a:lnTo>
                  <a:lnTo>
                    <a:pt x="45974" y="2220087"/>
                  </a:lnTo>
                  <a:lnTo>
                    <a:pt x="69850" y="2220087"/>
                  </a:lnTo>
                  <a:lnTo>
                    <a:pt x="76200" y="2207387"/>
                  </a:lnTo>
                  <a:close/>
                </a:path>
                <a:path w="76200" h="2284095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45974" y="74615"/>
                  </a:lnTo>
                  <a:lnTo>
                    <a:pt x="30099" y="74615"/>
                  </a:lnTo>
                  <a:lnTo>
                    <a:pt x="30099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284095">
                  <a:moveTo>
                    <a:pt x="45974" y="74615"/>
                  </a:moveTo>
                  <a:lnTo>
                    <a:pt x="38100" y="76200"/>
                  </a:lnTo>
                  <a:lnTo>
                    <a:pt x="45974" y="76200"/>
                  </a:lnTo>
                  <a:lnTo>
                    <a:pt x="45974" y="74615"/>
                  </a:lnTo>
                  <a:close/>
                </a:path>
                <a:path w="76200" h="2284095">
                  <a:moveTo>
                    <a:pt x="76200" y="38100"/>
                  </a:moveTo>
                  <a:lnTo>
                    <a:pt x="45974" y="38100"/>
                  </a:lnTo>
                  <a:lnTo>
                    <a:pt x="45974" y="74615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9447276" y="3764280"/>
              <a:ext cx="123825" cy="1397635"/>
            </a:xfrm>
            <a:custGeom>
              <a:avLst/>
              <a:gdLst/>
              <a:ahLst/>
              <a:cxnLst/>
              <a:rect l="l" t="t" r="r" b="b"/>
              <a:pathLst>
                <a:path w="123825" h="1397635">
                  <a:moveTo>
                    <a:pt x="123444" y="0"/>
                  </a:moveTo>
                  <a:lnTo>
                    <a:pt x="0" y="0"/>
                  </a:lnTo>
                  <a:lnTo>
                    <a:pt x="0" y="1397508"/>
                  </a:lnTo>
                  <a:lnTo>
                    <a:pt x="123444" y="1397508"/>
                  </a:lnTo>
                  <a:lnTo>
                    <a:pt x="123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5" name="object 225"/>
          <p:cNvSpPr txBox="1"/>
          <p:nvPr/>
        </p:nvSpPr>
        <p:spPr>
          <a:xfrm>
            <a:off x="9454260" y="3816113"/>
            <a:ext cx="127635" cy="12973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Ordered</a:t>
            </a:r>
            <a:r>
              <a:rPr dirty="0" sz="8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by</a:t>
            </a:r>
            <a:r>
              <a:rPr dirty="0" sz="8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r>
              <a:rPr dirty="0" sz="8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9510521" y="3313938"/>
            <a:ext cx="2354580" cy="0"/>
          </a:xfrm>
          <a:custGeom>
            <a:avLst/>
            <a:gdLst/>
            <a:ahLst/>
            <a:cxnLst/>
            <a:rect l="l" t="t" r="r" b="b"/>
            <a:pathLst>
              <a:path w="2354579" h="0">
                <a:moveTo>
                  <a:pt x="0" y="0"/>
                </a:moveTo>
                <a:lnTo>
                  <a:pt x="2354579" y="0"/>
                </a:lnTo>
              </a:path>
            </a:pathLst>
          </a:custGeom>
          <a:ln w="1905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 txBox="1"/>
          <p:nvPr/>
        </p:nvSpPr>
        <p:spPr>
          <a:xfrm>
            <a:off x="11524868" y="3149599"/>
            <a:ext cx="2279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228" name="object 228"/>
          <p:cNvGraphicFramePr>
            <a:graphicFrameLocks noGrp="1"/>
          </p:cNvGraphicFramePr>
          <p:nvPr/>
        </p:nvGraphicFramePr>
        <p:xfrm>
          <a:off x="11392154" y="3368675"/>
          <a:ext cx="568325" cy="2394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790"/>
              </a:tblGrid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92.77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28.35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59.27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30.92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28.35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12.88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10.31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1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12.88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900" spc="-20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2.58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1C1"/>
                    </a:solidFill>
                  </a:tcPr>
                </a:tc>
              </a:tr>
            </a:tbl>
          </a:graphicData>
        </a:graphic>
      </p:graphicFrame>
      <p:sp>
        <p:nvSpPr>
          <p:cNvPr id="229" name="object 229"/>
          <p:cNvSpPr txBox="1"/>
          <p:nvPr/>
        </p:nvSpPr>
        <p:spPr>
          <a:xfrm>
            <a:off x="378663" y="4365497"/>
            <a:ext cx="2254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Perceptions: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store</a:t>
            </a:r>
            <a:r>
              <a:rPr dirty="0" sz="9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closely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aligned</a:t>
            </a:r>
            <a:r>
              <a:rPr dirty="0" sz="900" spc="-2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with</a:t>
            </a:r>
            <a:r>
              <a:rPr dirty="0" sz="900" spc="-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product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brand,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tablestake</a:t>
            </a:r>
            <a:r>
              <a:rPr dirty="0" sz="9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performance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relevant to</a:t>
            </a:r>
            <a:r>
              <a:rPr dirty="0" sz="9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segment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378663" y="4887214"/>
            <a:ext cx="20485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Performance: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Significant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 over-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index</a:t>
            </a:r>
            <a:r>
              <a:rPr dirty="0" sz="900" spc="1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for</a:t>
            </a:r>
            <a:r>
              <a:rPr dirty="0" sz="900" spc="-3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KoRo</a:t>
            </a:r>
            <a:r>
              <a:rPr dirty="0" sz="900" spc="-3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031739"/>
                </a:solidFill>
                <a:latin typeface="Calibri"/>
                <a:cs typeface="Calibri"/>
              </a:rPr>
              <a:t>dm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specifically,</a:t>
            </a:r>
            <a:r>
              <a:rPr dirty="0" sz="900" spc="1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underperformance</a:t>
            </a:r>
            <a:r>
              <a:rPr dirty="0" sz="900" spc="1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for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 discount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378663" y="5409057"/>
            <a:ext cx="2213610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Online</a:t>
            </a:r>
            <a:r>
              <a:rPr dirty="0" sz="900" spc="-2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behavior: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Underperformance</a:t>
            </a:r>
            <a:r>
              <a:rPr dirty="0" sz="900" spc="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across</a:t>
            </a:r>
            <a:r>
              <a:rPr dirty="0" sz="9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metrics</a:t>
            </a:r>
            <a:r>
              <a:rPr dirty="0" sz="900" spc="1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indicating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significant</a:t>
            </a:r>
            <a:r>
              <a:rPr dirty="0" sz="900" spc="-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preference</a:t>
            </a:r>
            <a:r>
              <a:rPr dirty="0" sz="900" spc="-3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toward</a:t>
            </a:r>
            <a:r>
              <a:rPr dirty="0" sz="900" spc="-5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offline</a:t>
            </a:r>
            <a:r>
              <a:rPr dirty="0" sz="900" spc="-4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purchases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378663" y="5930900"/>
            <a:ext cx="21278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31739"/>
                </a:solidFill>
                <a:latin typeface="Calibri"/>
                <a:cs typeface="Calibri"/>
              </a:rPr>
              <a:t>Pricing</a:t>
            </a:r>
            <a:r>
              <a:rPr dirty="0" sz="900" spc="-35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031739"/>
                </a:solidFill>
                <a:latin typeface="Calibri"/>
                <a:cs typeface="Calibri"/>
              </a:rPr>
              <a:t>considerations: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On-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par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willingness</a:t>
            </a:r>
            <a:r>
              <a:rPr dirty="0" sz="900" spc="4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to</a:t>
            </a:r>
            <a:r>
              <a:rPr dirty="0" sz="9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pay</a:t>
            </a:r>
            <a:r>
              <a:rPr dirty="0" sz="900" spc="1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overall,</a:t>
            </a:r>
            <a:r>
              <a:rPr dirty="0" sz="900" spc="500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31739"/>
                </a:solidFill>
                <a:latin typeface="Calibri"/>
                <a:cs typeface="Calibri"/>
              </a:rPr>
              <a:t>underperformance</a:t>
            </a:r>
            <a:r>
              <a:rPr dirty="0" sz="900" spc="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across</a:t>
            </a:r>
            <a:r>
              <a:rPr dirty="0" sz="900" spc="-2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031739"/>
                </a:solidFill>
                <a:latin typeface="Calibri"/>
                <a:cs typeface="Calibri"/>
              </a:rPr>
              <a:t>protein</a:t>
            </a:r>
            <a:r>
              <a:rPr dirty="0" sz="900" spc="5" i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31739"/>
                </a:solidFill>
                <a:latin typeface="Calibri"/>
                <a:cs typeface="Calibri"/>
              </a:rPr>
              <a:t>and</a:t>
            </a:r>
            <a:r>
              <a:rPr dirty="0" sz="900" spc="-5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031739"/>
                </a:solidFill>
                <a:latin typeface="Calibri"/>
                <a:cs typeface="Calibri"/>
              </a:rPr>
              <a:t>energy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3" name="object 233"/>
          <p:cNvSpPr/>
          <p:nvPr/>
        </p:nvSpPr>
        <p:spPr>
          <a:xfrm>
            <a:off x="3471671" y="2438400"/>
            <a:ext cx="0" cy="62865"/>
          </a:xfrm>
          <a:custGeom>
            <a:avLst/>
            <a:gdLst/>
            <a:ahLst/>
            <a:cxnLst/>
            <a:rect l="l" t="t" r="r" b="b"/>
            <a:pathLst>
              <a:path w="0" h="62864">
                <a:moveTo>
                  <a:pt x="0" y="0"/>
                </a:moveTo>
                <a:lnTo>
                  <a:pt x="0" y="62357"/>
                </a:lnTo>
              </a:path>
            </a:pathLst>
          </a:custGeom>
          <a:ln w="15875">
            <a:solidFill>
              <a:srgbClr val="2387D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 txBox="1"/>
          <p:nvPr/>
        </p:nvSpPr>
        <p:spPr>
          <a:xfrm>
            <a:off x="3415665" y="1903936"/>
            <a:ext cx="127635" cy="509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2387D7"/>
                </a:solidFill>
                <a:latin typeface="Calibri"/>
                <a:cs typeface="Calibri"/>
              </a:rPr>
              <a:t>Tablestakes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5" name="object 235"/>
          <p:cNvSpPr/>
          <p:nvPr/>
        </p:nvSpPr>
        <p:spPr>
          <a:xfrm>
            <a:off x="3470147" y="3758184"/>
            <a:ext cx="0" cy="496570"/>
          </a:xfrm>
          <a:custGeom>
            <a:avLst/>
            <a:gdLst/>
            <a:ahLst/>
            <a:cxnLst/>
            <a:rect l="l" t="t" r="r" b="b"/>
            <a:pathLst>
              <a:path w="0" h="496570">
                <a:moveTo>
                  <a:pt x="0" y="0"/>
                </a:moveTo>
                <a:lnTo>
                  <a:pt x="0" y="496062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470147" y="2558795"/>
            <a:ext cx="0" cy="497205"/>
          </a:xfrm>
          <a:custGeom>
            <a:avLst/>
            <a:gdLst/>
            <a:ahLst/>
            <a:cxnLst/>
            <a:rect l="l" t="t" r="r" b="b"/>
            <a:pathLst>
              <a:path w="0" h="497205">
                <a:moveTo>
                  <a:pt x="0" y="0"/>
                </a:moveTo>
                <a:lnTo>
                  <a:pt x="0" y="496823"/>
                </a:lnTo>
              </a:path>
            </a:pathLst>
          </a:custGeom>
          <a:ln w="1587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 txBox="1"/>
          <p:nvPr/>
        </p:nvSpPr>
        <p:spPr>
          <a:xfrm>
            <a:off x="3414648" y="3094218"/>
            <a:ext cx="127635" cy="6280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808080"/>
                </a:solidFill>
                <a:latin typeface="Calibri"/>
                <a:cs typeface="Calibri"/>
              </a:rPr>
              <a:t>Differentiators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8" name="object 238"/>
          <p:cNvSpPr/>
          <p:nvPr/>
        </p:nvSpPr>
        <p:spPr>
          <a:xfrm>
            <a:off x="3471671" y="5233415"/>
            <a:ext cx="0" cy="577850"/>
          </a:xfrm>
          <a:custGeom>
            <a:avLst/>
            <a:gdLst/>
            <a:ahLst/>
            <a:cxnLst/>
            <a:rect l="l" t="t" r="r" b="b"/>
            <a:pathLst>
              <a:path w="0" h="577850">
                <a:moveTo>
                  <a:pt x="0" y="0"/>
                </a:moveTo>
                <a:lnTo>
                  <a:pt x="0" y="577684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3471671" y="4325111"/>
            <a:ext cx="0" cy="579120"/>
          </a:xfrm>
          <a:custGeom>
            <a:avLst/>
            <a:gdLst/>
            <a:ahLst/>
            <a:cxnLst/>
            <a:rect l="l" t="t" r="r" b="b"/>
            <a:pathLst>
              <a:path w="0" h="579120">
                <a:moveTo>
                  <a:pt x="0" y="0"/>
                </a:moveTo>
                <a:lnTo>
                  <a:pt x="0" y="579119"/>
                </a:lnTo>
              </a:path>
            </a:pathLst>
          </a:custGeom>
          <a:ln w="15875">
            <a:solidFill>
              <a:srgbClr val="FFD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 txBox="1"/>
          <p:nvPr/>
        </p:nvSpPr>
        <p:spPr>
          <a:xfrm>
            <a:off x="3415665" y="4938459"/>
            <a:ext cx="127635" cy="2616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10">
                <a:solidFill>
                  <a:srgbClr val="7E6600"/>
                </a:solidFill>
                <a:latin typeface="Calibri"/>
                <a:cs typeface="Calibri"/>
              </a:rPr>
              <a:t>Niche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82550" cy="6858000"/>
            <a:chOff x="0" y="0"/>
            <a:chExt cx="8255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972311"/>
              <a:ext cx="82550" cy="5885815"/>
            </a:xfrm>
            <a:custGeom>
              <a:avLst/>
              <a:gdLst/>
              <a:ahLst/>
              <a:cxnLst/>
              <a:rect l="l" t="t" r="r" b="b"/>
              <a:pathLst>
                <a:path w="82550" h="5885815">
                  <a:moveTo>
                    <a:pt x="0" y="5885687"/>
                  </a:moveTo>
                  <a:lnTo>
                    <a:pt x="82296" y="588568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5885687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82550" cy="972819"/>
            </a:xfrm>
            <a:custGeom>
              <a:avLst/>
              <a:gdLst/>
              <a:ahLst/>
              <a:cxnLst/>
              <a:rect l="l" t="t" r="r" b="b"/>
              <a:pathLst>
                <a:path w="82550" h="972819">
                  <a:moveTo>
                    <a:pt x="82296" y="0"/>
                  </a:moveTo>
                  <a:lnTo>
                    <a:pt x="0" y="0"/>
                  </a:lnTo>
                  <a:lnTo>
                    <a:pt x="0" y="972312"/>
                  </a:lnTo>
                  <a:lnTo>
                    <a:pt x="82296" y="972312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2387D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6511" y="131063"/>
            <a:ext cx="690253" cy="71018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102929" y="2471737"/>
            <a:ext cx="9269730" cy="3306445"/>
            <a:chOff x="2102929" y="2471737"/>
            <a:chExt cx="9269730" cy="3306445"/>
          </a:xfrm>
        </p:grpSpPr>
        <p:sp>
          <p:nvSpPr>
            <p:cNvPr id="7" name="object 7"/>
            <p:cNvSpPr/>
            <p:nvPr/>
          </p:nvSpPr>
          <p:spPr>
            <a:xfrm>
              <a:off x="3500628" y="2476499"/>
              <a:ext cx="7871459" cy="2193290"/>
            </a:xfrm>
            <a:custGeom>
              <a:avLst/>
              <a:gdLst/>
              <a:ahLst/>
              <a:cxnLst/>
              <a:rect l="l" t="t" r="r" b="b"/>
              <a:pathLst>
                <a:path w="7871459" h="2193290">
                  <a:moveTo>
                    <a:pt x="1967484" y="2039112"/>
                  </a:moveTo>
                  <a:lnTo>
                    <a:pt x="982980" y="2039112"/>
                  </a:lnTo>
                  <a:lnTo>
                    <a:pt x="982980" y="2193036"/>
                  </a:lnTo>
                  <a:lnTo>
                    <a:pt x="1967484" y="2193036"/>
                  </a:lnTo>
                  <a:lnTo>
                    <a:pt x="1967484" y="2039112"/>
                  </a:lnTo>
                  <a:close/>
                </a:path>
                <a:path w="7871459" h="2193290">
                  <a:moveTo>
                    <a:pt x="2958084" y="1098804"/>
                  </a:moveTo>
                  <a:lnTo>
                    <a:pt x="1973580" y="1098804"/>
                  </a:lnTo>
                  <a:lnTo>
                    <a:pt x="1973580" y="1252728"/>
                  </a:lnTo>
                  <a:lnTo>
                    <a:pt x="2958084" y="1252728"/>
                  </a:lnTo>
                  <a:lnTo>
                    <a:pt x="2958084" y="1098804"/>
                  </a:lnTo>
                  <a:close/>
                </a:path>
                <a:path w="7871459" h="2193290">
                  <a:moveTo>
                    <a:pt x="4922520" y="1524"/>
                  </a:moveTo>
                  <a:lnTo>
                    <a:pt x="973836" y="1524"/>
                  </a:lnTo>
                  <a:lnTo>
                    <a:pt x="973836" y="155448"/>
                  </a:lnTo>
                  <a:lnTo>
                    <a:pt x="0" y="155448"/>
                  </a:lnTo>
                  <a:lnTo>
                    <a:pt x="0" y="309372"/>
                  </a:lnTo>
                  <a:lnTo>
                    <a:pt x="984491" y="309372"/>
                  </a:lnTo>
                  <a:lnTo>
                    <a:pt x="984491" y="155448"/>
                  </a:lnTo>
                  <a:lnTo>
                    <a:pt x="4922520" y="155448"/>
                  </a:lnTo>
                  <a:lnTo>
                    <a:pt x="4922520" y="1524"/>
                  </a:lnTo>
                  <a:close/>
                </a:path>
                <a:path w="7871459" h="2193290">
                  <a:moveTo>
                    <a:pt x="4927092" y="315468"/>
                  </a:moveTo>
                  <a:lnTo>
                    <a:pt x="3942588" y="315468"/>
                  </a:lnTo>
                  <a:lnTo>
                    <a:pt x="3942588" y="469392"/>
                  </a:lnTo>
                  <a:lnTo>
                    <a:pt x="4927092" y="469392"/>
                  </a:lnTo>
                  <a:lnTo>
                    <a:pt x="4927092" y="315468"/>
                  </a:lnTo>
                  <a:close/>
                </a:path>
                <a:path w="7871459" h="2193290">
                  <a:moveTo>
                    <a:pt x="4930140" y="943356"/>
                  </a:moveTo>
                  <a:lnTo>
                    <a:pt x="3945636" y="943356"/>
                  </a:lnTo>
                  <a:lnTo>
                    <a:pt x="3945636" y="1097280"/>
                  </a:lnTo>
                  <a:lnTo>
                    <a:pt x="4930140" y="1097280"/>
                  </a:lnTo>
                  <a:lnTo>
                    <a:pt x="4930140" y="943356"/>
                  </a:lnTo>
                  <a:close/>
                </a:path>
                <a:path w="7871459" h="2193290">
                  <a:moveTo>
                    <a:pt x="6900672" y="1106424"/>
                  </a:moveTo>
                  <a:lnTo>
                    <a:pt x="5914644" y="1106424"/>
                  </a:lnTo>
                  <a:lnTo>
                    <a:pt x="5914644" y="1248156"/>
                  </a:lnTo>
                  <a:lnTo>
                    <a:pt x="4936236" y="1248156"/>
                  </a:lnTo>
                  <a:lnTo>
                    <a:pt x="4936236" y="1402080"/>
                  </a:lnTo>
                  <a:lnTo>
                    <a:pt x="5920740" y="1402080"/>
                  </a:lnTo>
                  <a:lnTo>
                    <a:pt x="5920740" y="1260348"/>
                  </a:lnTo>
                  <a:lnTo>
                    <a:pt x="6900672" y="1260348"/>
                  </a:lnTo>
                  <a:lnTo>
                    <a:pt x="6900672" y="1106424"/>
                  </a:lnTo>
                  <a:close/>
                </a:path>
                <a:path w="7871459" h="2193290">
                  <a:moveTo>
                    <a:pt x="7871460" y="0"/>
                  </a:moveTo>
                  <a:lnTo>
                    <a:pt x="6899148" y="0"/>
                  </a:lnTo>
                  <a:lnTo>
                    <a:pt x="6899148" y="153924"/>
                  </a:lnTo>
                  <a:lnTo>
                    <a:pt x="7871460" y="153924"/>
                  </a:lnTo>
                  <a:lnTo>
                    <a:pt x="7871460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7692" y="2511551"/>
              <a:ext cx="864235" cy="3226435"/>
            </a:xfrm>
            <a:custGeom>
              <a:avLst/>
              <a:gdLst/>
              <a:ahLst/>
              <a:cxnLst/>
              <a:rect l="l" t="t" r="r" b="b"/>
              <a:pathLst>
                <a:path w="864235" h="3226435">
                  <a:moveTo>
                    <a:pt x="111252" y="3137916"/>
                  </a:moveTo>
                  <a:lnTo>
                    <a:pt x="0" y="3137916"/>
                  </a:lnTo>
                  <a:lnTo>
                    <a:pt x="0" y="3226308"/>
                  </a:lnTo>
                  <a:lnTo>
                    <a:pt x="111252" y="3226308"/>
                  </a:lnTo>
                  <a:lnTo>
                    <a:pt x="111252" y="3137916"/>
                  </a:lnTo>
                  <a:close/>
                </a:path>
                <a:path w="864235" h="3226435">
                  <a:moveTo>
                    <a:pt x="123444" y="2980944"/>
                  </a:moveTo>
                  <a:lnTo>
                    <a:pt x="0" y="2980944"/>
                  </a:lnTo>
                  <a:lnTo>
                    <a:pt x="0" y="3069336"/>
                  </a:lnTo>
                  <a:lnTo>
                    <a:pt x="123444" y="3069336"/>
                  </a:lnTo>
                  <a:lnTo>
                    <a:pt x="123444" y="2980944"/>
                  </a:lnTo>
                  <a:close/>
                </a:path>
                <a:path w="864235" h="3226435">
                  <a:moveTo>
                    <a:pt x="135636" y="2823972"/>
                  </a:moveTo>
                  <a:lnTo>
                    <a:pt x="0" y="2823972"/>
                  </a:lnTo>
                  <a:lnTo>
                    <a:pt x="0" y="2912364"/>
                  </a:lnTo>
                  <a:lnTo>
                    <a:pt x="135636" y="2912364"/>
                  </a:lnTo>
                  <a:lnTo>
                    <a:pt x="135636" y="2823972"/>
                  </a:lnTo>
                  <a:close/>
                </a:path>
                <a:path w="864235" h="3226435">
                  <a:moveTo>
                    <a:pt x="135636" y="2667000"/>
                  </a:moveTo>
                  <a:lnTo>
                    <a:pt x="0" y="2667000"/>
                  </a:lnTo>
                  <a:lnTo>
                    <a:pt x="0" y="2755392"/>
                  </a:lnTo>
                  <a:lnTo>
                    <a:pt x="135636" y="2755392"/>
                  </a:lnTo>
                  <a:lnTo>
                    <a:pt x="135636" y="2667000"/>
                  </a:lnTo>
                  <a:close/>
                </a:path>
                <a:path w="864235" h="3226435">
                  <a:moveTo>
                    <a:pt x="147828" y="2511552"/>
                  </a:moveTo>
                  <a:lnTo>
                    <a:pt x="0" y="2511552"/>
                  </a:lnTo>
                  <a:lnTo>
                    <a:pt x="0" y="2598420"/>
                  </a:lnTo>
                  <a:lnTo>
                    <a:pt x="147828" y="2598420"/>
                  </a:lnTo>
                  <a:lnTo>
                    <a:pt x="147828" y="2511552"/>
                  </a:lnTo>
                  <a:close/>
                </a:path>
                <a:path w="864235" h="3226435">
                  <a:moveTo>
                    <a:pt x="161544" y="2354580"/>
                  </a:moveTo>
                  <a:lnTo>
                    <a:pt x="0" y="2354580"/>
                  </a:lnTo>
                  <a:lnTo>
                    <a:pt x="0" y="2441448"/>
                  </a:lnTo>
                  <a:lnTo>
                    <a:pt x="161544" y="2441448"/>
                  </a:lnTo>
                  <a:lnTo>
                    <a:pt x="161544" y="2354580"/>
                  </a:lnTo>
                  <a:close/>
                </a:path>
                <a:path w="864235" h="3226435">
                  <a:moveTo>
                    <a:pt x="161544" y="2197608"/>
                  </a:moveTo>
                  <a:lnTo>
                    <a:pt x="0" y="2197608"/>
                  </a:lnTo>
                  <a:lnTo>
                    <a:pt x="0" y="2284476"/>
                  </a:lnTo>
                  <a:lnTo>
                    <a:pt x="161544" y="2284476"/>
                  </a:lnTo>
                  <a:lnTo>
                    <a:pt x="161544" y="2197608"/>
                  </a:lnTo>
                  <a:close/>
                </a:path>
                <a:path w="864235" h="3226435">
                  <a:moveTo>
                    <a:pt x="173736" y="2040636"/>
                  </a:moveTo>
                  <a:lnTo>
                    <a:pt x="0" y="2040636"/>
                  </a:lnTo>
                  <a:lnTo>
                    <a:pt x="0" y="2127504"/>
                  </a:lnTo>
                  <a:lnTo>
                    <a:pt x="173736" y="2127504"/>
                  </a:lnTo>
                  <a:lnTo>
                    <a:pt x="173736" y="2040636"/>
                  </a:lnTo>
                  <a:close/>
                </a:path>
                <a:path w="864235" h="3226435">
                  <a:moveTo>
                    <a:pt x="173736" y="1883664"/>
                  </a:moveTo>
                  <a:lnTo>
                    <a:pt x="0" y="1883664"/>
                  </a:lnTo>
                  <a:lnTo>
                    <a:pt x="0" y="1970532"/>
                  </a:lnTo>
                  <a:lnTo>
                    <a:pt x="173736" y="1970532"/>
                  </a:lnTo>
                  <a:lnTo>
                    <a:pt x="173736" y="1883664"/>
                  </a:lnTo>
                  <a:close/>
                </a:path>
                <a:path w="864235" h="3226435">
                  <a:moveTo>
                    <a:pt x="173736" y="1726692"/>
                  </a:moveTo>
                  <a:lnTo>
                    <a:pt x="0" y="1726692"/>
                  </a:lnTo>
                  <a:lnTo>
                    <a:pt x="0" y="1813560"/>
                  </a:lnTo>
                  <a:lnTo>
                    <a:pt x="173736" y="1813560"/>
                  </a:lnTo>
                  <a:lnTo>
                    <a:pt x="173736" y="1726692"/>
                  </a:lnTo>
                  <a:close/>
                </a:path>
                <a:path w="864235" h="3226435">
                  <a:moveTo>
                    <a:pt x="185928" y="1569720"/>
                  </a:moveTo>
                  <a:lnTo>
                    <a:pt x="0" y="1569720"/>
                  </a:lnTo>
                  <a:lnTo>
                    <a:pt x="0" y="1656588"/>
                  </a:lnTo>
                  <a:lnTo>
                    <a:pt x="185928" y="1656588"/>
                  </a:lnTo>
                  <a:lnTo>
                    <a:pt x="185928" y="1569720"/>
                  </a:lnTo>
                  <a:close/>
                </a:path>
                <a:path w="864235" h="3226435">
                  <a:moveTo>
                    <a:pt x="198120" y="1412748"/>
                  </a:moveTo>
                  <a:lnTo>
                    <a:pt x="0" y="1412748"/>
                  </a:lnTo>
                  <a:lnTo>
                    <a:pt x="0" y="1499616"/>
                  </a:lnTo>
                  <a:lnTo>
                    <a:pt x="198120" y="1499616"/>
                  </a:lnTo>
                  <a:lnTo>
                    <a:pt x="198120" y="1412748"/>
                  </a:lnTo>
                  <a:close/>
                </a:path>
                <a:path w="864235" h="3226435">
                  <a:moveTo>
                    <a:pt x="234696" y="1255776"/>
                  </a:moveTo>
                  <a:lnTo>
                    <a:pt x="0" y="1255776"/>
                  </a:lnTo>
                  <a:lnTo>
                    <a:pt x="0" y="1342644"/>
                  </a:lnTo>
                  <a:lnTo>
                    <a:pt x="234696" y="1342644"/>
                  </a:lnTo>
                  <a:lnTo>
                    <a:pt x="234696" y="1255776"/>
                  </a:lnTo>
                  <a:close/>
                </a:path>
                <a:path w="864235" h="3226435">
                  <a:moveTo>
                    <a:pt x="234696" y="1098804"/>
                  </a:moveTo>
                  <a:lnTo>
                    <a:pt x="0" y="1098804"/>
                  </a:lnTo>
                  <a:lnTo>
                    <a:pt x="0" y="1185672"/>
                  </a:lnTo>
                  <a:lnTo>
                    <a:pt x="234696" y="1185672"/>
                  </a:lnTo>
                  <a:lnTo>
                    <a:pt x="234696" y="1098804"/>
                  </a:lnTo>
                  <a:close/>
                </a:path>
                <a:path w="864235" h="3226435">
                  <a:moveTo>
                    <a:pt x="297180" y="941832"/>
                  </a:moveTo>
                  <a:lnTo>
                    <a:pt x="0" y="941832"/>
                  </a:lnTo>
                  <a:lnTo>
                    <a:pt x="0" y="1028700"/>
                  </a:lnTo>
                  <a:lnTo>
                    <a:pt x="297180" y="1028700"/>
                  </a:lnTo>
                  <a:lnTo>
                    <a:pt x="297180" y="941832"/>
                  </a:lnTo>
                  <a:close/>
                </a:path>
                <a:path w="864235" h="3226435">
                  <a:moveTo>
                    <a:pt x="321564" y="784860"/>
                  </a:moveTo>
                  <a:lnTo>
                    <a:pt x="0" y="784860"/>
                  </a:lnTo>
                  <a:lnTo>
                    <a:pt x="0" y="871728"/>
                  </a:lnTo>
                  <a:lnTo>
                    <a:pt x="321564" y="871728"/>
                  </a:lnTo>
                  <a:lnTo>
                    <a:pt x="321564" y="784860"/>
                  </a:lnTo>
                  <a:close/>
                </a:path>
                <a:path w="864235" h="3226435">
                  <a:moveTo>
                    <a:pt x="406908" y="627888"/>
                  </a:moveTo>
                  <a:lnTo>
                    <a:pt x="0" y="627888"/>
                  </a:lnTo>
                  <a:lnTo>
                    <a:pt x="0" y="714756"/>
                  </a:lnTo>
                  <a:lnTo>
                    <a:pt x="406908" y="714756"/>
                  </a:lnTo>
                  <a:lnTo>
                    <a:pt x="406908" y="627888"/>
                  </a:lnTo>
                  <a:close/>
                </a:path>
                <a:path w="864235" h="3226435">
                  <a:moveTo>
                    <a:pt x="518160" y="470916"/>
                  </a:moveTo>
                  <a:lnTo>
                    <a:pt x="0" y="470916"/>
                  </a:lnTo>
                  <a:lnTo>
                    <a:pt x="0" y="557784"/>
                  </a:lnTo>
                  <a:lnTo>
                    <a:pt x="518160" y="557784"/>
                  </a:lnTo>
                  <a:lnTo>
                    <a:pt x="518160" y="470916"/>
                  </a:lnTo>
                  <a:close/>
                </a:path>
                <a:path w="864235" h="3226435">
                  <a:moveTo>
                    <a:pt x="530352" y="313944"/>
                  </a:moveTo>
                  <a:lnTo>
                    <a:pt x="0" y="313944"/>
                  </a:lnTo>
                  <a:lnTo>
                    <a:pt x="0" y="400812"/>
                  </a:lnTo>
                  <a:lnTo>
                    <a:pt x="530352" y="400812"/>
                  </a:lnTo>
                  <a:lnTo>
                    <a:pt x="530352" y="313944"/>
                  </a:lnTo>
                  <a:close/>
                </a:path>
                <a:path w="864235" h="3226435">
                  <a:moveTo>
                    <a:pt x="765048" y="156972"/>
                  </a:moveTo>
                  <a:lnTo>
                    <a:pt x="0" y="156972"/>
                  </a:lnTo>
                  <a:lnTo>
                    <a:pt x="0" y="243840"/>
                  </a:lnTo>
                  <a:lnTo>
                    <a:pt x="765048" y="243840"/>
                  </a:lnTo>
                  <a:lnTo>
                    <a:pt x="765048" y="156972"/>
                  </a:lnTo>
                  <a:close/>
                </a:path>
                <a:path w="864235" h="3226435">
                  <a:moveTo>
                    <a:pt x="864108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864108" y="86868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07692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Barriers:</a:t>
            </a:r>
            <a:r>
              <a:rPr dirty="0" spc="-90" b="1">
                <a:latin typeface="Calibri"/>
                <a:cs typeface="Calibri"/>
              </a:rPr>
              <a:t> </a:t>
            </a:r>
            <a:r>
              <a:rPr dirty="0"/>
              <a:t>value</a:t>
            </a:r>
            <a:r>
              <a:rPr dirty="0" spc="-65"/>
              <a:t> </a:t>
            </a:r>
            <a:r>
              <a:rPr dirty="0"/>
              <a:t>alongside</a:t>
            </a:r>
            <a:r>
              <a:rPr dirty="0" spc="-65"/>
              <a:t> </a:t>
            </a:r>
            <a:r>
              <a:rPr dirty="0"/>
              <a:t>competitive</a:t>
            </a:r>
            <a:r>
              <a:rPr dirty="0" spc="-80"/>
              <a:t> </a:t>
            </a:r>
            <a:r>
              <a:rPr dirty="0" spc="-20"/>
              <a:t>environment</a:t>
            </a:r>
            <a:r>
              <a:rPr dirty="0" spc="-80"/>
              <a:t> </a:t>
            </a:r>
            <a:r>
              <a:rPr dirty="0"/>
              <a:t>key</a:t>
            </a:r>
            <a:r>
              <a:rPr dirty="0" spc="-80"/>
              <a:t> </a:t>
            </a:r>
            <a:r>
              <a:rPr dirty="0"/>
              <a:t>barriers</a:t>
            </a:r>
            <a:r>
              <a:rPr dirty="0" spc="-95"/>
              <a:t> </a:t>
            </a:r>
            <a:r>
              <a:rPr dirty="0"/>
              <a:t>for</a:t>
            </a:r>
            <a:r>
              <a:rPr dirty="0" spc="-65"/>
              <a:t> </a:t>
            </a:r>
            <a:r>
              <a:rPr dirty="0" spc="-20"/>
              <a:t>KoRo</a:t>
            </a:r>
          </a:p>
        </p:txBody>
      </p:sp>
      <p:pic>
        <p:nvPicPr>
          <p:cNvPr id="11" name="object 11" descr="Koro_logo_Vektor | KoRo Handels GmbH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870" y="1270146"/>
            <a:ext cx="529533" cy="483341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14344" y="2119883"/>
          <a:ext cx="7931150" cy="280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8375"/>
                <a:gridCol w="986155"/>
                <a:gridCol w="987425"/>
                <a:gridCol w="986155"/>
                <a:gridCol w="986155"/>
                <a:gridCol w="986154"/>
                <a:gridCol w="986154"/>
                <a:gridCol w="968375"/>
              </a:tblGrid>
              <a:tr h="280035">
                <a:tc>
                  <a:txBody>
                    <a:bodyPr/>
                    <a:lstStyle/>
                    <a:p>
                      <a:pPr marL="269240" marR="89535" indent="133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Conscientious</a:t>
                      </a:r>
                      <a:r>
                        <a:rPr dirty="0" sz="800" spc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Traditionalists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535305" marR="83185" indent="622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Trendy</a:t>
                      </a:r>
                      <a:r>
                        <a:rPr dirty="0" sz="800" spc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Matures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295910" marR="80645" indent="2133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Premium</a:t>
                      </a:r>
                      <a:r>
                        <a:rPr dirty="0" sz="800" spc="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Trend-seekers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Conscientious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r" marR="73660">
                        <a:lnSpc>
                          <a:spcPct val="100000"/>
                        </a:lnSpc>
                      </a:pP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Youths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41F46"/>
                    </a:solidFill>
                  </a:tcPr>
                </a:tc>
                <a:tc>
                  <a:txBody>
                    <a:bodyPr/>
                    <a:lstStyle/>
                    <a:p>
                      <a:pPr marL="549275" marR="69215" indent="6350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Fitness</a:t>
                      </a:r>
                      <a:r>
                        <a:rPr dirty="0" sz="800" spc="50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Matures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16230" marR="64769" indent="1625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Rewarded</a:t>
                      </a:r>
                      <a:r>
                        <a:rPr dirty="0" sz="800" spc="50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Value-seekers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22580" marR="58419" indent="1701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Pragmatic</a:t>
                      </a:r>
                      <a:r>
                        <a:rPr dirty="0" sz="800" spc="50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Value-seekers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D2E7F8"/>
                    </a:solidFill>
                  </a:tcPr>
                </a:tc>
                <a:tc>
                  <a:txBody>
                    <a:bodyPr/>
                    <a:lstStyle/>
                    <a:p>
                      <a:pPr marL="630555" marR="36195" indent="-19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Fitness</a:t>
                      </a:r>
                      <a:r>
                        <a:rPr dirty="0" sz="800" spc="50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031739"/>
                          </a:solidFill>
                          <a:latin typeface="Calibri"/>
                          <a:cs typeface="Calibri"/>
                        </a:rPr>
                        <a:t>Youths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38100">
                      <a:solidFill>
                        <a:srgbClr val="FFFFFF"/>
                      </a:solidFill>
                      <a:prstDash val="solid"/>
                    </a:lnL>
                    <a:solidFill>
                      <a:srgbClr val="D2E7F8"/>
                    </a:solidFill>
                  </a:tcPr>
                </a:tc>
              </a:tr>
            </a:tbl>
          </a:graphicData>
        </a:graphic>
      </p:graphicFrame>
      <p:pic>
        <p:nvPicPr>
          <p:cNvPr id="13" name="object 13" descr="Woman in a tracksuit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00" y="2119883"/>
            <a:ext cx="280415" cy="280415"/>
          </a:xfrm>
          <a:prstGeom prst="rect">
            <a:avLst/>
          </a:prstGeom>
        </p:spPr>
      </p:pic>
      <p:pic>
        <p:nvPicPr>
          <p:cNvPr id="14" name="object 14" descr="Man sitting on riverbank at night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3952" y="2119883"/>
            <a:ext cx="278892" cy="278891"/>
          </a:xfrm>
          <a:prstGeom prst="rect">
            <a:avLst/>
          </a:prstGeom>
        </p:spPr>
      </p:pic>
      <p:pic>
        <p:nvPicPr>
          <p:cNvPr id="15" name="object 15" descr="97,800+ Middle Aged Man Laptop Stock Photos, Pictures &amp; Royalty-Free Images  - iStock | Middle aged man tablet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00371" y="2119883"/>
            <a:ext cx="281939" cy="280415"/>
          </a:xfrm>
          <a:prstGeom prst="rect">
            <a:avLst/>
          </a:prstGeom>
        </p:spPr>
      </p:pic>
      <p:pic>
        <p:nvPicPr>
          <p:cNvPr id="16" name="object 16" descr="Happy Senior Man Stock Photo - Download Image Now - Senior Men, Senior  Adult, Men - iStock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14344" y="2119883"/>
            <a:ext cx="280415" cy="278891"/>
          </a:xfrm>
          <a:prstGeom prst="rect">
            <a:avLst/>
          </a:prstGeom>
        </p:spPr>
      </p:pic>
      <p:pic>
        <p:nvPicPr>
          <p:cNvPr id="17" name="object 17" descr="People weight traini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18064" y="2119883"/>
            <a:ext cx="280416" cy="278891"/>
          </a:xfrm>
          <a:prstGeom prst="rect">
            <a:avLst/>
          </a:prstGeom>
        </p:spPr>
      </p:pic>
      <p:pic>
        <p:nvPicPr>
          <p:cNvPr id="18" name="object 18" descr="Woman browsing store shelves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32035" y="2121407"/>
            <a:ext cx="278892" cy="278891"/>
          </a:xfrm>
          <a:prstGeom prst="rect">
            <a:avLst/>
          </a:prstGeom>
        </p:spPr>
      </p:pic>
      <p:pic>
        <p:nvPicPr>
          <p:cNvPr id="19" name="object 19" descr="2,548 Old People Gym Stock Photos, High-Res Pictures, and Images - Getty  Images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59980" y="2121407"/>
            <a:ext cx="278892" cy="278891"/>
          </a:xfrm>
          <a:prstGeom prst="rect">
            <a:avLst/>
          </a:prstGeom>
        </p:spPr>
      </p:pic>
      <p:pic>
        <p:nvPicPr>
          <p:cNvPr id="20" name="object 20" descr="1,145,200+ Older Woman Stock Photos, Pictures &amp; Royalty-Free Images -  iStock | Older woman portrait, Older woman smiling, Older woman walking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46007" y="2121407"/>
            <a:ext cx="278892" cy="27889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572128" y="1607692"/>
            <a:ext cx="835660" cy="387350"/>
            <a:chOff x="3572128" y="1607692"/>
            <a:chExt cx="835660" cy="387350"/>
          </a:xfrm>
        </p:grpSpPr>
        <p:sp>
          <p:nvSpPr>
            <p:cNvPr id="22" name="object 22"/>
            <p:cNvSpPr/>
            <p:nvPr/>
          </p:nvSpPr>
          <p:spPr>
            <a:xfrm>
              <a:off x="384505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4" h="184785">
                  <a:moveTo>
                    <a:pt x="132587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2587" y="184403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84505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4" h="184785">
                  <a:moveTo>
                    <a:pt x="0" y="184403"/>
                  </a:moveTo>
                  <a:lnTo>
                    <a:pt x="132587" y="184403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75303" y="1610867"/>
              <a:ext cx="251460" cy="184785"/>
            </a:xfrm>
            <a:custGeom>
              <a:avLst/>
              <a:gdLst/>
              <a:ahLst/>
              <a:cxnLst/>
              <a:rect l="l" t="t" r="r" b="b"/>
              <a:pathLst>
                <a:path w="251460" h="184785">
                  <a:moveTo>
                    <a:pt x="251460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1460" y="184403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575303" y="1610867"/>
              <a:ext cx="251460" cy="184785"/>
            </a:xfrm>
            <a:custGeom>
              <a:avLst/>
              <a:gdLst/>
              <a:ahLst/>
              <a:cxnLst/>
              <a:rect l="l" t="t" r="r" b="b"/>
              <a:pathLst>
                <a:path w="251460" h="184785">
                  <a:moveTo>
                    <a:pt x="0" y="184403"/>
                  </a:moveTo>
                  <a:lnTo>
                    <a:pt x="251460" y="184403"/>
                  </a:lnTo>
                  <a:lnTo>
                    <a:pt x="251460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91228" y="1607692"/>
              <a:ext cx="416305" cy="19075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07179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2971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7179" y="182879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107179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0" y="182879"/>
                  </a:moveTo>
                  <a:lnTo>
                    <a:pt x="297179" y="182879"/>
                  </a:lnTo>
                  <a:lnTo>
                    <a:pt x="2971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994403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9601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6012" y="182879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994403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0" y="182879"/>
                  </a:moveTo>
                  <a:lnTo>
                    <a:pt x="96012" y="182879"/>
                  </a:lnTo>
                  <a:lnTo>
                    <a:pt x="96012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57530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16459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4591" y="182879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57530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0" y="182879"/>
                  </a:moveTo>
                  <a:lnTo>
                    <a:pt x="164591" y="182879"/>
                  </a:lnTo>
                  <a:lnTo>
                    <a:pt x="16459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56659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2209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20979" y="182879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756659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0" y="182879"/>
                  </a:moveTo>
                  <a:lnTo>
                    <a:pt x="220979" y="182879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7511668" y="1607692"/>
            <a:ext cx="836930" cy="387350"/>
            <a:chOff x="7511668" y="1607692"/>
            <a:chExt cx="836930" cy="387350"/>
          </a:xfrm>
        </p:grpSpPr>
        <p:sp>
          <p:nvSpPr>
            <p:cNvPr id="36" name="object 36"/>
            <p:cNvSpPr/>
            <p:nvPr/>
          </p:nvSpPr>
          <p:spPr>
            <a:xfrm>
              <a:off x="778459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132588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2588" y="184403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78459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0" y="184403"/>
                  </a:moveTo>
                  <a:lnTo>
                    <a:pt x="132588" y="184403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514843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252983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2983" y="184403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514843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0" y="184403"/>
                  </a:moveTo>
                  <a:lnTo>
                    <a:pt x="252983" y="184403"/>
                  </a:lnTo>
                  <a:lnTo>
                    <a:pt x="252983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32292" y="1607692"/>
              <a:ext cx="416305" cy="19075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048243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2971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7179" y="182879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048243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0" y="182879"/>
                  </a:moveTo>
                  <a:lnTo>
                    <a:pt x="297179" y="182879"/>
                  </a:lnTo>
                  <a:lnTo>
                    <a:pt x="2971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935467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9601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6011" y="182879"/>
                  </a:lnTo>
                  <a:lnTo>
                    <a:pt x="96011" y="0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935467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0" y="182879"/>
                  </a:moveTo>
                  <a:lnTo>
                    <a:pt x="96011" y="182879"/>
                  </a:lnTo>
                  <a:lnTo>
                    <a:pt x="9601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51484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16459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4592" y="182879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51484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0" y="182879"/>
                  </a:moveTo>
                  <a:lnTo>
                    <a:pt x="164592" y="182879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696199" y="1808987"/>
              <a:ext cx="222885" cy="182880"/>
            </a:xfrm>
            <a:custGeom>
              <a:avLst/>
              <a:gdLst/>
              <a:ahLst/>
              <a:cxnLst/>
              <a:rect l="l" t="t" r="r" b="b"/>
              <a:pathLst>
                <a:path w="222884" h="182880">
                  <a:moveTo>
                    <a:pt x="222503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22503" y="182879"/>
                  </a:lnTo>
                  <a:lnTo>
                    <a:pt x="2225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696199" y="1808987"/>
              <a:ext cx="222885" cy="182880"/>
            </a:xfrm>
            <a:custGeom>
              <a:avLst/>
              <a:gdLst/>
              <a:ahLst/>
              <a:cxnLst/>
              <a:rect l="l" t="t" r="r" b="b"/>
              <a:pathLst>
                <a:path w="222884" h="182880">
                  <a:moveTo>
                    <a:pt x="0" y="182879"/>
                  </a:moveTo>
                  <a:lnTo>
                    <a:pt x="222503" y="182879"/>
                  </a:lnTo>
                  <a:lnTo>
                    <a:pt x="222503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4556633" y="1607692"/>
            <a:ext cx="834390" cy="387350"/>
            <a:chOff x="4556633" y="1607692"/>
            <a:chExt cx="834390" cy="387350"/>
          </a:xfrm>
        </p:grpSpPr>
        <p:sp>
          <p:nvSpPr>
            <p:cNvPr id="50" name="object 50"/>
            <p:cNvSpPr/>
            <p:nvPr/>
          </p:nvSpPr>
          <p:spPr>
            <a:xfrm>
              <a:off x="4829556" y="1610867"/>
              <a:ext cx="131445" cy="184785"/>
            </a:xfrm>
            <a:custGeom>
              <a:avLst/>
              <a:gdLst/>
              <a:ahLst/>
              <a:cxnLst/>
              <a:rect l="l" t="t" r="r" b="b"/>
              <a:pathLst>
                <a:path w="131445" h="184785">
                  <a:moveTo>
                    <a:pt x="131063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1063" y="184403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829556" y="1610867"/>
              <a:ext cx="131445" cy="184785"/>
            </a:xfrm>
            <a:custGeom>
              <a:avLst/>
              <a:gdLst/>
              <a:ahLst/>
              <a:cxnLst/>
              <a:rect l="l" t="t" r="r" b="b"/>
              <a:pathLst>
                <a:path w="131445" h="184785">
                  <a:moveTo>
                    <a:pt x="0" y="184403"/>
                  </a:moveTo>
                  <a:lnTo>
                    <a:pt x="131063" y="184403"/>
                  </a:lnTo>
                  <a:lnTo>
                    <a:pt x="131063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559808" y="1610867"/>
              <a:ext cx="251460" cy="184785"/>
            </a:xfrm>
            <a:custGeom>
              <a:avLst/>
              <a:gdLst/>
              <a:ahLst/>
              <a:cxnLst/>
              <a:rect l="l" t="t" r="r" b="b"/>
              <a:pathLst>
                <a:path w="251460" h="184785">
                  <a:moveTo>
                    <a:pt x="251460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1460" y="184403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559808" y="1610867"/>
              <a:ext cx="251460" cy="184785"/>
            </a:xfrm>
            <a:custGeom>
              <a:avLst/>
              <a:gdLst/>
              <a:ahLst/>
              <a:cxnLst/>
              <a:rect l="l" t="t" r="r" b="b"/>
              <a:pathLst>
                <a:path w="251460" h="184785">
                  <a:moveTo>
                    <a:pt x="0" y="184403"/>
                  </a:moveTo>
                  <a:lnTo>
                    <a:pt x="251460" y="184403"/>
                  </a:lnTo>
                  <a:lnTo>
                    <a:pt x="251460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75733" y="1607692"/>
              <a:ext cx="414782" cy="19075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091684" y="1808987"/>
              <a:ext cx="295910" cy="182880"/>
            </a:xfrm>
            <a:custGeom>
              <a:avLst/>
              <a:gdLst/>
              <a:ahLst/>
              <a:cxnLst/>
              <a:rect l="l" t="t" r="r" b="b"/>
              <a:pathLst>
                <a:path w="295910" h="182880">
                  <a:moveTo>
                    <a:pt x="295656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5656" y="182879"/>
                  </a:lnTo>
                  <a:lnTo>
                    <a:pt x="2956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091684" y="1808987"/>
              <a:ext cx="295910" cy="182880"/>
            </a:xfrm>
            <a:custGeom>
              <a:avLst/>
              <a:gdLst/>
              <a:ahLst/>
              <a:cxnLst/>
              <a:rect l="l" t="t" r="r" b="b"/>
              <a:pathLst>
                <a:path w="295910" h="182880">
                  <a:moveTo>
                    <a:pt x="0" y="182879"/>
                  </a:moveTo>
                  <a:lnTo>
                    <a:pt x="295656" y="182879"/>
                  </a:lnTo>
                  <a:lnTo>
                    <a:pt x="295656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978908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9601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6012" y="182879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978908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0" y="182879"/>
                  </a:moveTo>
                  <a:lnTo>
                    <a:pt x="96012" y="182879"/>
                  </a:lnTo>
                  <a:lnTo>
                    <a:pt x="96012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559808" y="1808987"/>
              <a:ext cx="163195" cy="182880"/>
            </a:xfrm>
            <a:custGeom>
              <a:avLst/>
              <a:gdLst/>
              <a:ahLst/>
              <a:cxnLst/>
              <a:rect l="l" t="t" r="r" b="b"/>
              <a:pathLst>
                <a:path w="163195" h="182880">
                  <a:moveTo>
                    <a:pt x="163067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3067" y="182879"/>
                  </a:lnTo>
                  <a:lnTo>
                    <a:pt x="16306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559808" y="1808987"/>
              <a:ext cx="163195" cy="182880"/>
            </a:xfrm>
            <a:custGeom>
              <a:avLst/>
              <a:gdLst/>
              <a:ahLst/>
              <a:cxnLst/>
              <a:rect l="l" t="t" r="r" b="b"/>
              <a:pathLst>
                <a:path w="163195" h="182880">
                  <a:moveTo>
                    <a:pt x="0" y="182879"/>
                  </a:moveTo>
                  <a:lnTo>
                    <a:pt x="163067" y="182879"/>
                  </a:lnTo>
                  <a:lnTo>
                    <a:pt x="163067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741164" y="1808987"/>
              <a:ext cx="219710" cy="182880"/>
            </a:xfrm>
            <a:custGeom>
              <a:avLst/>
              <a:gdLst/>
              <a:ahLst/>
              <a:cxnLst/>
              <a:rect l="l" t="t" r="r" b="b"/>
              <a:pathLst>
                <a:path w="219710" h="182880">
                  <a:moveTo>
                    <a:pt x="219456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19456" y="182879"/>
                  </a:lnTo>
                  <a:lnTo>
                    <a:pt x="2194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741164" y="1808987"/>
              <a:ext cx="219710" cy="182880"/>
            </a:xfrm>
            <a:custGeom>
              <a:avLst/>
              <a:gdLst/>
              <a:ahLst/>
              <a:cxnLst/>
              <a:rect l="l" t="t" r="r" b="b"/>
              <a:pathLst>
                <a:path w="219710" h="182880">
                  <a:moveTo>
                    <a:pt x="0" y="182879"/>
                  </a:moveTo>
                  <a:lnTo>
                    <a:pt x="219456" y="182879"/>
                  </a:lnTo>
                  <a:lnTo>
                    <a:pt x="219456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8502268" y="1607692"/>
          <a:ext cx="915035" cy="379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"/>
                <a:gridCol w="88265"/>
                <a:gridCol w="140969"/>
                <a:gridCol w="113029"/>
                <a:gridCol w="317500"/>
              </a:tblGrid>
              <a:tr h="1974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31739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9F9F"/>
                      </a:solidFill>
                      <a:prstDash val="solid"/>
                    </a:lnL>
                    <a:lnT w="6350">
                      <a:solidFill>
                        <a:srgbClr val="031739"/>
                      </a:solidFill>
                      <a:prstDash val="solid"/>
                    </a:lnT>
                    <a:lnB w="6350">
                      <a:solidFill>
                        <a:srgbClr val="031739"/>
                      </a:solidFill>
                      <a:prstDash val="solid"/>
                    </a:lnB>
                    <a:solidFill>
                      <a:srgbClr val="031739"/>
                    </a:solidFill>
                  </a:tcPr>
                </a:tc>
              </a:tr>
            </a:tbl>
          </a:graphicData>
        </a:graphic>
      </p:graphicFrame>
      <p:pic>
        <p:nvPicPr>
          <p:cNvPr id="64" name="object 6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21368" y="1607692"/>
            <a:ext cx="416305" cy="190753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5538089" y="1607692"/>
            <a:ext cx="835660" cy="387350"/>
            <a:chOff x="5538089" y="1607692"/>
            <a:chExt cx="835660" cy="387350"/>
          </a:xfrm>
        </p:grpSpPr>
        <p:sp>
          <p:nvSpPr>
            <p:cNvPr id="66" name="object 66"/>
            <p:cNvSpPr/>
            <p:nvPr/>
          </p:nvSpPr>
          <p:spPr>
            <a:xfrm>
              <a:off x="5811012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4" h="184785">
                  <a:moveTo>
                    <a:pt x="132587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2587" y="184403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811012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4" h="184785">
                  <a:moveTo>
                    <a:pt x="0" y="184403"/>
                  </a:moveTo>
                  <a:lnTo>
                    <a:pt x="132587" y="184403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542788" y="1610867"/>
              <a:ext cx="251460" cy="184785"/>
            </a:xfrm>
            <a:custGeom>
              <a:avLst/>
              <a:gdLst/>
              <a:ahLst/>
              <a:cxnLst/>
              <a:rect l="l" t="t" r="r" b="b"/>
              <a:pathLst>
                <a:path w="251460" h="184785">
                  <a:moveTo>
                    <a:pt x="251460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1460" y="184403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542788" y="1610867"/>
              <a:ext cx="251460" cy="184785"/>
            </a:xfrm>
            <a:custGeom>
              <a:avLst/>
              <a:gdLst/>
              <a:ahLst/>
              <a:cxnLst/>
              <a:rect l="l" t="t" r="r" b="b"/>
              <a:pathLst>
                <a:path w="251460" h="184785">
                  <a:moveTo>
                    <a:pt x="0" y="184403"/>
                  </a:moveTo>
                  <a:lnTo>
                    <a:pt x="251460" y="184403"/>
                  </a:lnTo>
                  <a:lnTo>
                    <a:pt x="251460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58713" y="1607692"/>
              <a:ext cx="414782" cy="19075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074664" y="1808987"/>
              <a:ext cx="295910" cy="182880"/>
            </a:xfrm>
            <a:custGeom>
              <a:avLst/>
              <a:gdLst/>
              <a:ahLst/>
              <a:cxnLst/>
              <a:rect l="l" t="t" r="r" b="b"/>
              <a:pathLst>
                <a:path w="295910" h="182880">
                  <a:moveTo>
                    <a:pt x="295656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5656" y="182879"/>
                  </a:lnTo>
                  <a:lnTo>
                    <a:pt x="2956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074664" y="1808987"/>
              <a:ext cx="295910" cy="182880"/>
            </a:xfrm>
            <a:custGeom>
              <a:avLst/>
              <a:gdLst/>
              <a:ahLst/>
              <a:cxnLst/>
              <a:rect l="l" t="t" r="r" b="b"/>
              <a:pathLst>
                <a:path w="295910" h="182880">
                  <a:moveTo>
                    <a:pt x="0" y="182879"/>
                  </a:moveTo>
                  <a:lnTo>
                    <a:pt x="295656" y="182879"/>
                  </a:lnTo>
                  <a:lnTo>
                    <a:pt x="295656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961888" y="1808987"/>
              <a:ext cx="94615" cy="182880"/>
            </a:xfrm>
            <a:custGeom>
              <a:avLst/>
              <a:gdLst/>
              <a:ahLst/>
              <a:cxnLst/>
              <a:rect l="l" t="t" r="r" b="b"/>
              <a:pathLst>
                <a:path w="94614" h="182880">
                  <a:moveTo>
                    <a:pt x="94487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4487" y="182879"/>
                  </a:lnTo>
                  <a:lnTo>
                    <a:pt x="9448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961888" y="1808987"/>
              <a:ext cx="94615" cy="182880"/>
            </a:xfrm>
            <a:custGeom>
              <a:avLst/>
              <a:gdLst/>
              <a:ahLst/>
              <a:cxnLst/>
              <a:rect l="l" t="t" r="r" b="b"/>
              <a:pathLst>
                <a:path w="94614" h="182880">
                  <a:moveTo>
                    <a:pt x="0" y="182879"/>
                  </a:moveTo>
                  <a:lnTo>
                    <a:pt x="94487" y="182879"/>
                  </a:lnTo>
                  <a:lnTo>
                    <a:pt x="94487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541264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16459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4591" y="182879"/>
                  </a:lnTo>
                  <a:lnTo>
                    <a:pt x="16459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541264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0" y="182879"/>
                  </a:moveTo>
                  <a:lnTo>
                    <a:pt x="164591" y="182879"/>
                  </a:lnTo>
                  <a:lnTo>
                    <a:pt x="16459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722620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2209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20979" y="182879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722620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0" y="182879"/>
                  </a:moveTo>
                  <a:lnTo>
                    <a:pt x="220979" y="182879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/>
          <p:cNvGrpSpPr/>
          <p:nvPr/>
        </p:nvGrpSpPr>
        <p:grpSpPr>
          <a:xfrm>
            <a:off x="9485248" y="1607692"/>
            <a:ext cx="836930" cy="387350"/>
            <a:chOff x="9485248" y="1607692"/>
            <a:chExt cx="836930" cy="387350"/>
          </a:xfrm>
        </p:grpSpPr>
        <p:sp>
          <p:nvSpPr>
            <p:cNvPr id="80" name="object 80"/>
            <p:cNvSpPr/>
            <p:nvPr/>
          </p:nvSpPr>
          <p:spPr>
            <a:xfrm>
              <a:off x="975817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132588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2588" y="184403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75817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0" y="184403"/>
                  </a:moveTo>
                  <a:lnTo>
                    <a:pt x="132588" y="184403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9488423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252983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2983" y="184403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9488423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0" y="184403"/>
                  </a:moveTo>
                  <a:lnTo>
                    <a:pt x="252983" y="184403"/>
                  </a:lnTo>
                  <a:lnTo>
                    <a:pt x="252983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05872" y="1607692"/>
              <a:ext cx="416305" cy="19075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0021823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2971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7179" y="182879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0021823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0" y="182879"/>
                  </a:moveTo>
                  <a:lnTo>
                    <a:pt x="297179" y="182879"/>
                  </a:lnTo>
                  <a:lnTo>
                    <a:pt x="2971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9909047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9601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6011" y="182879"/>
                  </a:lnTo>
                  <a:lnTo>
                    <a:pt x="9601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9909047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0" y="182879"/>
                  </a:moveTo>
                  <a:lnTo>
                    <a:pt x="96011" y="182879"/>
                  </a:lnTo>
                  <a:lnTo>
                    <a:pt x="9601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948842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16459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4592" y="182879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948842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0" y="182879"/>
                  </a:moveTo>
                  <a:lnTo>
                    <a:pt x="164592" y="182879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9669779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2209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20979" y="182879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669779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0" y="182879"/>
                  </a:moveTo>
                  <a:lnTo>
                    <a:pt x="220979" y="182879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/>
          <p:cNvGrpSpPr/>
          <p:nvPr/>
        </p:nvGrpSpPr>
        <p:grpSpPr>
          <a:xfrm>
            <a:off x="6527165" y="1607692"/>
            <a:ext cx="835660" cy="387350"/>
            <a:chOff x="6527165" y="1607692"/>
            <a:chExt cx="835660" cy="387350"/>
          </a:xfrm>
        </p:grpSpPr>
        <p:sp>
          <p:nvSpPr>
            <p:cNvPr id="94" name="object 94"/>
            <p:cNvSpPr/>
            <p:nvPr/>
          </p:nvSpPr>
          <p:spPr>
            <a:xfrm>
              <a:off x="6800088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132588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2588" y="184403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800088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0" y="184403"/>
                  </a:moveTo>
                  <a:lnTo>
                    <a:pt x="132588" y="184403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530340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252983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2983" y="184403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6530340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0" y="184403"/>
                  </a:moveTo>
                  <a:lnTo>
                    <a:pt x="252983" y="184403"/>
                  </a:lnTo>
                  <a:lnTo>
                    <a:pt x="252983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46265" y="1607692"/>
              <a:ext cx="416305" cy="190753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7063740" y="1808987"/>
              <a:ext cx="295910" cy="182880"/>
            </a:xfrm>
            <a:custGeom>
              <a:avLst/>
              <a:gdLst/>
              <a:ahLst/>
              <a:cxnLst/>
              <a:rect l="l" t="t" r="r" b="b"/>
              <a:pathLst>
                <a:path w="295909" h="182880">
                  <a:moveTo>
                    <a:pt x="295655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5655" y="182879"/>
                  </a:lnTo>
                  <a:lnTo>
                    <a:pt x="29565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7063740" y="1808987"/>
              <a:ext cx="295910" cy="182880"/>
            </a:xfrm>
            <a:custGeom>
              <a:avLst/>
              <a:gdLst/>
              <a:ahLst/>
              <a:cxnLst/>
              <a:rect l="l" t="t" r="r" b="b"/>
              <a:pathLst>
                <a:path w="295909" h="182880">
                  <a:moveTo>
                    <a:pt x="0" y="182879"/>
                  </a:moveTo>
                  <a:lnTo>
                    <a:pt x="295655" y="182879"/>
                  </a:lnTo>
                  <a:lnTo>
                    <a:pt x="295655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6949440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9601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6011" y="182879"/>
                  </a:lnTo>
                  <a:lnTo>
                    <a:pt x="9601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6949440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0" y="182879"/>
                  </a:moveTo>
                  <a:lnTo>
                    <a:pt x="96011" y="182879"/>
                  </a:lnTo>
                  <a:lnTo>
                    <a:pt x="9601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530340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16459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4592" y="182879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6530340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0" y="182879"/>
                  </a:moveTo>
                  <a:lnTo>
                    <a:pt x="164592" y="182879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6711696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2209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20979" y="182879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711696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0" y="182879"/>
                  </a:moveTo>
                  <a:lnTo>
                    <a:pt x="220979" y="182879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/>
          <p:cNvGrpSpPr/>
          <p:nvPr/>
        </p:nvGrpSpPr>
        <p:grpSpPr>
          <a:xfrm>
            <a:off x="10475848" y="1607692"/>
            <a:ext cx="835660" cy="387350"/>
            <a:chOff x="10475848" y="1607692"/>
            <a:chExt cx="835660" cy="387350"/>
          </a:xfrm>
        </p:grpSpPr>
        <p:sp>
          <p:nvSpPr>
            <p:cNvPr id="108" name="object 108"/>
            <p:cNvSpPr/>
            <p:nvPr/>
          </p:nvSpPr>
          <p:spPr>
            <a:xfrm>
              <a:off x="1074877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132588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132588" y="184403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0748771" y="1610867"/>
              <a:ext cx="132715" cy="184785"/>
            </a:xfrm>
            <a:custGeom>
              <a:avLst/>
              <a:gdLst/>
              <a:ahLst/>
              <a:cxnLst/>
              <a:rect l="l" t="t" r="r" b="b"/>
              <a:pathLst>
                <a:path w="132715" h="184785">
                  <a:moveTo>
                    <a:pt x="0" y="184403"/>
                  </a:moveTo>
                  <a:lnTo>
                    <a:pt x="132588" y="184403"/>
                  </a:lnTo>
                  <a:lnTo>
                    <a:pt x="132588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479023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252983" y="0"/>
                  </a:moveTo>
                  <a:lnTo>
                    <a:pt x="0" y="0"/>
                  </a:lnTo>
                  <a:lnTo>
                    <a:pt x="0" y="184403"/>
                  </a:lnTo>
                  <a:lnTo>
                    <a:pt x="252983" y="184403"/>
                  </a:lnTo>
                  <a:lnTo>
                    <a:pt x="2529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479023" y="1610867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5">
                  <a:moveTo>
                    <a:pt x="0" y="184403"/>
                  </a:moveTo>
                  <a:lnTo>
                    <a:pt x="252983" y="184403"/>
                  </a:lnTo>
                  <a:lnTo>
                    <a:pt x="252983" y="0"/>
                  </a:lnTo>
                  <a:lnTo>
                    <a:pt x="0" y="0"/>
                  </a:lnTo>
                  <a:lnTo>
                    <a:pt x="0" y="184403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94948" y="1607692"/>
              <a:ext cx="416305" cy="190753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11010899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2971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97179" y="182879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1010899" y="1808987"/>
              <a:ext cx="297180" cy="182880"/>
            </a:xfrm>
            <a:custGeom>
              <a:avLst/>
              <a:gdLst/>
              <a:ahLst/>
              <a:cxnLst/>
              <a:rect l="l" t="t" r="r" b="b"/>
              <a:pathLst>
                <a:path w="297179" h="182880">
                  <a:moveTo>
                    <a:pt x="0" y="182879"/>
                  </a:moveTo>
                  <a:lnTo>
                    <a:pt x="297179" y="182879"/>
                  </a:lnTo>
                  <a:lnTo>
                    <a:pt x="2971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0898123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96011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96011" y="182879"/>
                  </a:lnTo>
                  <a:lnTo>
                    <a:pt x="9601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898123" y="1808987"/>
              <a:ext cx="96520" cy="182880"/>
            </a:xfrm>
            <a:custGeom>
              <a:avLst/>
              <a:gdLst/>
              <a:ahLst/>
              <a:cxnLst/>
              <a:rect l="l" t="t" r="r" b="b"/>
              <a:pathLst>
                <a:path w="96520" h="182880">
                  <a:moveTo>
                    <a:pt x="0" y="182879"/>
                  </a:moveTo>
                  <a:lnTo>
                    <a:pt x="96011" y="182879"/>
                  </a:lnTo>
                  <a:lnTo>
                    <a:pt x="96011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47902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164592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64592" y="182879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0479023" y="1808987"/>
              <a:ext cx="165100" cy="182880"/>
            </a:xfrm>
            <a:custGeom>
              <a:avLst/>
              <a:gdLst/>
              <a:ahLst/>
              <a:cxnLst/>
              <a:rect l="l" t="t" r="r" b="b"/>
              <a:pathLst>
                <a:path w="165100" h="182880">
                  <a:moveTo>
                    <a:pt x="0" y="182879"/>
                  </a:moveTo>
                  <a:lnTo>
                    <a:pt x="164592" y="182879"/>
                  </a:lnTo>
                  <a:lnTo>
                    <a:pt x="164592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0660379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22097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220979" y="182879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0317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0660379" y="1808987"/>
              <a:ext cx="220979" cy="182880"/>
            </a:xfrm>
            <a:custGeom>
              <a:avLst/>
              <a:gdLst/>
              <a:ahLst/>
              <a:cxnLst/>
              <a:rect l="l" t="t" r="r" b="b"/>
              <a:pathLst>
                <a:path w="220979" h="182880">
                  <a:moveTo>
                    <a:pt x="0" y="182879"/>
                  </a:moveTo>
                  <a:lnTo>
                    <a:pt x="220979" y="182879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635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/>
          <p:cNvSpPr txBox="1"/>
          <p:nvPr/>
        </p:nvSpPr>
        <p:spPr>
          <a:xfrm>
            <a:off x="8941434" y="1237615"/>
            <a:ext cx="951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A6A6A6"/>
                </a:solidFill>
                <a:latin typeface="Calibri"/>
                <a:cs typeface="Calibri"/>
              </a:rPr>
              <a:t>Self-interested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7485888" y="1446275"/>
            <a:ext cx="3859529" cy="76200"/>
          </a:xfrm>
          <a:custGeom>
            <a:avLst/>
            <a:gdLst/>
            <a:ahLst/>
            <a:cxnLst/>
            <a:rect l="l" t="t" r="r" b="b"/>
            <a:pathLst>
              <a:path w="385952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9" y="46100"/>
                </a:lnTo>
                <a:lnTo>
                  <a:pt x="38100" y="46100"/>
                </a:lnTo>
                <a:lnTo>
                  <a:pt x="38100" y="30225"/>
                </a:lnTo>
                <a:lnTo>
                  <a:pt x="74615" y="3022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859529" h="76200">
                <a:moveTo>
                  <a:pt x="3821048" y="0"/>
                </a:moveTo>
                <a:lnTo>
                  <a:pt x="3806255" y="2988"/>
                </a:lnTo>
                <a:lnTo>
                  <a:pt x="3794140" y="11144"/>
                </a:lnTo>
                <a:lnTo>
                  <a:pt x="3785955" y="23252"/>
                </a:lnTo>
                <a:lnTo>
                  <a:pt x="3782948" y="38100"/>
                </a:lnTo>
                <a:lnTo>
                  <a:pt x="3785955" y="52947"/>
                </a:lnTo>
                <a:lnTo>
                  <a:pt x="3794140" y="65055"/>
                </a:lnTo>
                <a:lnTo>
                  <a:pt x="3806255" y="73211"/>
                </a:lnTo>
                <a:lnTo>
                  <a:pt x="3821048" y="76200"/>
                </a:lnTo>
                <a:lnTo>
                  <a:pt x="3835896" y="73211"/>
                </a:lnTo>
                <a:lnTo>
                  <a:pt x="3848004" y="65055"/>
                </a:lnTo>
                <a:lnTo>
                  <a:pt x="3856160" y="52947"/>
                </a:lnTo>
                <a:lnTo>
                  <a:pt x="3857538" y="46100"/>
                </a:lnTo>
                <a:lnTo>
                  <a:pt x="3821048" y="46100"/>
                </a:lnTo>
                <a:lnTo>
                  <a:pt x="3821048" y="30225"/>
                </a:lnTo>
                <a:lnTo>
                  <a:pt x="3857564" y="30225"/>
                </a:lnTo>
                <a:lnTo>
                  <a:pt x="3856160" y="23252"/>
                </a:lnTo>
                <a:lnTo>
                  <a:pt x="3848004" y="11144"/>
                </a:lnTo>
                <a:lnTo>
                  <a:pt x="3835896" y="2988"/>
                </a:lnTo>
                <a:lnTo>
                  <a:pt x="3821048" y="0"/>
                </a:lnTo>
                <a:close/>
              </a:path>
              <a:path w="3859529" h="76200">
                <a:moveTo>
                  <a:pt x="74615" y="30225"/>
                </a:moveTo>
                <a:lnTo>
                  <a:pt x="38100" y="30225"/>
                </a:ln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15" y="30225"/>
                </a:lnTo>
                <a:close/>
              </a:path>
              <a:path w="3859529" h="76200">
                <a:moveTo>
                  <a:pt x="3784543" y="30225"/>
                </a:moveTo>
                <a:lnTo>
                  <a:pt x="74615" y="30225"/>
                </a:lnTo>
                <a:lnTo>
                  <a:pt x="76200" y="38100"/>
                </a:lnTo>
                <a:lnTo>
                  <a:pt x="74589" y="46100"/>
                </a:lnTo>
                <a:lnTo>
                  <a:pt x="3784569" y="46100"/>
                </a:lnTo>
                <a:lnTo>
                  <a:pt x="3782948" y="38100"/>
                </a:lnTo>
                <a:lnTo>
                  <a:pt x="3784543" y="30225"/>
                </a:lnTo>
                <a:close/>
              </a:path>
              <a:path w="3859529" h="76200">
                <a:moveTo>
                  <a:pt x="3857564" y="30225"/>
                </a:moveTo>
                <a:lnTo>
                  <a:pt x="3821048" y="30225"/>
                </a:lnTo>
                <a:lnTo>
                  <a:pt x="3821048" y="46100"/>
                </a:lnTo>
                <a:lnTo>
                  <a:pt x="3857538" y="46100"/>
                </a:lnTo>
                <a:lnTo>
                  <a:pt x="3859148" y="38100"/>
                </a:lnTo>
                <a:lnTo>
                  <a:pt x="3857564" y="30225"/>
                </a:lnTo>
                <a:close/>
              </a:path>
            </a:pathLst>
          </a:custGeom>
          <a:solidFill>
            <a:srgbClr val="8A8F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 txBox="1"/>
          <p:nvPr/>
        </p:nvSpPr>
        <p:spPr>
          <a:xfrm>
            <a:off x="4783582" y="1237615"/>
            <a:ext cx="1364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D4D4D"/>
                </a:solidFill>
                <a:latin typeface="Calibri"/>
                <a:cs typeface="Calibri"/>
              </a:rPr>
              <a:t>Responsibility-driven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3537203" y="1446275"/>
            <a:ext cx="3859529" cy="76200"/>
          </a:xfrm>
          <a:custGeom>
            <a:avLst/>
            <a:gdLst/>
            <a:ahLst/>
            <a:cxnLst/>
            <a:rect l="l" t="t" r="r" b="b"/>
            <a:pathLst>
              <a:path w="385952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9" y="46100"/>
                </a:lnTo>
                <a:lnTo>
                  <a:pt x="38100" y="46100"/>
                </a:lnTo>
                <a:lnTo>
                  <a:pt x="38100" y="30225"/>
                </a:lnTo>
                <a:lnTo>
                  <a:pt x="74615" y="3022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859529" h="76200">
                <a:moveTo>
                  <a:pt x="3821049" y="0"/>
                </a:moveTo>
                <a:lnTo>
                  <a:pt x="3806255" y="2988"/>
                </a:lnTo>
                <a:lnTo>
                  <a:pt x="3794140" y="11144"/>
                </a:lnTo>
                <a:lnTo>
                  <a:pt x="3785955" y="23252"/>
                </a:lnTo>
                <a:lnTo>
                  <a:pt x="3782949" y="38100"/>
                </a:lnTo>
                <a:lnTo>
                  <a:pt x="3785955" y="52947"/>
                </a:lnTo>
                <a:lnTo>
                  <a:pt x="3794140" y="65055"/>
                </a:lnTo>
                <a:lnTo>
                  <a:pt x="3806255" y="73211"/>
                </a:lnTo>
                <a:lnTo>
                  <a:pt x="3821049" y="76200"/>
                </a:lnTo>
                <a:lnTo>
                  <a:pt x="3835896" y="73211"/>
                </a:lnTo>
                <a:lnTo>
                  <a:pt x="3848004" y="65055"/>
                </a:lnTo>
                <a:lnTo>
                  <a:pt x="3856160" y="52947"/>
                </a:lnTo>
                <a:lnTo>
                  <a:pt x="3857538" y="46100"/>
                </a:lnTo>
                <a:lnTo>
                  <a:pt x="3821049" y="46100"/>
                </a:lnTo>
                <a:lnTo>
                  <a:pt x="3821049" y="30225"/>
                </a:lnTo>
                <a:lnTo>
                  <a:pt x="3857564" y="30225"/>
                </a:lnTo>
                <a:lnTo>
                  <a:pt x="3856160" y="23252"/>
                </a:lnTo>
                <a:lnTo>
                  <a:pt x="3848004" y="11144"/>
                </a:lnTo>
                <a:lnTo>
                  <a:pt x="3835896" y="2988"/>
                </a:lnTo>
                <a:lnTo>
                  <a:pt x="3821049" y="0"/>
                </a:lnTo>
                <a:close/>
              </a:path>
              <a:path w="3859529" h="76200">
                <a:moveTo>
                  <a:pt x="74615" y="30225"/>
                </a:moveTo>
                <a:lnTo>
                  <a:pt x="38100" y="30225"/>
                </a:ln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15" y="30225"/>
                </a:lnTo>
                <a:close/>
              </a:path>
              <a:path w="3859529" h="76200">
                <a:moveTo>
                  <a:pt x="3784543" y="30225"/>
                </a:moveTo>
                <a:lnTo>
                  <a:pt x="74615" y="30225"/>
                </a:lnTo>
                <a:lnTo>
                  <a:pt x="76200" y="38100"/>
                </a:lnTo>
                <a:lnTo>
                  <a:pt x="74589" y="46100"/>
                </a:lnTo>
                <a:lnTo>
                  <a:pt x="3784569" y="46100"/>
                </a:lnTo>
                <a:lnTo>
                  <a:pt x="3782949" y="38100"/>
                </a:lnTo>
                <a:lnTo>
                  <a:pt x="3784543" y="30225"/>
                </a:lnTo>
                <a:close/>
              </a:path>
              <a:path w="3859529" h="76200">
                <a:moveTo>
                  <a:pt x="3857564" y="30225"/>
                </a:moveTo>
                <a:lnTo>
                  <a:pt x="3821049" y="30225"/>
                </a:lnTo>
                <a:lnTo>
                  <a:pt x="3821049" y="46100"/>
                </a:lnTo>
                <a:lnTo>
                  <a:pt x="3857538" y="46100"/>
                </a:lnTo>
                <a:lnTo>
                  <a:pt x="3859149" y="38100"/>
                </a:lnTo>
                <a:lnTo>
                  <a:pt x="3857564" y="3022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927303" y="2631439"/>
            <a:ext cx="89026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Better</a:t>
            </a:r>
            <a:r>
              <a:rPr dirty="0" sz="80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suited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choices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927303" y="2788666"/>
            <a:ext cx="6832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Not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on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discount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927303" y="2943809"/>
            <a:ext cx="74866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800" spc="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to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access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927303" y="3101467"/>
            <a:ext cx="6451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Difficult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to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find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927303" y="3258692"/>
            <a:ext cx="85725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Unaware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27303" y="3416045"/>
            <a:ext cx="96393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Lack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specific</a:t>
            </a:r>
            <a:r>
              <a:rPr dirty="0" sz="800" spc="-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benefit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927303" y="3573017"/>
            <a:ext cx="9296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Tried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927303" y="3730244"/>
            <a:ext cx="8121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800" spc="-4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portion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size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27303" y="3887470"/>
            <a:ext cx="7239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quality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927303" y="4042917"/>
            <a:ext cx="10515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Recommended</a:t>
            </a:r>
            <a:r>
              <a:rPr dirty="0" sz="800" spc="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against</a:t>
            </a:r>
            <a:r>
              <a:rPr dirty="0" sz="800" spc="1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927303" y="4200271"/>
            <a:ext cx="7416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Wrong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packaging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927303" y="4357496"/>
            <a:ext cx="7378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trust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927303" y="4514850"/>
            <a:ext cx="10629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927303" y="4671821"/>
            <a:ext cx="6267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80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unique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27303" y="4829047"/>
            <a:ext cx="10090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come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with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extras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927303" y="4986273"/>
            <a:ext cx="8337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Didn’t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include a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gift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27303" y="5141722"/>
            <a:ext cx="90931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product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reviews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27303" y="5299075"/>
            <a:ext cx="8826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80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customizable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27303" y="5456301"/>
            <a:ext cx="98171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Others</a:t>
            </a:r>
            <a:r>
              <a:rPr dirty="0" sz="800" spc="-3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don’t</a:t>
            </a:r>
            <a:r>
              <a:rPr dirty="0" sz="800" spc="-3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like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brand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927303" y="5613298"/>
            <a:ext cx="1125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Wasn’t</a:t>
            </a:r>
            <a:r>
              <a:rPr dirty="0" sz="80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part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of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combo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B1C1B"/>
                </a:solidFill>
                <a:latin typeface="Calibri"/>
                <a:cs typeface="Calibri"/>
              </a:rPr>
              <a:t>deal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971800" y="2468372"/>
            <a:ext cx="5257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29%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2872739" y="2625344"/>
            <a:ext cx="6248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25%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631948" y="2782570"/>
            <a:ext cx="8655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18%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2631948" y="2937713"/>
            <a:ext cx="86550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514600" y="3095370"/>
            <a:ext cx="9829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417064" y="3252596"/>
            <a:ext cx="10807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417064" y="3409950"/>
            <a:ext cx="10807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10%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2342388" y="3566921"/>
            <a:ext cx="11550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2342388" y="3724147"/>
            <a:ext cx="11550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8%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279713" y="3881373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7%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279713" y="4036821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927303" y="2474468"/>
            <a:ext cx="9175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Poor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value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for</a:t>
            </a:r>
            <a:r>
              <a:rPr dirty="0" sz="800" spc="-15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B1C1B"/>
                </a:solidFill>
                <a:latin typeface="Calibri"/>
                <a:cs typeface="Calibri"/>
              </a:rPr>
              <a:t>money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279713" y="4351401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2279713" y="4508753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279713" y="4665726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2279713" y="4822952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279713" y="4194175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6%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2239264" y="5135626"/>
            <a:ext cx="1258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2239264" y="5292978"/>
            <a:ext cx="1258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2239264" y="5450204"/>
            <a:ext cx="1258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2246502" y="5607202"/>
            <a:ext cx="1504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4%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2279713" y="4980177"/>
            <a:ext cx="1217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5%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3747515" y="2471737"/>
            <a:ext cx="495300" cy="3306445"/>
            <a:chOff x="3747515" y="2471737"/>
            <a:chExt cx="495300" cy="3306445"/>
          </a:xfrm>
        </p:grpSpPr>
        <p:sp>
          <p:nvSpPr>
            <p:cNvPr id="168" name="object 168"/>
            <p:cNvSpPr/>
            <p:nvPr/>
          </p:nvSpPr>
          <p:spPr>
            <a:xfrm>
              <a:off x="4093464" y="2825495"/>
              <a:ext cx="149860" cy="1186180"/>
            </a:xfrm>
            <a:custGeom>
              <a:avLst/>
              <a:gdLst/>
              <a:ahLst/>
              <a:cxnLst/>
              <a:rect l="l" t="t" r="r" b="b"/>
              <a:pathLst>
                <a:path w="149860" h="1186179">
                  <a:moveTo>
                    <a:pt x="10655" y="156984"/>
                  </a:moveTo>
                  <a:lnTo>
                    <a:pt x="0" y="156984"/>
                  </a:lnTo>
                  <a:lnTo>
                    <a:pt x="0" y="243840"/>
                  </a:lnTo>
                  <a:lnTo>
                    <a:pt x="10655" y="243840"/>
                  </a:lnTo>
                  <a:lnTo>
                    <a:pt x="10655" y="156984"/>
                  </a:lnTo>
                  <a:close/>
                </a:path>
                <a:path w="149860" h="1186179">
                  <a:moveTo>
                    <a:pt x="28943" y="470916"/>
                  </a:moveTo>
                  <a:lnTo>
                    <a:pt x="0" y="470916"/>
                  </a:lnTo>
                  <a:lnTo>
                    <a:pt x="0" y="557784"/>
                  </a:lnTo>
                  <a:lnTo>
                    <a:pt x="28943" y="557784"/>
                  </a:lnTo>
                  <a:lnTo>
                    <a:pt x="28943" y="470916"/>
                  </a:lnTo>
                  <a:close/>
                </a:path>
                <a:path w="149860" h="1186179">
                  <a:moveTo>
                    <a:pt x="48755" y="627888"/>
                  </a:moveTo>
                  <a:lnTo>
                    <a:pt x="0" y="627888"/>
                  </a:lnTo>
                  <a:lnTo>
                    <a:pt x="0" y="714756"/>
                  </a:lnTo>
                  <a:lnTo>
                    <a:pt x="48755" y="714756"/>
                  </a:lnTo>
                  <a:lnTo>
                    <a:pt x="48755" y="627888"/>
                  </a:lnTo>
                  <a:close/>
                </a:path>
                <a:path w="149860" h="1186179">
                  <a:moveTo>
                    <a:pt x="100584" y="784860"/>
                  </a:moveTo>
                  <a:lnTo>
                    <a:pt x="0" y="784860"/>
                  </a:lnTo>
                  <a:lnTo>
                    <a:pt x="0" y="871728"/>
                  </a:lnTo>
                  <a:lnTo>
                    <a:pt x="100584" y="871728"/>
                  </a:lnTo>
                  <a:lnTo>
                    <a:pt x="100584" y="784860"/>
                  </a:lnTo>
                  <a:close/>
                </a:path>
                <a:path w="149860" h="1186179">
                  <a:moveTo>
                    <a:pt x="132588" y="1098804"/>
                  </a:moveTo>
                  <a:lnTo>
                    <a:pt x="0" y="1098804"/>
                  </a:lnTo>
                  <a:lnTo>
                    <a:pt x="0" y="1185672"/>
                  </a:lnTo>
                  <a:lnTo>
                    <a:pt x="132588" y="1185672"/>
                  </a:lnTo>
                  <a:lnTo>
                    <a:pt x="132588" y="1098804"/>
                  </a:lnTo>
                  <a:close/>
                </a:path>
                <a:path w="149860" h="1186179">
                  <a:moveTo>
                    <a:pt x="149352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149352" y="86868"/>
                  </a:lnTo>
                  <a:lnTo>
                    <a:pt x="149352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747516" y="2511551"/>
              <a:ext cx="360045" cy="3226435"/>
            </a:xfrm>
            <a:custGeom>
              <a:avLst/>
              <a:gdLst/>
              <a:ahLst/>
              <a:cxnLst/>
              <a:rect l="l" t="t" r="r" b="b"/>
              <a:pathLst>
                <a:path w="360045" h="3226435">
                  <a:moveTo>
                    <a:pt x="345948" y="3137916"/>
                  </a:moveTo>
                  <a:lnTo>
                    <a:pt x="252984" y="3137916"/>
                  </a:lnTo>
                  <a:lnTo>
                    <a:pt x="252984" y="3226308"/>
                  </a:lnTo>
                  <a:lnTo>
                    <a:pt x="345948" y="3226308"/>
                  </a:lnTo>
                  <a:lnTo>
                    <a:pt x="345948" y="3137916"/>
                  </a:lnTo>
                  <a:close/>
                </a:path>
                <a:path w="360045" h="3226435">
                  <a:moveTo>
                    <a:pt x="345948" y="2980944"/>
                  </a:moveTo>
                  <a:lnTo>
                    <a:pt x="242316" y="2980944"/>
                  </a:lnTo>
                  <a:lnTo>
                    <a:pt x="242316" y="3069336"/>
                  </a:lnTo>
                  <a:lnTo>
                    <a:pt x="345948" y="3069336"/>
                  </a:lnTo>
                  <a:lnTo>
                    <a:pt x="345948" y="2980944"/>
                  </a:lnTo>
                  <a:close/>
                </a:path>
                <a:path w="360045" h="3226435">
                  <a:moveTo>
                    <a:pt x="345948" y="2823972"/>
                  </a:moveTo>
                  <a:lnTo>
                    <a:pt x="231648" y="2823972"/>
                  </a:lnTo>
                  <a:lnTo>
                    <a:pt x="231648" y="2912364"/>
                  </a:lnTo>
                  <a:lnTo>
                    <a:pt x="345948" y="2912364"/>
                  </a:lnTo>
                  <a:lnTo>
                    <a:pt x="345948" y="2823972"/>
                  </a:lnTo>
                  <a:close/>
                </a:path>
                <a:path w="360045" h="3226435">
                  <a:moveTo>
                    <a:pt x="345948" y="2667000"/>
                  </a:moveTo>
                  <a:lnTo>
                    <a:pt x="231648" y="2667000"/>
                  </a:lnTo>
                  <a:lnTo>
                    <a:pt x="231648" y="2755392"/>
                  </a:lnTo>
                  <a:lnTo>
                    <a:pt x="345948" y="2755392"/>
                  </a:lnTo>
                  <a:lnTo>
                    <a:pt x="345948" y="2667000"/>
                  </a:lnTo>
                  <a:close/>
                </a:path>
                <a:path w="360045" h="3226435">
                  <a:moveTo>
                    <a:pt x="345948" y="2511552"/>
                  </a:moveTo>
                  <a:lnTo>
                    <a:pt x="220980" y="2511552"/>
                  </a:lnTo>
                  <a:lnTo>
                    <a:pt x="220980" y="2598420"/>
                  </a:lnTo>
                  <a:lnTo>
                    <a:pt x="345948" y="2598420"/>
                  </a:lnTo>
                  <a:lnTo>
                    <a:pt x="345948" y="2511552"/>
                  </a:lnTo>
                  <a:close/>
                </a:path>
                <a:path w="360045" h="3226435">
                  <a:moveTo>
                    <a:pt x="345948" y="2354580"/>
                  </a:moveTo>
                  <a:lnTo>
                    <a:pt x="211836" y="2354580"/>
                  </a:lnTo>
                  <a:lnTo>
                    <a:pt x="211836" y="2441448"/>
                  </a:lnTo>
                  <a:lnTo>
                    <a:pt x="345948" y="2441448"/>
                  </a:lnTo>
                  <a:lnTo>
                    <a:pt x="345948" y="2354580"/>
                  </a:lnTo>
                  <a:close/>
                </a:path>
                <a:path w="360045" h="3226435">
                  <a:moveTo>
                    <a:pt x="345948" y="2040636"/>
                  </a:moveTo>
                  <a:lnTo>
                    <a:pt x="201168" y="2040636"/>
                  </a:lnTo>
                  <a:lnTo>
                    <a:pt x="201168" y="2127504"/>
                  </a:lnTo>
                  <a:lnTo>
                    <a:pt x="345948" y="2127504"/>
                  </a:lnTo>
                  <a:lnTo>
                    <a:pt x="345948" y="2040636"/>
                  </a:lnTo>
                  <a:close/>
                </a:path>
                <a:path w="360045" h="3226435">
                  <a:moveTo>
                    <a:pt x="345948" y="1726692"/>
                  </a:moveTo>
                  <a:lnTo>
                    <a:pt x="201168" y="1726692"/>
                  </a:lnTo>
                  <a:lnTo>
                    <a:pt x="201168" y="1813560"/>
                  </a:lnTo>
                  <a:lnTo>
                    <a:pt x="345948" y="1813560"/>
                  </a:lnTo>
                  <a:lnTo>
                    <a:pt x="345948" y="1726692"/>
                  </a:lnTo>
                  <a:close/>
                </a:path>
                <a:path w="360045" h="3226435">
                  <a:moveTo>
                    <a:pt x="345948" y="1569720"/>
                  </a:moveTo>
                  <a:lnTo>
                    <a:pt x="190500" y="1569720"/>
                  </a:lnTo>
                  <a:lnTo>
                    <a:pt x="190500" y="1656588"/>
                  </a:lnTo>
                  <a:lnTo>
                    <a:pt x="345948" y="1656588"/>
                  </a:lnTo>
                  <a:lnTo>
                    <a:pt x="345948" y="1569720"/>
                  </a:lnTo>
                  <a:close/>
                </a:path>
                <a:path w="360045" h="3226435">
                  <a:moveTo>
                    <a:pt x="345948" y="1255776"/>
                  </a:moveTo>
                  <a:lnTo>
                    <a:pt x="149352" y="1255776"/>
                  </a:lnTo>
                  <a:lnTo>
                    <a:pt x="149352" y="1342644"/>
                  </a:lnTo>
                  <a:lnTo>
                    <a:pt x="345948" y="1342644"/>
                  </a:lnTo>
                  <a:lnTo>
                    <a:pt x="345948" y="1255776"/>
                  </a:lnTo>
                  <a:close/>
                </a:path>
                <a:path w="360045" h="3226435">
                  <a:moveTo>
                    <a:pt x="345948" y="627888"/>
                  </a:moveTo>
                  <a:lnTo>
                    <a:pt x="301752" y="627888"/>
                  </a:lnTo>
                  <a:lnTo>
                    <a:pt x="301752" y="714756"/>
                  </a:lnTo>
                  <a:lnTo>
                    <a:pt x="345948" y="714756"/>
                  </a:lnTo>
                  <a:lnTo>
                    <a:pt x="345948" y="627888"/>
                  </a:lnTo>
                  <a:close/>
                </a:path>
                <a:path w="360045" h="3226435">
                  <a:moveTo>
                    <a:pt x="345948" y="156972"/>
                  </a:moveTo>
                  <a:lnTo>
                    <a:pt x="0" y="156972"/>
                  </a:lnTo>
                  <a:lnTo>
                    <a:pt x="0" y="243840"/>
                  </a:lnTo>
                  <a:lnTo>
                    <a:pt x="345948" y="243840"/>
                  </a:lnTo>
                  <a:lnTo>
                    <a:pt x="345948" y="156972"/>
                  </a:lnTo>
                  <a:close/>
                </a:path>
                <a:path w="360045" h="3226435">
                  <a:moveTo>
                    <a:pt x="345948" y="0"/>
                  </a:moveTo>
                  <a:lnTo>
                    <a:pt x="67056" y="0"/>
                  </a:lnTo>
                  <a:lnTo>
                    <a:pt x="67056" y="86868"/>
                  </a:lnTo>
                  <a:lnTo>
                    <a:pt x="345948" y="86868"/>
                  </a:lnTo>
                  <a:lnTo>
                    <a:pt x="345948" y="0"/>
                  </a:lnTo>
                  <a:close/>
                </a:path>
                <a:path w="360045" h="3226435">
                  <a:moveTo>
                    <a:pt x="350520" y="1883664"/>
                  </a:moveTo>
                  <a:lnTo>
                    <a:pt x="345948" y="1883664"/>
                  </a:lnTo>
                  <a:lnTo>
                    <a:pt x="345948" y="1970532"/>
                  </a:lnTo>
                  <a:lnTo>
                    <a:pt x="350520" y="1970532"/>
                  </a:lnTo>
                  <a:lnTo>
                    <a:pt x="350520" y="1883664"/>
                  </a:lnTo>
                  <a:close/>
                </a:path>
                <a:path w="360045" h="3226435">
                  <a:moveTo>
                    <a:pt x="359664" y="2197608"/>
                  </a:moveTo>
                  <a:lnTo>
                    <a:pt x="345948" y="2197608"/>
                  </a:lnTo>
                  <a:lnTo>
                    <a:pt x="345948" y="2284476"/>
                  </a:lnTo>
                  <a:lnTo>
                    <a:pt x="359664" y="2284476"/>
                  </a:lnTo>
                  <a:lnTo>
                    <a:pt x="359664" y="2197608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4093463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3506914" y="2471420"/>
            <a:ext cx="5822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3506914" y="2628392"/>
            <a:ext cx="5822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4220971" y="2785363"/>
            <a:ext cx="2609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4101179" y="2942336"/>
            <a:ext cx="3810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3506914" y="3099307"/>
            <a:ext cx="5822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6985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4110323" y="3256279"/>
            <a:ext cx="37211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4098226" y="3413251"/>
            <a:ext cx="3841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4220971" y="3570223"/>
            <a:ext cx="2609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506914" y="3727196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4220971" y="3884167"/>
            <a:ext cx="2609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3506914" y="4041140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24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3506914" y="4198111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4098226" y="4355084"/>
            <a:ext cx="3841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3506914" y="4512055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4102703" y="4669027"/>
            <a:ext cx="3797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3506914" y="4826000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2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506914" y="4982971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3506914" y="5139944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3506914" y="5296916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3506914" y="5453888"/>
            <a:ext cx="58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06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3866515" y="5610859"/>
            <a:ext cx="109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4800600" y="2471737"/>
            <a:ext cx="495300" cy="3306445"/>
            <a:chOff x="4800600" y="2471737"/>
            <a:chExt cx="495300" cy="3306445"/>
          </a:xfrm>
        </p:grpSpPr>
        <p:sp>
          <p:nvSpPr>
            <p:cNvPr id="193" name="object 193"/>
            <p:cNvSpPr/>
            <p:nvPr/>
          </p:nvSpPr>
          <p:spPr>
            <a:xfrm>
              <a:off x="4800600" y="2511564"/>
              <a:ext cx="254635" cy="871855"/>
            </a:xfrm>
            <a:custGeom>
              <a:avLst/>
              <a:gdLst/>
              <a:ahLst/>
              <a:cxnLst/>
              <a:rect l="l" t="t" r="r" b="b"/>
              <a:pathLst>
                <a:path w="254635" h="871854">
                  <a:moveTo>
                    <a:pt x="254495" y="784847"/>
                  </a:moveTo>
                  <a:lnTo>
                    <a:pt x="225552" y="784847"/>
                  </a:lnTo>
                  <a:lnTo>
                    <a:pt x="225552" y="871715"/>
                  </a:lnTo>
                  <a:lnTo>
                    <a:pt x="254495" y="871715"/>
                  </a:lnTo>
                  <a:lnTo>
                    <a:pt x="254495" y="784847"/>
                  </a:lnTo>
                  <a:close/>
                </a:path>
                <a:path w="254635" h="871854">
                  <a:moveTo>
                    <a:pt x="254495" y="313931"/>
                  </a:moveTo>
                  <a:lnTo>
                    <a:pt x="242316" y="313931"/>
                  </a:lnTo>
                  <a:lnTo>
                    <a:pt x="242316" y="400799"/>
                  </a:lnTo>
                  <a:lnTo>
                    <a:pt x="254495" y="400799"/>
                  </a:lnTo>
                  <a:lnTo>
                    <a:pt x="254495" y="313931"/>
                  </a:lnTo>
                  <a:close/>
                </a:path>
                <a:path w="254635" h="871854">
                  <a:moveTo>
                    <a:pt x="254508" y="627888"/>
                  </a:moveTo>
                  <a:lnTo>
                    <a:pt x="188976" y="627888"/>
                  </a:lnTo>
                  <a:lnTo>
                    <a:pt x="188976" y="714743"/>
                  </a:lnTo>
                  <a:lnTo>
                    <a:pt x="254508" y="714743"/>
                  </a:lnTo>
                  <a:lnTo>
                    <a:pt x="254508" y="627888"/>
                  </a:lnTo>
                  <a:close/>
                </a:path>
                <a:path w="254635" h="871854">
                  <a:moveTo>
                    <a:pt x="254508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254508" y="86855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050536" y="2668523"/>
              <a:ext cx="245745" cy="3069590"/>
            </a:xfrm>
            <a:custGeom>
              <a:avLst/>
              <a:gdLst/>
              <a:ahLst/>
              <a:cxnLst/>
              <a:rect l="l" t="t" r="r" b="b"/>
              <a:pathLst>
                <a:path w="245745" h="3069590">
                  <a:moveTo>
                    <a:pt x="4572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4572" y="86868"/>
                  </a:lnTo>
                  <a:lnTo>
                    <a:pt x="4572" y="0"/>
                  </a:lnTo>
                  <a:close/>
                </a:path>
                <a:path w="245745" h="3069590">
                  <a:moveTo>
                    <a:pt x="10668" y="941832"/>
                  </a:moveTo>
                  <a:lnTo>
                    <a:pt x="4572" y="941832"/>
                  </a:lnTo>
                  <a:lnTo>
                    <a:pt x="4572" y="1028700"/>
                  </a:lnTo>
                  <a:lnTo>
                    <a:pt x="10668" y="1028700"/>
                  </a:lnTo>
                  <a:lnTo>
                    <a:pt x="10668" y="941832"/>
                  </a:lnTo>
                  <a:close/>
                </a:path>
                <a:path w="245745" h="3069590">
                  <a:moveTo>
                    <a:pt x="32004" y="1412748"/>
                  </a:moveTo>
                  <a:lnTo>
                    <a:pt x="4572" y="1412748"/>
                  </a:lnTo>
                  <a:lnTo>
                    <a:pt x="4572" y="1499616"/>
                  </a:lnTo>
                  <a:lnTo>
                    <a:pt x="32004" y="1499616"/>
                  </a:lnTo>
                  <a:lnTo>
                    <a:pt x="32004" y="1412748"/>
                  </a:lnTo>
                  <a:close/>
                </a:path>
                <a:path w="245745" h="3069590">
                  <a:moveTo>
                    <a:pt x="36576" y="1726692"/>
                  </a:moveTo>
                  <a:lnTo>
                    <a:pt x="4572" y="1726692"/>
                  </a:lnTo>
                  <a:lnTo>
                    <a:pt x="4572" y="1813560"/>
                  </a:lnTo>
                  <a:lnTo>
                    <a:pt x="36576" y="1813560"/>
                  </a:lnTo>
                  <a:lnTo>
                    <a:pt x="36576" y="1726692"/>
                  </a:lnTo>
                  <a:close/>
                </a:path>
                <a:path w="245745" h="3069590">
                  <a:moveTo>
                    <a:pt x="51816" y="2510028"/>
                  </a:moveTo>
                  <a:lnTo>
                    <a:pt x="4572" y="2510028"/>
                  </a:lnTo>
                  <a:lnTo>
                    <a:pt x="4572" y="2598420"/>
                  </a:lnTo>
                  <a:lnTo>
                    <a:pt x="51816" y="2598420"/>
                  </a:lnTo>
                  <a:lnTo>
                    <a:pt x="51816" y="2510028"/>
                  </a:lnTo>
                  <a:close/>
                </a:path>
                <a:path w="245745" h="3069590">
                  <a:moveTo>
                    <a:pt x="57912" y="2823972"/>
                  </a:moveTo>
                  <a:lnTo>
                    <a:pt x="4572" y="2823972"/>
                  </a:lnTo>
                  <a:lnTo>
                    <a:pt x="4572" y="2912364"/>
                  </a:lnTo>
                  <a:lnTo>
                    <a:pt x="57912" y="2912364"/>
                  </a:lnTo>
                  <a:lnTo>
                    <a:pt x="57912" y="2823972"/>
                  </a:lnTo>
                  <a:close/>
                </a:path>
                <a:path w="245745" h="3069590">
                  <a:moveTo>
                    <a:pt x="62484" y="2980944"/>
                  </a:moveTo>
                  <a:lnTo>
                    <a:pt x="4572" y="2980944"/>
                  </a:lnTo>
                  <a:lnTo>
                    <a:pt x="4572" y="3069336"/>
                  </a:lnTo>
                  <a:lnTo>
                    <a:pt x="62484" y="3069336"/>
                  </a:lnTo>
                  <a:lnTo>
                    <a:pt x="62484" y="2980944"/>
                  </a:lnTo>
                  <a:close/>
                </a:path>
                <a:path w="245745" h="3069590">
                  <a:moveTo>
                    <a:pt x="115824" y="1098804"/>
                  </a:moveTo>
                  <a:lnTo>
                    <a:pt x="4572" y="1098804"/>
                  </a:lnTo>
                  <a:lnTo>
                    <a:pt x="4572" y="1185672"/>
                  </a:lnTo>
                  <a:lnTo>
                    <a:pt x="115824" y="1185672"/>
                  </a:lnTo>
                  <a:lnTo>
                    <a:pt x="115824" y="1098804"/>
                  </a:lnTo>
                  <a:close/>
                </a:path>
                <a:path w="245745" h="3069590">
                  <a:moveTo>
                    <a:pt x="141732" y="1569720"/>
                  </a:moveTo>
                  <a:lnTo>
                    <a:pt x="4572" y="1569720"/>
                  </a:lnTo>
                  <a:lnTo>
                    <a:pt x="4572" y="1656588"/>
                  </a:lnTo>
                  <a:lnTo>
                    <a:pt x="141732" y="1656588"/>
                  </a:lnTo>
                  <a:lnTo>
                    <a:pt x="141732" y="1569720"/>
                  </a:lnTo>
                  <a:close/>
                </a:path>
                <a:path w="245745" h="3069590">
                  <a:moveTo>
                    <a:pt x="146304" y="2197608"/>
                  </a:moveTo>
                  <a:lnTo>
                    <a:pt x="4572" y="2197608"/>
                  </a:lnTo>
                  <a:lnTo>
                    <a:pt x="4572" y="2284476"/>
                  </a:lnTo>
                  <a:lnTo>
                    <a:pt x="146304" y="2284476"/>
                  </a:lnTo>
                  <a:lnTo>
                    <a:pt x="146304" y="2197608"/>
                  </a:lnTo>
                  <a:close/>
                </a:path>
                <a:path w="245745" h="3069590">
                  <a:moveTo>
                    <a:pt x="146304" y="2040636"/>
                  </a:moveTo>
                  <a:lnTo>
                    <a:pt x="4572" y="2040636"/>
                  </a:lnTo>
                  <a:lnTo>
                    <a:pt x="4572" y="2127504"/>
                  </a:lnTo>
                  <a:lnTo>
                    <a:pt x="146304" y="2127504"/>
                  </a:lnTo>
                  <a:lnTo>
                    <a:pt x="146304" y="2040636"/>
                  </a:lnTo>
                  <a:close/>
                </a:path>
                <a:path w="245745" h="3069590">
                  <a:moveTo>
                    <a:pt x="150876" y="2354580"/>
                  </a:moveTo>
                  <a:lnTo>
                    <a:pt x="4572" y="2354580"/>
                  </a:lnTo>
                  <a:lnTo>
                    <a:pt x="4572" y="2441448"/>
                  </a:lnTo>
                  <a:lnTo>
                    <a:pt x="150876" y="2441448"/>
                  </a:lnTo>
                  <a:lnTo>
                    <a:pt x="150876" y="2354580"/>
                  </a:lnTo>
                  <a:close/>
                </a:path>
                <a:path w="245745" h="3069590">
                  <a:moveTo>
                    <a:pt x="156972" y="2667000"/>
                  </a:moveTo>
                  <a:lnTo>
                    <a:pt x="4572" y="2667000"/>
                  </a:lnTo>
                  <a:lnTo>
                    <a:pt x="4572" y="2755392"/>
                  </a:lnTo>
                  <a:lnTo>
                    <a:pt x="156972" y="2755392"/>
                  </a:lnTo>
                  <a:lnTo>
                    <a:pt x="156972" y="2667000"/>
                  </a:lnTo>
                  <a:close/>
                </a:path>
                <a:path w="245745" h="3069590">
                  <a:moveTo>
                    <a:pt x="193548" y="784860"/>
                  </a:moveTo>
                  <a:lnTo>
                    <a:pt x="4572" y="784860"/>
                  </a:lnTo>
                  <a:lnTo>
                    <a:pt x="4572" y="871728"/>
                  </a:lnTo>
                  <a:lnTo>
                    <a:pt x="193548" y="871728"/>
                  </a:lnTo>
                  <a:lnTo>
                    <a:pt x="193548" y="784860"/>
                  </a:lnTo>
                  <a:close/>
                </a:path>
                <a:path w="245745" h="3069590">
                  <a:moveTo>
                    <a:pt x="205740" y="313944"/>
                  </a:moveTo>
                  <a:lnTo>
                    <a:pt x="4572" y="313944"/>
                  </a:lnTo>
                  <a:lnTo>
                    <a:pt x="4572" y="400812"/>
                  </a:lnTo>
                  <a:lnTo>
                    <a:pt x="205740" y="400812"/>
                  </a:lnTo>
                  <a:lnTo>
                    <a:pt x="205740" y="313944"/>
                  </a:lnTo>
                  <a:close/>
                </a:path>
                <a:path w="245745" h="3069590">
                  <a:moveTo>
                    <a:pt x="234696" y="1255776"/>
                  </a:moveTo>
                  <a:lnTo>
                    <a:pt x="4572" y="1255776"/>
                  </a:lnTo>
                  <a:lnTo>
                    <a:pt x="4572" y="1342644"/>
                  </a:lnTo>
                  <a:lnTo>
                    <a:pt x="234696" y="1342644"/>
                  </a:lnTo>
                  <a:lnTo>
                    <a:pt x="234696" y="1255776"/>
                  </a:lnTo>
                  <a:close/>
                </a:path>
                <a:path w="245745" h="3069590">
                  <a:moveTo>
                    <a:pt x="245364" y="1883664"/>
                  </a:moveTo>
                  <a:lnTo>
                    <a:pt x="4572" y="1883664"/>
                  </a:lnTo>
                  <a:lnTo>
                    <a:pt x="4572" y="1970532"/>
                  </a:lnTo>
                  <a:lnTo>
                    <a:pt x="245364" y="1970532"/>
                  </a:lnTo>
                  <a:lnTo>
                    <a:pt x="245364" y="1883664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055108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4491418" y="2471420"/>
            <a:ext cx="5594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20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4491418" y="2628392"/>
            <a:ext cx="5594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175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4491418" y="2785363"/>
            <a:ext cx="5556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365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5224271" y="2942336"/>
            <a:ext cx="2425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4491418" y="3099307"/>
            <a:ext cx="5594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9080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4491418" y="3256279"/>
            <a:ext cx="5473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191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5224271" y="3413251"/>
            <a:ext cx="2425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5060537" y="3570223"/>
            <a:ext cx="4064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5193538" y="3727196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5224271" y="3884167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071205" y="4041140"/>
            <a:ext cx="3956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5224271" y="4198111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5073491" y="4355084"/>
            <a:ext cx="3930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5224271" y="4512055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5224271" y="4669027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5224271" y="4826000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5224271" y="4982971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5059870" y="5139944"/>
            <a:ext cx="40703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5224271" y="5296916"/>
            <a:ext cx="242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5059870" y="5453888"/>
            <a:ext cx="40703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5139944" y="5610859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5740908" y="2471737"/>
            <a:ext cx="495300" cy="3306445"/>
            <a:chOff x="5740908" y="2471737"/>
            <a:chExt cx="495300" cy="3306445"/>
          </a:xfrm>
        </p:grpSpPr>
        <p:sp>
          <p:nvSpPr>
            <p:cNvPr id="218" name="object 218"/>
            <p:cNvSpPr/>
            <p:nvPr/>
          </p:nvSpPr>
          <p:spPr>
            <a:xfrm>
              <a:off x="5740908" y="2511564"/>
              <a:ext cx="260985" cy="401320"/>
            </a:xfrm>
            <a:custGeom>
              <a:avLst/>
              <a:gdLst/>
              <a:ahLst/>
              <a:cxnLst/>
              <a:rect l="l" t="t" r="r" b="b"/>
              <a:pathLst>
                <a:path w="260985" h="401319">
                  <a:moveTo>
                    <a:pt x="260604" y="313931"/>
                  </a:moveTo>
                  <a:lnTo>
                    <a:pt x="134112" y="313931"/>
                  </a:lnTo>
                  <a:lnTo>
                    <a:pt x="134112" y="400799"/>
                  </a:lnTo>
                  <a:lnTo>
                    <a:pt x="260604" y="400799"/>
                  </a:lnTo>
                  <a:lnTo>
                    <a:pt x="260604" y="313931"/>
                  </a:lnTo>
                  <a:close/>
                </a:path>
                <a:path w="260985" h="401319">
                  <a:moveTo>
                    <a:pt x="260604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260604" y="86855"/>
                  </a:lnTo>
                  <a:lnTo>
                    <a:pt x="260604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993892" y="2668523"/>
              <a:ext cx="242570" cy="3069590"/>
            </a:xfrm>
            <a:custGeom>
              <a:avLst/>
              <a:gdLst/>
              <a:ahLst/>
              <a:cxnLst/>
              <a:rect l="l" t="t" r="r" b="b"/>
              <a:pathLst>
                <a:path w="242570" h="3069590">
                  <a:moveTo>
                    <a:pt x="7620" y="313944"/>
                  </a:moveTo>
                  <a:lnTo>
                    <a:pt x="0" y="313944"/>
                  </a:lnTo>
                  <a:lnTo>
                    <a:pt x="0" y="400812"/>
                  </a:lnTo>
                  <a:lnTo>
                    <a:pt x="7620" y="400812"/>
                  </a:lnTo>
                  <a:lnTo>
                    <a:pt x="7620" y="313944"/>
                  </a:lnTo>
                  <a:close/>
                </a:path>
                <a:path w="242570" h="3069590">
                  <a:moveTo>
                    <a:pt x="9144" y="0"/>
                  </a:moveTo>
                  <a:lnTo>
                    <a:pt x="7620" y="0"/>
                  </a:lnTo>
                  <a:lnTo>
                    <a:pt x="7620" y="86868"/>
                  </a:lnTo>
                  <a:lnTo>
                    <a:pt x="9144" y="86868"/>
                  </a:lnTo>
                  <a:lnTo>
                    <a:pt x="9144" y="0"/>
                  </a:lnTo>
                  <a:close/>
                </a:path>
                <a:path w="242570" h="3069590">
                  <a:moveTo>
                    <a:pt x="15240" y="1255776"/>
                  </a:moveTo>
                  <a:lnTo>
                    <a:pt x="7620" y="1255776"/>
                  </a:lnTo>
                  <a:lnTo>
                    <a:pt x="7620" y="1342644"/>
                  </a:lnTo>
                  <a:lnTo>
                    <a:pt x="15240" y="1342644"/>
                  </a:lnTo>
                  <a:lnTo>
                    <a:pt x="15240" y="1255776"/>
                  </a:lnTo>
                  <a:close/>
                </a:path>
                <a:path w="242570" h="3069590">
                  <a:moveTo>
                    <a:pt x="71628" y="784860"/>
                  </a:moveTo>
                  <a:lnTo>
                    <a:pt x="7620" y="784860"/>
                  </a:lnTo>
                  <a:lnTo>
                    <a:pt x="7620" y="871728"/>
                  </a:lnTo>
                  <a:lnTo>
                    <a:pt x="71628" y="871728"/>
                  </a:lnTo>
                  <a:lnTo>
                    <a:pt x="71628" y="784860"/>
                  </a:lnTo>
                  <a:close/>
                </a:path>
                <a:path w="242570" h="3069590">
                  <a:moveTo>
                    <a:pt x="82296" y="1098804"/>
                  </a:moveTo>
                  <a:lnTo>
                    <a:pt x="7620" y="1098804"/>
                  </a:lnTo>
                  <a:lnTo>
                    <a:pt x="7620" y="1185672"/>
                  </a:lnTo>
                  <a:lnTo>
                    <a:pt x="82296" y="1185672"/>
                  </a:lnTo>
                  <a:lnTo>
                    <a:pt x="82296" y="1098804"/>
                  </a:lnTo>
                  <a:close/>
                </a:path>
                <a:path w="242570" h="3069590">
                  <a:moveTo>
                    <a:pt x="99060" y="627888"/>
                  </a:moveTo>
                  <a:lnTo>
                    <a:pt x="7620" y="627888"/>
                  </a:lnTo>
                  <a:lnTo>
                    <a:pt x="7620" y="714756"/>
                  </a:lnTo>
                  <a:lnTo>
                    <a:pt x="99060" y="714756"/>
                  </a:lnTo>
                  <a:lnTo>
                    <a:pt x="99060" y="627888"/>
                  </a:lnTo>
                  <a:close/>
                </a:path>
                <a:path w="242570" h="3069590">
                  <a:moveTo>
                    <a:pt x="118872" y="2354580"/>
                  </a:moveTo>
                  <a:lnTo>
                    <a:pt x="7620" y="2354580"/>
                  </a:lnTo>
                  <a:lnTo>
                    <a:pt x="7620" y="2441448"/>
                  </a:lnTo>
                  <a:lnTo>
                    <a:pt x="118872" y="2441448"/>
                  </a:lnTo>
                  <a:lnTo>
                    <a:pt x="118872" y="2354580"/>
                  </a:lnTo>
                  <a:close/>
                </a:path>
                <a:path w="242570" h="3069590">
                  <a:moveTo>
                    <a:pt x="132588" y="2510028"/>
                  </a:moveTo>
                  <a:lnTo>
                    <a:pt x="7620" y="2510028"/>
                  </a:lnTo>
                  <a:lnTo>
                    <a:pt x="7620" y="2598420"/>
                  </a:lnTo>
                  <a:lnTo>
                    <a:pt x="132588" y="2598420"/>
                  </a:lnTo>
                  <a:lnTo>
                    <a:pt x="132588" y="2510028"/>
                  </a:lnTo>
                  <a:close/>
                </a:path>
                <a:path w="242570" h="3069590">
                  <a:moveTo>
                    <a:pt x="144780" y="2823972"/>
                  </a:moveTo>
                  <a:lnTo>
                    <a:pt x="7620" y="2823972"/>
                  </a:lnTo>
                  <a:lnTo>
                    <a:pt x="7620" y="2912364"/>
                  </a:lnTo>
                  <a:lnTo>
                    <a:pt x="144780" y="2912364"/>
                  </a:lnTo>
                  <a:lnTo>
                    <a:pt x="144780" y="2823972"/>
                  </a:lnTo>
                  <a:close/>
                </a:path>
                <a:path w="242570" h="3069590">
                  <a:moveTo>
                    <a:pt x="146304" y="1883664"/>
                  </a:moveTo>
                  <a:lnTo>
                    <a:pt x="7620" y="1883664"/>
                  </a:lnTo>
                  <a:lnTo>
                    <a:pt x="7620" y="1970532"/>
                  </a:lnTo>
                  <a:lnTo>
                    <a:pt x="146304" y="1970532"/>
                  </a:lnTo>
                  <a:lnTo>
                    <a:pt x="146304" y="1883664"/>
                  </a:lnTo>
                  <a:close/>
                </a:path>
                <a:path w="242570" h="3069590">
                  <a:moveTo>
                    <a:pt x="146304" y="1726692"/>
                  </a:moveTo>
                  <a:lnTo>
                    <a:pt x="7620" y="1726692"/>
                  </a:lnTo>
                  <a:lnTo>
                    <a:pt x="7620" y="1813560"/>
                  </a:lnTo>
                  <a:lnTo>
                    <a:pt x="146304" y="1813560"/>
                  </a:lnTo>
                  <a:lnTo>
                    <a:pt x="146304" y="1726692"/>
                  </a:lnTo>
                  <a:close/>
                </a:path>
                <a:path w="242570" h="3069590">
                  <a:moveTo>
                    <a:pt x="146304" y="1569720"/>
                  </a:moveTo>
                  <a:lnTo>
                    <a:pt x="7620" y="1569720"/>
                  </a:lnTo>
                  <a:lnTo>
                    <a:pt x="7620" y="1656588"/>
                  </a:lnTo>
                  <a:lnTo>
                    <a:pt x="146304" y="1656588"/>
                  </a:lnTo>
                  <a:lnTo>
                    <a:pt x="146304" y="1569720"/>
                  </a:lnTo>
                  <a:close/>
                </a:path>
                <a:path w="242570" h="3069590">
                  <a:moveTo>
                    <a:pt x="158496" y="2980944"/>
                  </a:moveTo>
                  <a:lnTo>
                    <a:pt x="7620" y="2980944"/>
                  </a:lnTo>
                  <a:lnTo>
                    <a:pt x="7620" y="3069336"/>
                  </a:lnTo>
                  <a:lnTo>
                    <a:pt x="158496" y="3069336"/>
                  </a:lnTo>
                  <a:lnTo>
                    <a:pt x="158496" y="2980944"/>
                  </a:lnTo>
                  <a:close/>
                </a:path>
                <a:path w="242570" h="3069590">
                  <a:moveTo>
                    <a:pt x="160020" y="2197608"/>
                  </a:moveTo>
                  <a:lnTo>
                    <a:pt x="7620" y="2197608"/>
                  </a:lnTo>
                  <a:lnTo>
                    <a:pt x="7620" y="2284476"/>
                  </a:lnTo>
                  <a:lnTo>
                    <a:pt x="160020" y="2284476"/>
                  </a:lnTo>
                  <a:lnTo>
                    <a:pt x="160020" y="2197608"/>
                  </a:lnTo>
                  <a:close/>
                </a:path>
                <a:path w="242570" h="3069590">
                  <a:moveTo>
                    <a:pt x="160020" y="2040636"/>
                  </a:moveTo>
                  <a:lnTo>
                    <a:pt x="7620" y="2040636"/>
                  </a:lnTo>
                  <a:lnTo>
                    <a:pt x="7620" y="2127504"/>
                  </a:lnTo>
                  <a:lnTo>
                    <a:pt x="160020" y="2127504"/>
                  </a:lnTo>
                  <a:lnTo>
                    <a:pt x="160020" y="2040636"/>
                  </a:lnTo>
                  <a:close/>
                </a:path>
                <a:path w="242570" h="3069590">
                  <a:moveTo>
                    <a:pt x="167640" y="470916"/>
                  </a:moveTo>
                  <a:lnTo>
                    <a:pt x="7620" y="470916"/>
                  </a:lnTo>
                  <a:lnTo>
                    <a:pt x="7620" y="557784"/>
                  </a:lnTo>
                  <a:lnTo>
                    <a:pt x="167640" y="557784"/>
                  </a:lnTo>
                  <a:lnTo>
                    <a:pt x="167640" y="470916"/>
                  </a:lnTo>
                  <a:close/>
                </a:path>
                <a:path w="242570" h="3069590">
                  <a:moveTo>
                    <a:pt x="185928" y="2667000"/>
                  </a:moveTo>
                  <a:lnTo>
                    <a:pt x="7620" y="2667000"/>
                  </a:lnTo>
                  <a:lnTo>
                    <a:pt x="7620" y="2755392"/>
                  </a:lnTo>
                  <a:lnTo>
                    <a:pt x="185928" y="2755392"/>
                  </a:lnTo>
                  <a:lnTo>
                    <a:pt x="185928" y="2667000"/>
                  </a:lnTo>
                  <a:close/>
                </a:path>
                <a:path w="242570" h="3069590">
                  <a:moveTo>
                    <a:pt x="187452" y="1412748"/>
                  </a:moveTo>
                  <a:lnTo>
                    <a:pt x="7620" y="1412748"/>
                  </a:lnTo>
                  <a:lnTo>
                    <a:pt x="7620" y="1499616"/>
                  </a:lnTo>
                  <a:lnTo>
                    <a:pt x="187452" y="1499616"/>
                  </a:lnTo>
                  <a:lnTo>
                    <a:pt x="187452" y="1412748"/>
                  </a:lnTo>
                  <a:close/>
                </a:path>
                <a:path w="242570" h="3069590">
                  <a:moveTo>
                    <a:pt x="242316" y="941832"/>
                  </a:moveTo>
                  <a:lnTo>
                    <a:pt x="7620" y="941832"/>
                  </a:lnTo>
                  <a:lnTo>
                    <a:pt x="7620" y="1028700"/>
                  </a:lnTo>
                  <a:lnTo>
                    <a:pt x="242316" y="1028700"/>
                  </a:lnTo>
                  <a:lnTo>
                    <a:pt x="242316" y="941832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6001512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475922" y="2471420"/>
            <a:ext cx="52133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5475922" y="2785363"/>
            <a:ext cx="52133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5475922" y="2942336"/>
            <a:ext cx="51943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302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6143497" y="3099307"/>
            <a:ext cx="3092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6133465" y="3256279"/>
            <a:ext cx="3194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6006274" y="3413251"/>
            <a:ext cx="4464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6236208" y="3575494"/>
            <a:ext cx="216535" cy="147955"/>
          </a:xfrm>
          <a:prstGeom prst="rect">
            <a:avLst/>
          </a:prstGeom>
          <a:solidFill>
            <a:srgbClr val="FFF5CC"/>
          </a:solidFill>
        </p:spPr>
        <p:txBody>
          <a:bodyPr wrap="square" lIns="0" tIns="762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6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6006274" y="3727196"/>
            <a:ext cx="4464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6007703" y="3884167"/>
            <a:ext cx="44513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6143497" y="4041140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6143497" y="4198111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6143497" y="4355084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6143497" y="4512055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6143497" y="4669027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6143497" y="4826000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6" name="object 236"/>
          <p:cNvSpPr txBox="1"/>
          <p:nvPr/>
        </p:nvSpPr>
        <p:spPr>
          <a:xfrm>
            <a:off x="6143497" y="4982971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6143497" y="5139944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6143497" y="5296916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6143497" y="5453888"/>
            <a:ext cx="309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6179058" y="5610859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6006274" y="2625344"/>
            <a:ext cx="4464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42" name="object 242"/>
          <p:cNvGrpSpPr/>
          <p:nvPr/>
        </p:nvGrpSpPr>
        <p:grpSpPr>
          <a:xfrm>
            <a:off x="7778495" y="2471737"/>
            <a:ext cx="495300" cy="3306445"/>
            <a:chOff x="7778495" y="2471737"/>
            <a:chExt cx="495300" cy="3306445"/>
          </a:xfrm>
        </p:grpSpPr>
        <p:sp>
          <p:nvSpPr>
            <p:cNvPr id="243" name="object 243"/>
            <p:cNvSpPr/>
            <p:nvPr/>
          </p:nvSpPr>
          <p:spPr>
            <a:xfrm>
              <a:off x="8072628" y="2511564"/>
              <a:ext cx="201295" cy="2755900"/>
            </a:xfrm>
            <a:custGeom>
              <a:avLst/>
              <a:gdLst/>
              <a:ahLst/>
              <a:cxnLst/>
              <a:rect l="l" t="t" r="r" b="b"/>
              <a:pathLst>
                <a:path w="201295" h="2755900">
                  <a:moveTo>
                    <a:pt x="30480" y="784847"/>
                  </a:moveTo>
                  <a:lnTo>
                    <a:pt x="0" y="784847"/>
                  </a:lnTo>
                  <a:lnTo>
                    <a:pt x="0" y="871715"/>
                  </a:lnTo>
                  <a:lnTo>
                    <a:pt x="30480" y="871715"/>
                  </a:lnTo>
                  <a:lnTo>
                    <a:pt x="30480" y="784847"/>
                  </a:lnTo>
                  <a:close/>
                </a:path>
                <a:path w="201295" h="2755900">
                  <a:moveTo>
                    <a:pt x="99047" y="1412735"/>
                  </a:moveTo>
                  <a:lnTo>
                    <a:pt x="0" y="1412735"/>
                  </a:lnTo>
                  <a:lnTo>
                    <a:pt x="0" y="1499603"/>
                  </a:lnTo>
                  <a:lnTo>
                    <a:pt x="99047" y="1499603"/>
                  </a:lnTo>
                  <a:lnTo>
                    <a:pt x="99047" y="1412735"/>
                  </a:lnTo>
                  <a:close/>
                </a:path>
                <a:path w="201295" h="2755900">
                  <a:moveTo>
                    <a:pt x="105156" y="1569707"/>
                  </a:moveTo>
                  <a:lnTo>
                    <a:pt x="0" y="1569707"/>
                  </a:lnTo>
                  <a:lnTo>
                    <a:pt x="0" y="1656575"/>
                  </a:lnTo>
                  <a:lnTo>
                    <a:pt x="105156" y="1656575"/>
                  </a:lnTo>
                  <a:lnTo>
                    <a:pt x="105156" y="1569707"/>
                  </a:lnTo>
                  <a:close/>
                </a:path>
                <a:path w="201295" h="2755900">
                  <a:moveTo>
                    <a:pt x="118872" y="2197595"/>
                  </a:moveTo>
                  <a:lnTo>
                    <a:pt x="0" y="2197595"/>
                  </a:lnTo>
                  <a:lnTo>
                    <a:pt x="0" y="2284463"/>
                  </a:lnTo>
                  <a:lnTo>
                    <a:pt x="118872" y="2284463"/>
                  </a:lnTo>
                  <a:lnTo>
                    <a:pt x="118872" y="2197595"/>
                  </a:lnTo>
                  <a:close/>
                </a:path>
                <a:path w="201295" h="2755900">
                  <a:moveTo>
                    <a:pt x="129540" y="470916"/>
                  </a:moveTo>
                  <a:lnTo>
                    <a:pt x="0" y="470916"/>
                  </a:lnTo>
                  <a:lnTo>
                    <a:pt x="0" y="557771"/>
                  </a:lnTo>
                  <a:lnTo>
                    <a:pt x="129540" y="557771"/>
                  </a:lnTo>
                  <a:lnTo>
                    <a:pt x="129540" y="470916"/>
                  </a:lnTo>
                  <a:close/>
                </a:path>
                <a:path w="201295" h="2755900">
                  <a:moveTo>
                    <a:pt x="132588" y="2666987"/>
                  </a:moveTo>
                  <a:lnTo>
                    <a:pt x="0" y="2666987"/>
                  </a:lnTo>
                  <a:lnTo>
                    <a:pt x="0" y="2755379"/>
                  </a:lnTo>
                  <a:lnTo>
                    <a:pt x="132588" y="2755379"/>
                  </a:lnTo>
                  <a:lnTo>
                    <a:pt x="132588" y="2666987"/>
                  </a:lnTo>
                  <a:close/>
                </a:path>
                <a:path w="201295" h="2755900">
                  <a:moveTo>
                    <a:pt x="146304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146304" y="86855"/>
                  </a:lnTo>
                  <a:lnTo>
                    <a:pt x="146304" y="0"/>
                  </a:lnTo>
                  <a:close/>
                </a:path>
                <a:path w="201295" h="2755900">
                  <a:moveTo>
                    <a:pt x="201168" y="156959"/>
                  </a:moveTo>
                  <a:lnTo>
                    <a:pt x="0" y="156959"/>
                  </a:lnTo>
                  <a:lnTo>
                    <a:pt x="0" y="243827"/>
                  </a:lnTo>
                  <a:lnTo>
                    <a:pt x="201168" y="243827"/>
                  </a:lnTo>
                  <a:lnTo>
                    <a:pt x="201168" y="156959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7778496" y="2825495"/>
              <a:ext cx="294640" cy="2912745"/>
            </a:xfrm>
            <a:custGeom>
              <a:avLst/>
              <a:gdLst/>
              <a:ahLst/>
              <a:cxnLst/>
              <a:rect l="l" t="t" r="r" b="b"/>
              <a:pathLst>
                <a:path w="294640" h="2912745">
                  <a:moveTo>
                    <a:pt x="294132" y="2823972"/>
                  </a:moveTo>
                  <a:lnTo>
                    <a:pt x="233172" y="2823972"/>
                  </a:lnTo>
                  <a:lnTo>
                    <a:pt x="233172" y="2912364"/>
                  </a:lnTo>
                  <a:lnTo>
                    <a:pt x="294132" y="2912364"/>
                  </a:lnTo>
                  <a:lnTo>
                    <a:pt x="294132" y="2823972"/>
                  </a:lnTo>
                  <a:close/>
                </a:path>
                <a:path w="294640" h="2912745">
                  <a:moveTo>
                    <a:pt x="294132" y="2667000"/>
                  </a:moveTo>
                  <a:lnTo>
                    <a:pt x="225552" y="2667000"/>
                  </a:lnTo>
                  <a:lnTo>
                    <a:pt x="225552" y="2755392"/>
                  </a:lnTo>
                  <a:lnTo>
                    <a:pt x="294132" y="2755392"/>
                  </a:lnTo>
                  <a:lnTo>
                    <a:pt x="294132" y="2667000"/>
                  </a:lnTo>
                  <a:close/>
                </a:path>
                <a:path w="294640" h="2912745">
                  <a:moveTo>
                    <a:pt x="294132" y="2510028"/>
                  </a:moveTo>
                  <a:lnTo>
                    <a:pt x="219456" y="2510028"/>
                  </a:lnTo>
                  <a:lnTo>
                    <a:pt x="219456" y="2598420"/>
                  </a:lnTo>
                  <a:lnTo>
                    <a:pt x="294132" y="2598420"/>
                  </a:lnTo>
                  <a:lnTo>
                    <a:pt x="294132" y="2510028"/>
                  </a:lnTo>
                  <a:close/>
                </a:path>
                <a:path w="294640" h="2912745">
                  <a:moveTo>
                    <a:pt x="294132" y="2197608"/>
                  </a:moveTo>
                  <a:lnTo>
                    <a:pt x="211836" y="2197608"/>
                  </a:lnTo>
                  <a:lnTo>
                    <a:pt x="211836" y="2284476"/>
                  </a:lnTo>
                  <a:lnTo>
                    <a:pt x="294132" y="2284476"/>
                  </a:lnTo>
                  <a:lnTo>
                    <a:pt x="294132" y="2197608"/>
                  </a:lnTo>
                  <a:close/>
                </a:path>
                <a:path w="294640" h="2912745">
                  <a:moveTo>
                    <a:pt x="294132" y="2040636"/>
                  </a:moveTo>
                  <a:lnTo>
                    <a:pt x="205740" y="2040636"/>
                  </a:lnTo>
                  <a:lnTo>
                    <a:pt x="205740" y="2127504"/>
                  </a:lnTo>
                  <a:lnTo>
                    <a:pt x="294132" y="2127504"/>
                  </a:lnTo>
                  <a:lnTo>
                    <a:pt x="294132" y="2040636"/>
                  </a:lnTo>
                  <a:close/>
                </a:path>
                <a:path w="294640" h="2912745">
                  <a:moveTo>
                    <a:pt x="294132" y="1726692"/>
                  </a:moveTo>
                  <a:lnTo>
                    <a:pt x="198120" y="1726692"/>
                  </a:lnTo>
                  <a:lnTo>
                    <a:pt x="198120" y="1813560"/>
                  </a:lnTo>
                  <a:lnTo>
                    <a:pt x="294132" y="1813560"/>
                  </a:lnTo>
                  <a:lnTo>
                    <a:pt x="294132" y="1726692"/>
                  </a:lnTo>
                  <a:close/>
                </a:path>
                <a:path w="294640" h="2912745">
                  <a:moveTo>
                    <a:pt x="294132" y="1569720"/>
                  </a:moveTo>
                  <a:lnTo>
                    <a:pt x="198120" y="1569720"/>
                  </a:lnTo>
                  <a:lnTo>
                    <a:pt x="198120" y="1656588"/>
                  </a:lnTo>
                  <a:lnTo>
                    <a:pt x="294132" y="1656588"/>
                  </a:lnTo>
                  <a:lnTo>
                    <a:pt x="294132" y="1569720"/>
                  </a:lnTo>
                  <a:close/>
                </a:path>
                <a:path w="294640" h="2912745">
                  <a:moveTo>
                    <a:pt x="294132" y="1412748"/>
                  </a:moveTo>
                  <a:lnTo>
                    <a:pt x="198120" y="1412748"/>
                  </a:lnTo>
                  <a:lnTo>
                    <a:pt x="198120" y="1499616"/>
                  </a:lnTo>
                  <a:lnTo>
                    <a:pt x="294132" y="1499616"/>
                  </a:lnTo>
                  <a:lnTo>
                    <a:pt x="294132" y="1412748"/>
                  </a:lnTo>
                  <a:close/>
                </a:path>
                <a:path w="294640" h="2912745">
                  <a:moveTo>
                    <a:pt x="294132" y="941832"/>
                  </a:moveTo>
                  <a:lnTo>
                    <a:pt x="164592" y="941832"/>
                  </a:lnTo>
                  <a:lnTo>
                    <a:pt x="164592" y="1028700"/>
                  </a:lnTo>
                  <a:lnTo>
                    <a:pt x="294132" y="1028700"/>
                  </a:lnTo>
                  <a:lnTo>
                    <a:pt x="294132" y="941832"/>
                  </a:lnTo>
                  <a:close/>
                </a:path>
                <a:path w="294640" h="2912745">
                  <a:moveTo>
                    <a:pt x="294132" y="784860"/>
                  </a:moveTo>
                  <a:lnTo>
                    <a:pt x="164592" y="784860"/>
                  </a:lnTo>
                  <a:lnTo>
                    <a:pt x="164592" y="871728"/>
                  </a:lnTo>
                  <a:lnTo>
                    <a:pt x="294132" y="871728"/>
                  </a:lnTo>
                  <a:lnTo>
                    <a:pt x="294132" y="784860"/>
                  </a:lnTo>
                  <a:close/>
                </a:path>
                <a:path w="294640" h="2912745">
                  <a:moveTo>
                    <a:pt x="294132" y="627888"/>
                  </a:moveTo>
                  <a:lnTo>
                    <a:pt x="129540" y="627888"/>
                  </a:lnTo>
                  <a:lnTo>
                    <a:pt x="129540" y="714756"/>
                  </a:lnTo>
                  <a:lnTo>
                    <a:pt x="294132" y="714756"/>
                  </a:lnTo>
                  <a:lnTo>
                    <a:pt x="294132" y="627888"/>
                  </a:lnTo>
                  <a:close/>
                </a:path>
                <a:path w="294640" h="2912745">
                  <a:moveTo>
                    <a:pt x="294132" y="313944"/>
                  </a:moveTo>
                  <a:lnTo>
                    <a:pt x="277368" y="313944"/>
                  </a:lnTo>
                  <a:lnTo>
                    <a:pt x="277368" y="400812"/>
                  </a:lnTo>
                  <a:lnTo>
                    <a:pt x="294132" y="400812"/>
                  </a:lnTo>
                  <a:lnTo>
                    <a:pt x="294132" y="313944"/>
                  </a:lnTo>
                  <a:close/>
                </a:path>
                <a:path w="294640" h="2912745">
                  <a:moveTo>
                    <a:pt x="294132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294132" y="86868"/>
                  </a:lnTo>
                  <a:lnTo>
                    <a:pt x="294132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8072627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6" name="object 246"/>
          <p:cNvSpPr txBox="1"/>
          <p:nvPr/>
        </p:nvSpPr>
        <p:spPr>
          <a:xfrm>
            <a:off x="8194547" y="2477642"/>
            <a:ext cx="227329" cy="148590"/>
          </a:xfrm>
          <a:prstGeom prst="rect">
            <a:avLst/>
          </a:prstGeom>
          <a:solidFill>
            <a:srgbClr val="FFF5CC"/>
          </a:solidFill>
        </p:spPr>
        <p:txBody>
          <a:bodyPr wrap="square" lIns="0" tIns="6985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5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7" name="object 247"/>
          <p:cNvSpPr txBox="1"/>
          <p:nvPr/>
        </p:nvSpPr>
        <p:spPr>
          <a:xfrm>
            <a:off x="7446454" y="2785363"/>
            <a:ext cx="6216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8" name="object 248"/>
          <p:cNvSpPr txBox="1"/>
          <p:nvPr/>
        </p:nvSpPr>
        <p:spPr>
          <a:xfrm>
            <a:off x="8194547" y="2942336"/>
            <a:ext cx="22732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9" name="object 249"/>
          <p:cNvSpPr txBox="1"/>
          <p:nvPr/>
        </p:nvSpPr>
        <p:spPr>
          <a:xfrm>
            <a:off x="7446454" y="3099307"/>
            <a:ext cx="61595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683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0" name="object 250"/>
          <p:cNvSpPr txBox="1"/>
          <p:nvPr/>
        </p:nvSpPr>
        <p:spPr>
          <a:xfrm>
            <a:off x="8090249" y="3256279"/>
            <a:ext cx="3314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7446454" y="3413251"/>
            <a:ext cx="6216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019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7446454" y="3570223"/>
            <a:ext cx="62166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7446454" y="3727196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8194547" y="3884167"/>
            <a:ext cx="22732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8194547" y="4041140"/>
            <a:ext cx="22732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7446454" y="4198111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7446454" y="4355084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8" name="object 258"/>
          <p:cNvSpPr txBox="1"/>
          <p:nvPr/>
        </p:nvSpPr>
        <p:spPr>
          <a:xfrm>
            <a:off x="7446454" y="4512055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9" name="object 259"/>
          <p:cNvSpPr txBox="1"/>
          <p:nvPr/>
        </p:nvSpPr>
        <p:spPr>
          <a:xfrm>
            <a:off x="8194547" y="4669027"/>
            <a:ext cx="22732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7446454" y="4826000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13664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7446454" y="4982971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07314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8194547" y="5139944"/>
            <a:ext cx="22732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7446454" y="5296916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9906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7446454" y="5453888"/>
            <a:ext cx="621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939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876158" y="5610859"/>
            <a:ext cx="109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6" name="object 266"/>
          <p:cNvGrpSpPr/>
          <p:nvPr/>
        </p:nvGrpSpPr>
        <p:grpSpPr>
          <a:xfrm>
            <a:off x="8769095" y="2471737"/>
            <a:ext cx="495300" cy="3306445"/>
            <a:chOff x="8769095" y="2471737"/>
            <a:chExt cx="495300" cy="3306445"/>
          </a:xfrm>
        </p:grpSpPr>
        <p:sp>
          <p:nvSpPr>
            <p:cNvPr id="267" name="object 267"/>
            <p:cNvSpPr/>
            <p:nvPr/>
          </p:nvSpPr>
          <p:spPr>
            <a:xfrm>
              <a:off x="9015984" y="2511564"/>
              <a:ext cx="248920" cy="3069590"/>
            </a:xfrm>
            <a:custGeom>
              <a:avLst/>
              <a:gdLst/>
              <a:ahLst/>
              <a:cxnLst/>
              <a:rect l="l" t="t" r="r" b="b"/>
              <a:pathLst>
                <a:path w="248920" h="3069590">
                  <a:moveTo>
                    <a:pt x="13716" y="2980931"/>
                  </a:moveTo>
                  <a:lnTo>
                    <a:pt x="0" y="2980931"/>
                  </a:lnTo>
                  <a:lnTo>
                    <a:pt x="0" y="3069323"/>
                  </a:lnTo>
                  <a:lnTo>
                    <a:pt x="13716" y="3069323"/>
                  </a:lnTo>
                  <a:lnTo>
                    <a:pt x="13716" y="2980931"/>
                  </a:lnTo>
                  <a:close/>
                </a:path>
                <a:path w="248920" h="3069590">
                  <a:moveTo>
                    <a:pt x="16764" y="627888"/>
                  </a:moveTo>
                  <a:lnTo>
                    <a:pt x="0" y="627888"/>
                  </a:lnTo>
                  <a:lnTo>
                    <a:pt x="0" y="714743"/>
                  </a:lnTo>
                  <a:lnTo>
                    <a:pt x="16764" y="714743"/>
                  </a:lnTo>
                  <a:lnTo>
                    <a:pt x="16764" y="627888"/>
                  </a:lnTo>
                  <a:close/>
                </a:path>
                <a:path w="248920" h="3069590">
                  <a:moveTo>
                    <a:pt x="79248" y="784847"/>
                  </a:moveTo>
                  <a:lnTo>
                    <a:pt x="0" y="784847"/>
                  </a:lnTo>
                  <a:lnTo>
                    <a:pt x="0" y="871715"/>
                  </a:lnTo>
                  <a:lnTo>
                    <a:pt x="79248" y="871715"/>
                  </a:lnTo>
                  <a:lnTo>
                    <a:pt x="79248" y="784847"/>
                  </a:lnTo>
                  <a:close/>
                </a:path>
                <a:path w="248920" h="3069590">
                  <a:moveTo>
                    <a:pt x="102095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102095" y="86855"/>
                  </a:lnTo>
                  <a:lnTo>
                    <a:pt x="102095" y="0"/>
                  </a:lnTo>
                  <a:close/>
                </a:path>
                <a:path w="248920" h="3069590">
                  <a:moveTo>
                    <a:pt x="135623" y="313931"/>
                  </a:moveTo>
                  <a:lnTo>
                    <a:pt x="0" y="313931"/>
                  </a:lnTo>
                  <a:lnTo>
                    <a:pt x="0" y="400799"/>
                  </a:lnTo>
                  <a:lnTo>
                    <a:pt x="135623" y="400799"/>
                  </a:lnTo>
                  <a:lnTo>
                    <a:pt x="135623" y="313931"/>
                  </a:lnTo>
                  <a:close/>
                </a:path>
                <a:path w="248920" h="3069590">
                  <a:moveTo>
                    <a:pt x="248399" y="1255763"/>
                  </a:moveTo>
                  <a:lnTo>
                    <a:pt x="0" y="1255763"/>
                  </a:lnTo>
                  <a:lnTo>
                    <a:pt x="0" y="1342631"/>
                  </a:lnTo>
                  <a:lnTo>
                    <a:pt x="248399" y="1342631"/>
                  </a:lnTo>
                  <a:lnTo>
                    <a:pt x="248399" y="1255763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8769096" y="2668523"/>
              <a:ext cx="247015" cy="3069590"/>
            </a:xfrm>
            <a:custGeom>
              <a:avLst/>
              <a:gdLst/>
              <a:ahLst/>
              <a:cxnLst/>
              <a:rect l="l" t="t" r="r" b="b"/>
              <a:pathLst>
                <a:path w="247015" h="3069590">
                  <a:moveTo>
                    <a:pt x="246888" y="2980944"/>
                  </a:moveTo>
                  <a:lnTo>
                    <a:pt x="164592" y="2980944"/>
                  </a:lnTo>
                  <a:lnTo>
                    <a:pt x="164592" y="3069336"/>
                  </a:lnTo>
                  <a:lnTo>
                    <a:pt x="246888" y="3069336"/>
                  </a:lnTo>
                  <a:lnTo>
                    <a:pt x="246888" y="2980944"/>
                  </a:lnTo>
                  <a:close/>
                </a:path>
                <a:path w="247015" h="3069590">
                  <a:moveTo>
                    <a:pt x="246888" y="2667000"/>
                  </a:moveTo>
                  <a:lnTo>
                    <a:pt x="146304" y="2667000"/>
                  </a:lnTo>
                  <a:lnTo>
                    <a:pt x="146304" y="2755392"/>
                  </a:lnTo>
                  <a:lnTo>
                    <a:pt x="246888" y="2755392"/>
                  </a:lnTo>
                  <a:lnTo>
                    <a:pt x="246888" y="2667000"/>
                  </a:lnTo>
                  <a:close/>
                </a:path>
                <a:path w="247015" h="3069590">
                  <a:moveTo>
                    <a:pt x="246888" y="2510028"/>
                  </a:moveTo>
                  <a:lnTo>
                    <a:pt x="146304" y="2510028"/>
                  </a:lnTo>
                  <a:lnTo>
                    <a:pt x="146304" y="2598420"/>
                  </a:lnTo>
                  <a:lnTo>
                    <a:pt x="246888" y="2598420"/>
                  </a:lnTo>
                  <a:lnTo>
                    <a:pt x="246888" y="2510028"/>
                  </a:lnTo>
                  <a:close/>
                </a:path>
                <a:path w="247015" h="3069590">
                  <a:moveTo>
                    <a:pt x="246888" y="2354580"/>
                  </a:moveTo>
                  <a:lnTo>
                    <a:pt x="137160" y="2354580"/>
                  </a:lnTo>
                  <a:lnTo>
                    <a:pt x="137160" y="2441448"/>
                  </a:lnTo>
                  <a:lnTo>
                    <a:pt x="246888" y="2441448"/>
                  </a:lnTo>
                  <a:lnTo>
                    <a:pt x="246888" y="2354580"/>
                  </a:lnTo>
                  <a:close/>
                </a:path>
                <a:path w="247015" h="3069590">
                  <a:moveTo>
                    <a:pt x="246888" y="2197608"/>
                  </a:moveTo>
                  <a:lnTo>
                    <a:pt x="128016" y="2197608"/>
                  </a:lnTo>
                  <a:lnTo>
                    <a:pt x="128016" y="2284476"/>
                  </a:lnTo>
                  <a:lnTo>
                    <a:pt x="246888" y="2284476"/>
                  </a:lnTo>
                  <a:lnTo>
                    <a:pt x="246888" y="2197608"/>
                  </a:lnTo>
                  <a:close/>
                </a:path>
                <a:path w="247015" h="3069590">
                  <a:moveTo>
                    <a:pt x="246888" y="2040636"/>
                  </a:moveTo>
                  <a:lnTo>
                    <a:pt x="128016" y="2040636"/>
                  </a:lnTo>
                  <a:lnTo>
                    <a:pt x="128016" y="2127504"/>
                  </a:lnTo>
                  <a:lnTo>
                    <a:pt x="246888" y="2127504"/>
                  </a:lnTo>
                  <a:lnTo>
                    <a:pt x="246888" y="2040636"/>
                  </a:lnTo>
                  <a:close/>
                </a:path>
                <a:path w="247015" h="3069590">
                  <a:moveTo>
                    <a:pt x="246888" y="1883664"/>
                  </a:moveTo>
                  <a:lnTo>
                    <a:pt x="118872" y="1883664"/>
                  </a:lnTo>
                  <a:lnTo>
                    <a:pt x="118872" y="1970532"/>
                  </a:lnTo>
                  <a:lnTo>
                    <a:pt x="246888" y="1970532"/>
                  </a:lnTo>
                  <a:lnTo>
                    <a:pt x="246888" y="1883664"/>
                  </a:lnTo>
                  <a:close/>
                </a:path>
                <a:path w="247015" h="3069590">
                  <a:moveTo>
                    <a:pt x="246888" y="1726692"/>
                  </a:moveTo>
                  <a:lnTo>
                    <a:pt x="118872" y="1726692"/>
                  </a:lnTo>
                  <a:lnTo>
                    <a:pt x="118872" y="1813560"/>
                  </a:lnTo>
                  <a:lnTo>
                    <a:pt x="246888" y="1813560"/>
                  </a:lnTo>
                  <a:lnTo>
                    <a:pt x="246888" y="1726692"/>
                  </a:lnTo>
                  <a:close/>
                </a:path>
                <a:path w="247015" h="3069590">
                  <a:moveTo>
                    <a:pt x="246888" y="1569720"/>
                  </a:moveTo>
                  <a:lnTo>
                    <a:pt x="118872" y="1569720"/>
                  </a:lnTo>
                  <a:lnTo>
                    <a:pt x="118872" y="1656588"/>
                  </a:lnTo>
                  <a:lnTo>
                    <a:pt x="246888" y="1656588"/>
                  </a:lnTo>
                  <a:lnTo>
                    <a:pt x="246888" y="1569720"/>
                  </a:lnTo>
                  <a:close/>
                </a:path>
                <a:path w="247015" h="3069590">
                  <a:moveTo>
                    <a:pt x="246888" y="1412748"/>
                  </a:moveTo>
                  <a:lnTo>
                    <a:pt x="109728" y="1412748"/>
                  </a:lnTo>
                  <a:lnTo>
                    <a:pt x="109728" y="1499616"/>
                  </a:lnTo>
                  <a:lnTo>
                    <a:pt x="246888" y="1499616"/>
                  </a:lnTo>
                  <a:lnTo>
                    <a:pt x="246888" y="1412748"/>
                  </a:lnTo>
                  <a:close/>
                </a:path>
                <a:path w="247015" h="3069590">
                  <a:moveTo>
                    <a:pt x="246888" y="1255776"/>
                  </a:moveTo>
                  <a:lnTo>
                    <a:pt x="100584" y="1255776"/>
                  </a:lnTo>
                  <a:lnTo>
                    <a:pt x="100584" y="1342644"/>
                  </a:lnTo>
                  <a:lnTo>
                    <a:pt x="246888" y="1342644"/>
                  </a:lnTo>
                  <a:lnTo>
                    <a:pt x="246888" y="1255776"/>
                  </a:lnTo>
                  <a:close/>
                </a:path>
                <a:path w="247015" h="3069590">
                  <a:moveTo>
                    <a:pt x="246888" y="941832"/>
                  </a:moveTo>
                  <a:lnTo>
                    <a:pt x="179832" y="941832"/>
                  </a:lnTo>
                  <a:lnTo>
                    <a:pt x="179832" y="1028700"/>
                  </a:lnTo>
                  <a:lnTo>
                    <a:pt x="246888" y="1028700"/>
                  </a:lnTo>
                  <a:lnTo>
                    <a:pt x="246888" y="941832"/>
                  </a:lnTo>
                  <a:close/>
                </a:path>
                <a:path w="247015" h="3069590">
                  <a:moveTo>
                    <a:pt x="246888" y="784860"/>
                  </a:moveTo>
                  <a:lnTo>
                    <a:pt x="239268" y="784860"/>
                  </a:lnTo>
                  <a:lnTo>
                    <a:pt x="239268" y="871728"/>
                  </a:lnTo>
                  <a:lnTo>
                    <a:pt x="246888" y="871728"/>
                  </a:lnTo>
                  <a:lnTo>
                    <a:pt x="246888" y="784860"/>
                  </a:lnTo>
                  <a:close/>
                </a:path>
                <a:path w="247015" h="3069590">
                  <a:moveTo>
                    <a:pt x="246888" y="313944"/>
                  </a:moveTo>
                  <a:lnTo>
                    <a:pt x="76200" y="313944"/>
                  </a:lnTo>
                  <a:lnTo>
                    <a:pt x="76200" y="400812"/>
                  </a:lnTo>
                  <a:lnTo>
                    <a:pt x="246888" y="400812"/>
                  </a:lnTo>
                  <a:lnTo>
                    <a:pt x="246888" y="313944"/>
                  </a:lnTo>
                  <a:close/>
                </a:path>
                <a:path w="247015" h="3069590">
                  <a:moveTo>
                    <a:pt x="246888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246888" y="86868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9015983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0" name="object 270"/>
          <p:cNvSpPr txBox="1"/>
          <p:nvPr/>
        </p:nvSpPr>
        <p:spPr>
          <a:xfrm>
            <a:off x="9134856" y="2471420"/>
            <a:ext cx="27305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1" name="object 271"/>
          <p:cNvSpPr txBox="1"/>
          <p:nvPr/>
        </p:nvSpPr>
        <p:spPr>
          <a:xfrm>
            <a:off x="8273795" y="2628392"/>
            <a:ext cx="7378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  <a:tabLst>
                <a:tab pos="321945" algn="l"/>
              </a:tabLst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12</a:t>
            </a: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	-</a:t>
            </a: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9134856" y="2785363"/>
            <a:ext cx="27305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8430958" y="2942336"/>
            <a:ext cx="5803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9144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9020746" y="3099307"/>
            <a:ext cx="3867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9020746" y="3256279"/>
            <a:ext cx="3867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6" name="object 276"/>
          <p:cNvSpPr txBox="1"/>
          <p:nvPr/>
        </p:nvSpPr>
        <p:spPr>
          <a:xfrm>
            <a:off x="8430958" y="3413251"/>
            <a:ext cx="57912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111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7" name="object 277"/>
          <p:cNvSpPr txBox="1"/>
          <p:nvPr/>
        </p:nvSpPr>
        <p:spPr>
          <a:xfrm>
            <a:off x="8430958" y="3570223"/>
            <a:ext cx="5803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9207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9264395" y="3732466"/>
            <a:ext cx="156210" cy="147955"/>
          </a:xfrm>
          <a:prstGeom prst="rect">
            <a:avLst/>
          </a:prstGeom>
          <a:solidFill>
            <a:srgbClr val="FFF5CC"/>
          </a:solidFill>
        </p:spPr>
        <p:txBody>
          <a:bodyPr wrap="square" lIns="0" tIns="762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60"/>
              </a:spcBef>
            </a:pPr>
            <a:r>
              <a:rPr dirty="0" sz="800" spc="-25">
                <a:solidFill>
                  <a:srgbClr val="1B1C1B"/>
                </a:solidFill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8430958" y="3884167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0" name="object 280"/>
          <p:cNvSpPr txBox="1"/>
          <p:nvPr/>
        </p:nvSpPr>
        <p:spPr>
          <a:xfrm>
            <a:off x="8430958" y="4041140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1" name="object 281"/>
          <p:cNvSpPr txBox="1"/>
          <p:nvPr/>
        </p:nvSpPr>
        <p:spPr>
          <a:xfrm>
            <a:off x="8430958" y="4198111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91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2" name="object 282"/>
          <p:cNvSpPr txBox="1"/>
          <p:nvPr/>
        </p:nvSpPr>
        <p:spPr>
          <a:xfrm>
            <a:off x="8430958" y="4355084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91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3" name="object 283"/>
          <p:cNvSpPr txBox="1"/>
          <p:nvPr/>
        </p:nvSpPr>
        <p:spPr>
          <a:xfrm>
            <a:off x="8430958" y="4512055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91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4" name="object 284"/>
          <p:cNvSpPr txBox="1"/>
          <p:nvPr/>
        </p:nvSpPr>
        <p:spPr>
          <a:xfrm>
            <a:off x="8430958" y="4669027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8430958" y="4826000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6" name="object 286"/>
          <p:cNvSpPr txBox="1"/>
          <p:nvPr/>
        </p:nvSpPr>
        <p:spPr>
          <a:xfrm>
            <a:off x="8430958" y="4982971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7" name="object 287"/>
          <p:cNvSpPr txBox="1"/>
          <p:nvPr/>
        </p:nvSpPr>
        <p:spPr>
          <a:xfrm>
            <a:off x="8430958" y="5139944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258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8" name="object 288"/>
          <p:cNvSpPr txBox="1"/>
          <p:nvPr/>
        </p:nvSpPr>
        <p:spPr>
          <a:xfrm>
            <a:off x="8430958" y="5296916"/>
            <a:ext cx="580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258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9" name="object 289"/>
          <p:cNvSpPr txBox="1"/>
          <p:nvPr/>
        </p:nvSpPr>
        <p:spPr>
          <a:xfrm>
            <a:off x="9025223" y="5453888"/>
            <a:ext cx="3822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8801227" y="5610859"/>
            <a:ext cx="109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1" name="object 291"/>
          <p:cNvGrpSpPr/>
          <p:nvPr/>
        </p:nvGrpSpPr>
        <p:grpSpPr>
          <a:xfrm>
            <a:off x="9710928" y="2471737"/>
            <a:ext cx="495300" cy="3306445"/>
            <a:chOff x="9710928" y="2471737"/>
            <a:chExt cx="495300" cy="3306445"/>
          </a:xfrm>
        </p:grpSpPr>
        <p:sp>
          <p:nvSpPr>
            <p:cNvPr id="292" name="object 292"/>
            <p:cNvSpPr/>
            <p:nvPr/>
          </p:nvSpPr>
          <p:spPr>
            <a:xfrm>
              <a:off x="10088880" y="2511564"/>
              <a:ext cx="117475" cy="1971039"/>
            </a:xfrm>
            <a:custGeom>
              <a:avLst/>
              <a:gdLst/>
              <a:ahLst/>
              <a:cxnLst/>
              <a:rect l="l" t="t" r="r" b="b"/>
              <a:pathLst>
                <a:path w="117475" h="1971039">
                  <a:moveTo>
                    <a:pt x="7607" y="313931"/>
                  </a:moveTo>
                  <a:lnTo>
                    <a:pt x="0" y="313931"/>
                  </a:lnTo>
                  <a:lnTo>
                    <a:pt x="0" y="400799"/>
                  </a:lnTo>
                  <a:lnTo>
                    <a:pt x="7607" y="400799"/>
                  </a:lnTo>
                  <a:lnTo>
                    <a:pt x="7607" y="313931"/>
                  </a:lnTo>
                  <a:close/>
                </a:path>
                <a:path w="117475" h="1971039">
                  <a:moveTo>
                    <a:pt x="44196" y="1883651"/>
                  </a:moveTo>
                  <a:lnTo>
                    <a:pt x="0" y="1883651"/>
                  </a:lnTo>
                  <a:lnTo>
                    <a:pt x="0" y="1970519"/>
                  </a:lnTo>
                  <a:lnTo>
                    <a:pt x="44196" y="1970519"/>
                  </a:lnTo>
                  <a:lnTo>
                    <a:pt x="44196" y="1883651"/>
                  </a:lnTo>
                  <a:close/>
                </a:path>
                <a:path w="117475" h="1971039">
                  <a:moveTo>
                    <a:pt x="60947" y="156959"/>
                  </a:moveTo>
                  <a:lnTo>
                    <a:pt x="0" y="156959"/>
                  </a:lnTo>
                  <a:lnTo>
                    <a:pt x="0" y="243827"/>
                  </a:lnTo>
                  <a:lnTo>
                    <a:pt x="60947" y="243827"/>
                  </a:lnTo>
                  <a:lnTo>
                    <a:pt x="60947" y="156959"/>
                  </a:lnTo>
                  <a:close/>
                </a:path>
                <a:path w="117475" h="1971039">
                  <a:moveTo>
                    <a:pt x="117348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117348" y="86855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9710928" y="2982467"/>
              <a:ext cx="378460" cy="2755900"/>
            </a:xfrm>
            <a:custGeom>
              <a:avLst/>
              <a:gdLst/>
              <a:ahLst/>
              <a:cxnLst/>
              <a:rect l="l" t="t" r="r" b="b"/>
              <a:pathLst>
                <a:path w="378459" h="2755900">
                  <a:moveTo>
                    <a:pt x="377952" y="2667000"/>
                  </a:moveTo>
                  <a:lnTo>
                    <a:pt x="198120" y="2667000"/>
                  </a:lnTo>
                  <a:lnTo>
                    <a:pt x="198120" y="2755392"/>
                  </a:lnTo>
                  <a:lnTo>
                    <a:pt x="377952" y="2755392"/>
                  </a:lnTo>
                  <a:lnTo>
                    <a:pt x="377952" y="2667000"/>
                  </a:lnTo>
                  <a:close/>
                </a:path>
                <a:path w="378459" h="2755900">
                  <a:moveTo>
                    <a:pt x="377952" y="2510028"/>
                  </a:moveTo>
                  <a:lnTo>
                    <a:pt x="286512" y="2510028"/>
                  </a:lnTo>
                  <a:lnTo>
                    <a:pt x="286512" y="2598420"/>
                  </a:lnTo>
                  <a:lnTo>
                    <a:pt x="377952" y="2598420"/>
                  </a:lnTo>
                  <a:lnTo>
                    <a:pt x="377952" y="2510028"/>
                  </a:lnTo>
                  <a:close/>
                </a:path>
                <a:path w="378459" h="2755900">
                  <a:moveTo>
                    <a:pt x="377952" y="2353056"/>
                  </a:moveTo>
                  <a:lnTo>
                    <a:pt x="158496" y="2353056"/>
                  </a:lnTo>
                  <a:lnTo>
                    <a:pt x="158496" y="2441448"/>
                  </a:lnTo>
                  <a:lnTo>
                    <a:pt x="377952" y="2441448"/>
                  </a:lnTo>
                  <a:lnTo>
                    <a:pt x="377952" y="2353056"/>
                  </a:lnTo>
                  <a:close/>
                </a:path>
                <a:path w="378459" h="2755900">
                  <a:moveTo>
                    <a:pt x="377952" y="2196084"/>
                  </a:moveTo>
                  <a:lnTo>
                    <a:pt x="374904" y="2196084"/>
                  </a:lnTo>
                  <a:lnTo>
                    <a:pt x="374904" y="2284476"/>
                  </a:lnTo>
                  <a:lnTo>
                    <a:pt x="377952" y="2284476"/>
                  </a:lnTo>
                  <a:lnTo>
                    <a:pt x="377952" y="2196084"/>
                  </a:lnTo>
                  <a:close/>
                </a:path>
                <a:path w="378459" h="2755900">
                  <a:moveTo>
                    <a:pt x="377952" y="2040636"/>
                  </a:moveTo>
                  <a:lnTo>
                    <a:pt x="246888" y="2040636"/>
                  </a:lnTo>
                  <a:lnTo>
                    <a:pt x="246888" y="2127504"/>
                  </a:lnTo>
                  <a:lnTo>
                    <a:pt x="377952" y="2127504"/>
                  </a:lnTo>
                  <a:lnTo>
                    <a:pt x="377952" y="2040636"/>
                  </a:lnTo>
                  <a:close/>
                </a:path>
                <a:path w="378459" h="2755900">
                  <a:moveTo>
                    <a:pt x="377952" y="1883664"/>
                  </a:moveTo>
                  <a:lnTo>
                    <a:pt x="335280" y="1883664"/>
                  </a:lnTo>
                  <a:lnTo>
                    <a:pt x="335280" y="1970532"/>
                  </a:lnTo>
                  <a:lnTo>
                    <a:pt x="377952" y="1970532"/>
                  </a:lnTo>
                  <a:lnTo>
                    <a:pt x="377952" y="1883664"/>
                  </a:lnTo>
                  <a:close/>
                </a:path>
                <a:path w="378459" h="2755900">
                  <a:moveTo>
                    <a:pt x="377952" y="1726692"/>
                  </a:moveTo>
                  <a:lnTo>
                    <a:pt x="118872" y="1726692"/>
                  </a:lnTo>
                  <a:lnTo>
                    <a:pt x="118872" y="1813560"/>
                  </a:lnTo>
                  <a:lnTo>
                    <a:pt x="377952" y="1813560"/>
                  </a:lnTo>
                  <a:lnTo>
                    <a:pt x="377952" y="1726692"/>
                  </a:lnTo>
                  <a:close/>
                </a:path>
                <a:path w="378459" h="2755900">
                  <a:moveTo>
                    <a:pt x="377952" y="1569720"/>
                  </a:moveTo>
                  <a:lnTo>
                    <a:pt x="207264" y="1569720"/>
                  </a:lnTo>
                  <a:lnTo>
                    <a:pt x="207264" y="1656588"/>
                  </a:lnTo>
                  <a:lnTo>
                    <a:pt x="377952" y="1656588"/>
                  </a:lnTo>
                  <a:lnTo>
                    <a:pt x="377952" y="1569720"/>
                  </a:lnTo>
                  <a:close/>
                </a:path>
                <a:path w="378459" h="2755900">
                  <a:moveTo>
                    <a:pt x="377952" y="1255776"/>
                  </a:moveTo>
                  <a:lnTo>
                    <a:pt x="315468" y="1255776"/>
                  </a:lnTo>
                  <a:lnTo>
                    <a:pt x="315468" y="1342644"/>
                  </a:lnTo>
                  <a:lnTo>
                    <a:pt x="377952" y="1342644"/>
                  </a:lnTo>
                  <a:lnTo>
                    <a:pt x="377952" y="1255776"/>
                  </a:lnTo>
                  <a:close/>
                </a:path>
                <a:path w="378459" h="2755900">
                  <a:moveTo>
                    <a:pt x="377952" y="1098804"/>
                  </a:moveTo>
                  <a:lnTo>
                    <a:pt x="187452" y="1098804"/>
                  </a:lnTo>
                  <a:lnTo>
                    <a:pt x="187452" y="1185672"/>
                  </a:lnTo>
                  <a:lnTo>
                    <a:pt x="377952" y="1185672"/>
                  </a:lnTo>
                  <a:lnTo>
                    <a:pt x="377952" y="1098804"/>
                  </a:lnTo>
                  <a:close/>
                </a:path>
                <a:path w="378459" h="2755900">
                  <a:moveTo>
                    <a:pt x="377952" y="941832"/>
                  </a:moveTo>
                  <a:lnTo>
                    <a:pt x="167640" y="941832"/>
                  </a:lnTo>
                  <a:lnTo>
                    <a:pt x="167640" y="1028700"/>
                  </a:lnTo>
                  <a:lnTo>
                    <a:pt x="377952" y="1028700"/>
                  </a:lnTo>
                  <a:lnTo>
                    <a:pt x="377952" y="941832"/>
                  </a:lnTo>
                  <a:close/>
                </a:path>
                <a:path w="378459" h="2755900">
                  <a:moveTo>
                    <a:pt x="377952" y="784860"/>
                  </a:moveTo>
                  <a:lnTo>
                    <a:pt x="323088" y="784860"/>
                  </a:lnTo>
                  <a:lnTo>
                    <a:pt x="323088" y="871728"/>
                  </a:lnTo>
                  <a:lnTo>
                    <a:pt x="377952" y="871728"/>
                  </a:lnTo>
                  <a:lnTo>
                    <a:pt x="377952" y="784860"/>
                  </a:lnTo>
                  <a:close/>
                </a:path>
                <a:path w="378459" h="2755900">
                  <a:moveTo>
                    <a:pt x="377952" y="627888"/>
                  </a:moveTo>
                  <a:lnTo>
                    <a:pt x="0" y="627888"/>
                  </a:lnTo>
                  <a:lnTo>
                    <a:pt x="0" y="714756"/>
                  </a:lnTo>
                  <a:lnTo>
                    <a:pt x="377952" y="714756"/>
                  </a:lnTo>
                  <a:lnTo>
                    <a:pt x="377952" y="627888"/>
                  </a:lnTo>
                  <a:close/>
                </a:path>
                <a:path w="378459" h="2755900">
                  <a:moveTo>
                    <a:pt x="377952" y="470916"/>
                  </a:moveTo>
                  <a:lnTo>
                    <a:pt x="224028" y="470916"/>
                  </a:lnTo>
                  <a:lnTo>
                    <a:pt x="224028" y="557784"/>
                  </a:lnTo>
                  <a:lnTo>
                    <a:pt x="377952" y="557784"/>
                  </a:lnTo>
                  <a:lnTo>
                    <a:pt x="377952" y="470916"/>
                  </a:lnTo>
                  <a:close/>
                </a:path>
                <a:path w="378459" h="2755900">
                  <a:moveTo>
                    <a:pt x="377952" y="313944"/>
                  </a:moveTo>
                  <a:lnTo>
                    <a:pt x="292608" y="313944"/>
                  </a:lnTo>
                  <a:lnTo>
                    <a:pt x="292608" y="400812"/>
                  </a:lnTo>
                  <a:lnTo>
                    <a:pt x="377952" y="400812"/>
                  </a:lnTo>
                  <a:lnTo>
                    <a:pt x="377952" y="313944"/>
                  </a:lnTo>
                  <a:close/>
                </a:path>
                <a:path w="378459" h="2755900">
                  <a:moveTo>
                    <a:pt x="377952" y="156972"/>
                  </a:moveTo>
                  <a:lnTo>
                    <a:pt x="260604" y="156972"/>
                  </a:lnTo>
                  <a:lnTo>
                    <a:pt x="260604" y="243840"/>
                  </a:lnTo>
                  <a:lnTo>
                    <a:pt x="377952" y="243840"/>
                  </a:lnTo>
                  <a:lnTo>
                    <a:pt x="377952" y="156972"/>
                  </a:lnTo>
                  <a:close/>
                </a:path>
                <a:path w="378459" h="2755900">
                  <a:moveTo>
                    <a:pt x="377952" y="0"/>
                  </a:moveTo>
                  <a:lnTo>
                    <a:pt x="188976" y="0"/>
                  </a:lnTo>
                  <a:lnTo>
                    <a:pt x="188976" y="86868"/>
                  </a:lnTo>
                  <a:lnTo>
                    <a:pt x="377952" y="86868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0088880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5" name="object 295"/>
          <p:cNvSpPr txBox="1"/>
          <p:nvPr/>
        </p:nvSpPr>
        <p:spPr>
          <a:xfrm>
            <a:off x="10206228" y="2471420"/>
            <a:ext cx="1860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10093642" y="2628392"/>
            <a:ext cx="29845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0095071" y="2785363"/>
            <a:ext cx="2971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9416986" y="2942336"/>
            <a:ext cx="6673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068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9416986" y="3099307"/>
            <a:ext cx="6673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3307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9416986" y="3256279"/>
            <a:ext cx="6673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110489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1" name="object 301"/>
          <p:cNvSpPr txBox="1"/>
          <p:nvPr/>
        </p:nvSpPr>
        <p:spPr>
          <a:xfrm>
            <a:off x="9416986" y="3413251"/>
            <a:ext cx="66738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560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9416986" y="3575494"/>
            <a:ext cx="294005" cy="147955"/>
          </a:xfrm>
          <a:prstGeom prst="rect">
            <a:avLst/>
          </a:prstGeom>
          <a:solidFill>
            <a:srgbClr val="FFF5CC"/>
          </a:solidFill>
        </p:spPr>
        <p:txBody>
          <a:bodyPr wrap="square" lIns="0" tIns="7620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9416986" y="3727196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7937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4" name="object 304"/>
          <p:cNvSpPr txBox="1"/>
          <p:nvPr/>
        </p:nvSpPr>
        <p:spPr>
          <a:xfrm>
            <a:off x="9416986" y="3884167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461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5" name="object 305"/>
          <p:cNvSpPr txBox="1"/>
          <p:nvPr/>
        </p:nvSpPr>
        <p:spPr>
          <a:xfrm>
            <a:off x="9416986" y="4041140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3652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6" name="object 306"/>
          <p:cNvSpPr txBox="1"/>
          <p:nvPr/>
        </p:nvSpPr>
        <p:spPr>
          <a:xfrm>
            <a:off x="9416986" y="4198111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8826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7" name="object 307"/>
          <p:cNvSpPr txBox="1"/>
          <p:nvPr/>
        </p:nvSpPr>
        <p:spPr>
          <a:xfrm>
            <a:off x="10093642" y="4355084"/>
            <a:ext cx="2984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8" name="object 308"/>
          <p:cNvSpPr txBox="1"/>
          <p:nvPr/>
        </p:nvSpPr>
        <p:spPr>
          <a:xfrm>
            <a:off x="9416986" y="4512055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9416986" y="4669027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0" name="object 310"/>
          <p:cNvSpPr txBox="1"/>
          <p:nvPr/>
        </p:nvSpPr>
        <p:spPr>
          <a:xfrm>
            <a:off x="9416986" y="4826000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667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1" name="object 311"/>
          <p:cNvSpPr txBox="1"/>
          <p:nvPr/>
        </p:nvSpPr>
        <p:spPr>
          <a:xfrm>
            <a:off x="9416986" y="4982971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9416986" y="5139944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857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9416986" y="5296916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001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9416986" y="5453888"/>
            <a:ext cx="667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1493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5" name="object 315"/>
          <p:cNvSpPr txBox="1"/>
          <p:nvPr/>
        </p:nvSpPr>
        <p:spPr>
          <a:xfrm>
            <a:off x="9774681" y="5610859"/>
            <a:ext cx="109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16" name="object 316"/>
          <p:cNvGrpSpPr/>
          <p:nvPr/>
        </p:nvGrpSpPr>
        <p:grpSpPr>
          <a:xfrm>
            <a:off x="10658856" y="2471737"/>
            <a:ext cx="495300" cy="3306445"/>
            <a:chOff x="10658856" y="2471737"/>
            <a:chExt cx="495300" cy="3306445"/>
          </a:xfrm>
        </p:grpSpPr>
        <p:sp>
          <p:nvSpPr>
            <p:cNvPr id="317" name="object 317"/>
            <p:cNvSpPr/>
            <p:nvPr/>
          </p:nvSpPr>
          <p:spPr>
            <a:xfrm>
              <a:off x="10847832" y="2511564"/>
              <a:ext cx="306705" cy="2598420"/>
            </a:xfrm>
            <a:custGeom>
              <a:avLst/>
              <a:gdLst/>
              <a:ahLst/>
              <a:cxnLst/>
              <a:rect l="l" t="t" r="r" b="b"/>
              <a:pathLst>
                <a:path w="306704" h="2598420">
                  <a:moveTo>
                    <a:pt x="33528" y="2511539"/>
                  </a:moveTo>
                  <a:lnTo>
                    <a:pt x="0" y="2511539"/>
                  </a:lnTo>
                  <a:lnTo>
                    <a:pt x="0" y="2598407"/>
                  </a:lnTo>
                  <a:lnTo>
                    <a:pt x="33528" y="2598407"/>
                  </a:lnTo>
                  <a:lnTo>
                    <a:pt x="33528" y="2511539"/>
                  </a:lnTo>
                  <a:close/>
                </a:path>
                <a:path w="306704" h="2598420">
                  <a:moveTo>
                    <a:pt x="60947" y="1569707"/>
                  </a:moveTo>
                  <a:lnTo>
                    <a:pt x="0" y="1569707"/>
                  </a:lnTo>
                  <a:lnTo>
                    <a:pt x="0" y="1656575"/>
                  </a:lnTo>
                  <a:lnTo>
                    <a:pt x="60947" y="1656575"/>
                  </a:lnTo>
                  <a:lnTo>
                    <a:pt x="60947" y="1569707"/>
                  </a:lnTo>
                  <a:close/>
                </a:path>
                <a:path w="306704" h="2598420">
                  <a:moveTo>
                    <a:pt x="62471" y="313931"/>
                  </a:moveTo>
                  <a:lnTo>
                    <a:pt x="0" y="313931"/>
                  </a:lnTo>
                  <a:lnTo>
                    <a:pt x="0" y="400799"/>
                  </a:lnTo>
                  <a:lnTo>
                    <a:pt x="62471" y="400799"/>
                  </a:lnTo>
                  <a:lnTo>
                    <a:pt x="62471" y="313931"/>
                  </a:lnTo>
                  <a:close/>
                </a:path>
                <a:path w="306704" h="2598420">
                  <a:moveTo>
                    <a:pt x="208788" y="156959"/>
                  </a:moveTo>
                  <a:lnTo>
                    <a:pt x="0" y="156959"/>
                  </a:lnTo>
                  <a:lnTo>
                    <a:pt x="0" y="243827"/>
                  </a:lnTo>
                  <a:lnTo>
                    <a:pt x="208788" y="243827"/>
                  </a:lnTo>
                  <a:lnTo>
                    <a:pt x="208788" y="156959"/>
                  </a:lnTo>
                  <a:close/>
                </a:path>
                <a:path w="306704" h="2598420">
                  <a:moveTo>
                    <a:pt x="306324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306324" y="86855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0658856" y="2982467"/>
              <a:ext cx="207645" cy="2755900"/>
            </a:xfrm>
            <a:custGeom>
              <a:avLst/>
              <a:gdLst/>
              <a:ahLst/>
              <a:cxnLst/>
              <a:rect l="l" t="t" r="r" b="b"/>
              <a:pathLst>
                <a:path w="207645" h="2755900">
                  <a:moveTo>
                    <a:pt x="188976" y="2667000"/>
                  </a:moveTo>
                  <a:lnTo>
                    <a:pt x="45720" y="2667000"/>
                  </a:lnTo>
                  <a:lnTo>
                    <a:pt x="45720" y="2755392"/>
                  </a:lnTo>
                  <a:lnTo>
                    <a:pt x="188976" y="2755392"/>
                  </a:lnTo>
                  <a:lnTo>
                    <a:pt x="188976" y="2667000"/>
                  </a:lnTo>
                  <a:close/>
                </a:path>
                <a:path w="207645" h="2755900">
                  <a:moveTo>
                    <a:pt x="188976" y="2510028"/>
                  </a:moveTo>
                  <a:lnTo>
                    <a:pt x="179832" y="2510028"/>
                  </a:lnTo>
                  <a:lnTo>
                    <a:pt x="179832" y="2598420"/>
                  </a:lnTo>
                  <a:lnTo>
                    <a:pt x="188976" y="2598420"/>
                  </a:lnTo>
                  <a:lnTo>
                    <a:pt x="188976" y="2510028"/>
                  </a:lnTo>
                  <a:close/>
                </a:path>
                <a:path w="207645" h="2755900">
                  <a:moveTo>
                    <a:pt x="188976" y="2353056"/>
                  </a:moveTo>
                  <a:lnTo>
                    <a:pt x="164592" y="2353056"/>
                  </a:lnTo>
                  <a:lnTo>
                    <a:pt x="164592" y="2441448"/>
                  </a:lnTo>
                  <a:lnTo>
                    <a:pt x="188976" y="2441448"/>
                  </a:lnTo>
                  <a:lnTo>
                    <a:pt x="188976" y="2353056"/>
                  </a:lnTo>
                  <a:close/>
                </a:path>
                <a:path w="207645" h="2755900">
                  <a:moveTo>
                    <a:pt x="188976" y="2196084"/>
                  </a:moveTo>
                  <a:lnTo>
                    <a:pt x="164592" y="2196084"/>
                  </a:lnTo>
                  <a:lnTo>
                    <a:pt x="164592" y="2284476"/>
                  </a:lnTo>
                  <a:lnTo>
                    <a:pt x="188976" y="2284476"/>
                  </a:lnTo>
                  <a:lnTo>
                    <a:pt x="188976" y="2196084"/>
                  </a:lnTo>
                  <a:close/>
                </a:path>
                <a:path w="207645" h="2755900">
                  <a:moveTo>
                    <a:pt x="188976" y="1883664"/>
                  </a:moveTo>
                  <a:lnTo>
                    <a:pt x="132588" y="1883664"/>
                  </a:lnTo>
                  <a:lnTo>
                    <a:pt x="132588" y="1970532"/>
                  </a:lnTo>
                  <a:lnTo>
                    <a:pt x="188976" y="1970532"/>
                  </a:lnTo>
                  <a:lnTo>
                    <a:pt x="188976" y="1883664"/>
                  </a:lnTo>
                  <a:close/>
                </a:path>
                <a:path w="207645" h="2755900">
                  <a:moveTo>
                    <a:pt x="188976" y="1569720"/>
                  </a:moveTo>
                  <a:lnTo>
                    <a:pt x="115824" y="1569720"/>
                  </a:lnTo>
                  <a:lnTo>
                    <a:pt x="115824" y="1656588"/>
                  </a:lnTo>
                  <a:lnTo>
                    <a:pt x="188976" y="1656588"/>
                  </a:lnTo>
                  <a:lnTo>
                    <a:pt x="188976" y="1569720"/>
                  </a:lnTo>
                  <a:close/>
                </a:path>
                <a:path w="207645" h="2755900">
                  <a:moveTo>
                    <a:pt x="188976" y="1412748"/>
                  </a:moveTo>
                  <a:lnTo>
                    <a:pt x="115824" y="1412748"/>
                  </a:lnTo>
                  <a:lnTo>
                    <a:pt x="115824" y="1499616"/>
                  </a:lnTo>
                  <a:lnTo>
                    <a:pt x="188976" y="1499616"/>
                  </a:lnTo>
                  <a:lnTo>
                    <a:pt x="188976" y="1412748"/>
                  </a:lnTo>
                  <a:close/>
                </a:path>
                <a:path w="207645" h="2755900">
                  <a:moveTo>
                    <a:pt x="188976" y="1255776"/>
                  </a:moveTo>
                  <a:lnTo>
                    <a:pt x="115824" y="1255776"/>
                  </a:lnTo>
                  <a:lnTo>
                    <a:pt x="115824" y="1342644"/>
                  </a:lnTo>
                  <a:lnTo>
                    <a:pt x="188976" y="1342644"/>
                  </a:lnTo>
                  <a:lnTo>
                    <a:pt x="188976" y="1255776"/>
                  </a:lnTo>
                  <a:close/>
                </a:path>
                <a:path w="207645" h="2755900">
                  <a:moveTo>
                    <a:pt x="188976" y="941832"/>
                  </a:moveTo>
                  <a:lnTo>
                    <a:pt x="158496" y="941832"/>
                  </a:lnTo>
                  <a:lnTo>
                    <a:pt x="158496" y="1028700"/>
                  </a:lnTo>
                  <a:lnTo>
                    <a:pt x="188976" y="1028700"/>
                  </a:lnTo>
                  <a:lnTo>
                    <a:pt x="188976" y="941832"/>
                  </a:lnTo>
                  <a:close/>
                </a:path>
                <a:path w="207645" h="2755900">
                  <a:moveTo>
                    <a:pt x="188976" y="784860"/>
                  </a:moveTo>
                  <a:lnTo>
                    <a:pt x="111252" y="784860"/>
                  </a:lnTo>
                  <a:lnTo>
                    <a:pt x="111252" y="871728"/>
                  </a:lnTo>
                  <a:lnTo>
                    <a:pt x="188976" y="871728"/>
                  </a:lnTo>
                  <a:lnTo>
                    <a:pt x="188976" y="784860"/>
                  </a:lnTo>
                  <a:close/>
                </a:path>
                <a:path w="207645" h="2755900">
                  <a:moveTo>
                    <a:pt x="188976" y="627888"/>
                  </a:moveTo>
                  <a:lnTo>
                    <a:pt x="111252" y="627888"/>
                  </a:lnTo>
                  <a:lnTo>
                    <a:pt x="111252" y="714756"/>
                  </a:lnTo>
                  <a:lnTo>
                    <a:pt x="188976" y="714756"/>
                  </a:lnTo>
                  <a:lnTo>
                    <a:pt x="188976" y="627888"/>
                  </a:lnTo>
                  <a:close/>
                </a:path>
                <a:path w="207645" h="2755900">
                  <a:moveTo>
                    <a:pt x="188976" y="470916"/>
                  </a:moveTo>
                  <a:lnTo>
                    <a:pt x="181356" y="470916"/>
                  </a:lnTo>
                  <a:lnTo>
                    <a:pt x="181356" y="557784"/>
                  </a:lnTo>
                  <a:lnTo>
                    <a:pt x="188976" y="557784"/>
                  </a:lnTo>
                  <a:lnTo>
                    <a:pt x="188976" y="470916"/>
                  </a:lnTo>
                  <a:close/>
                </a:path>
                <a:path w="207645" h="2755900">
                  <a:moveTo>
                    <a:pt x="188976" y="313944"/>
                  </a:moveTo>
                  <a:lnTo>
                    <a:pt x="0" y="313944"/>
                  </a:lnTo>
                  <a:lnTo>
                    <a:pt x="0" y="400812"/>
                  </a:lnTo>
                  <a:lnTo>
                    <a:pt x="188976" y="400812"/>
                  </a:lnTo>
                  <a:lnTo>
                    <a:pt x="188976" y="313944"/>
                  </a:lnTo>
                  <a:close/>
                </a:path>
                <a:path w="207645" h="2755900">
                  <a:moveTo>
                    <a:pt x="188976" y="156972"/>
                  </a:moveTo>
                  <a:lnTo>
                    <a:pt x="187452" y="156972"/>
                  </a:lnTo>
                  <a:lnTo>
                    <a:pt x="187452" y="243840"/>
                  </a:lnTo>
                  <a:lnTo>
                    <a:pt x="188976" y="243840"/>
                  </a:lnTo>
                  <a:lnTo>
                    <a:pt x="188976" y="156972"/>
                  </a:lnTo>
                  <a:close/>
                </a:path>
                <a:path w="207645" h="2755900">
                  <a:moveTo>
                    <a:pt x="188976" y="0"/>
                  </a:moveTo>
                  <a:lnTo>
                    <a:pt x="118872" y="0"/>
                  </a:lnTo>
                  <a:lnTo>
                    <a:pt x="118872" y="86868"/>
                  </a:lnTo>
                  <a:lnTo>
                    <a:pt x="188976" y="86868"/>
                  </a:lnTo>
                  <a:lnTo>
                    <a:pt x="188976" y="0"/>
                  </a:lnTo>
                  <a:close/>
                </a:path>
                <a:path w="207645" h="2755900">
                  <a:moveTo>
                    <a:pt x="207264" y="1726692"/>
                  </a:moveTo>
                  <a:lnTo>
                    <a:pt x="188976" y="1726692"/>
                  </a:lnTo>
                  <a:lnTo>
                    <a:pt x="188976" y="1813560"/>
                  </a:lnTo>
                  <a:lnTo>
                    <a:pt x="207264" y="1813560"/>
                  </a:lnTo>
                  <a:lnTo>
                    <a:pt x="207264" y="1726692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0847832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0" name="object 320"/>
          <p:cNvSpPr txBox="1"/>
          <p:nvPr/>
        </p:nvSpPr>
        <p:spPr>
          <a:xfrm>
            <a:off x="11154156" y="2477642"/>
            <a:ext cx="218440" cy="148590"/>
          </a:xfrm>
          <a:prstGeom prst="rect">
            <a:avLst/>
          </a:prstGeom>
          <a:solidFill>
            <a:srgbClr val="FFF5CC"/>
          </a:solidFill>
        </p:spPr>
        <p:txBody>
          <a:bodyPr wrap="square" lIns="0" tIns="698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5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1" name="object 321"/>
          <p:cNvSpPr txBox="1"/>
          <p:nvPr/>
        </p:nvSpPr>
        <p:spPr>
          <a:xfrm>
            <a:off x="11085703" y="2628392"/>
            <a:ext cx="774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2" name="object 322"/>
          <p:cNvSpPr txBox="1"/>
          <p:nvPr/>
        </p:nvSpPr>
        <p:spPr>
          <a:xfrm>
            <a:off x="10939653" y="2785363"/>
            <a:ext cx="7747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3" name="object 323"/>
          <p:cNvSpPr txBox="1"/>
          <p:nvPr/>
        </p:nvSpPr>
        <p:spPr>
          <a:xfrm>
            <a:off x="10401490" y="2942336"/>
            <a:ext cx="44195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4" name="object 324"/>
          <p:cNvSpPr txBox="1"/>
          <p:nvPr/>
        </p:nvSpPr>
        <p:spPr>
          <a:xfrm>
            <a:off x="10401490" y="3099307"/>
            <a:ext cx="44195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2730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5" name="object 325"/>
          <p:cNvSpPr txBox="1"/>
          <p:nvPr/>
        </p:nvSpPr>
        <p:spPr>
          <a:xfrm>
            <a:off x="10401490" y="3256279"/>
            <a:ext cx="44195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10401490" y="3413251"/>
            <a:ext cx="4406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175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10401490" y="3570223"/>
            <a:ext cx="44195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8" name="object 328"/>
          <p:cNvSpPr txBox="1"/>
          <p:nvPr/>
        </p:nvSpPr>
        <p:spPr>
          <a:xfrm>
            <a:off x="10401490" y="3727196"/>
            <a:ext cx="4419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9" name="object 329"/>
          <p:cNvSpPr txBox="1"/>
          <p:nvPr/>
        </p:nvSpPr>
        <p:spPr>
          <a:xfrm>
            <a:off x="10401490" y="3884167"/>
            <a:ext cx="4292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191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0" name="object 330"/>
          <p:cNvSpPr txBox="1"/>
          <p:nvPr/>
        </p:nvSpPr>
        <p:spPr>
          <a:xfrm>
            <a:off x="10936605" y="4041140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1" name="object 331"/>
          <p:cNvSpPr txBox="1"/>
          <p:nvPr/>
        </p:nvSpPr>
        <p:spPr>
          <a:xfrm>
            <a:off x="10401490" y="4198111"/>
            <a:ext cx="4419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2" name="object 332"/>
          <p:cNvSpPr txBox="1"/>
          <p:nvPr/>
        </p:nvSpPr>
        <p:spPr>
          <a:xfrm>
            <a:off x="10401490" y="4355084"/>
            <a:ext cx="4419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3" name="object 333"/>
          <p:cNvSpPr txBox="1"/>
          <p:nvPr/>
        </p:nvSpPr>
        <p:spPr>
          <a:xfrm>
            <a:off x="10401490" y="4512055"/>
            <a:ext cx="4419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4" name="object 334"/>
          <p:cNvSpPr txBox="1"/>
          <p:nvPr/>
        </p:nvSpPr>
        <p:spPr>
          <a:xfrm>
            <a:off x="10894568" y="4669027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5" name="object 335"/>
          <p:cNvSpPr txBox="1"/>
          <p:nvPr/>
        </p:nvSpPr>
        <p:spPr>
          <a:xfrm>
            <a:off x="10401490" y="4826000"/>
            <a:ext cx="4419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6" name="object 336"/>
          <p:cNvSpPr txBox="1"/>
          <p:nvPr/>
        </p:nvSpPr>
        <p:spPr>
          <a:xfrm>
            <a:off x="10910443" y="4982971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10401490" y="5139944"/>
            <a:ext cx="4318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06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8" name="object 338"/>
          <p:cNvSpPr txBox="1"/>
          <p:nvPr/>
        </p:nvSpPr>
        <p:spPr>
          <a:xfrm>
            <a:off x="10401490" y="5296916"/>
            <a:ext cx="4318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064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9" name="object 339"/>
          <p:cNvSpPr txBox="1"/>
          <p:nvPr/>
        </p:nvSpPr>
        <p:spPr>
          <a:xfrm>
            <a:off x="10401490" y="5453888"/>
            <a:ext cx="4394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175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0" name="object 340"/>
          <p:cNvSpPr txBox="1"/>
          <p:nvPr/>
        </p:nvSpPr>
        <p:spPr>
          <a:xfrm>
            <a:off x="10570209" y="5610859"/>
            <a:ext cx="1092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6736080" y="2471737"/>
            <a:ext cx="495300" cy="3306445"/>
            <a:chOff x="6736080" y="2471737"/>
            <a:chExt cx="495300" cy="3306445"/>
          </a:xfrm>
        </p:grpSpPr>
        <p:sp>
          <p:nvSpPr>
            <p:cNvPr id="342" name="object 342"/>
            <p:cNvSpPr/>
            <p:nvPr/>
          </p:nvSpPr>
          <p:spPr>
            <a:xfrm>
              <a:off x="6934200" y="2511564"/>
              <a:ext cx="297180" cy="3226435"/>
            </a:xfrm>
            <a:custGeom>
              <a:avLst/>
              <a:gdLst/>
              <a:ahLst/>
              <a:cxnLst/>
              <a:rect l="l" t="t" r="r" b="b"/>
              <a:pathLst>
                <a:path w="297179" h="3226435">
                  <a:moveTo>
                    <a:pt x="35052" y="2040623"/>
                  </a:moveTo>
                  <a:lnTo>
                    <a:pt x="0" y="2040623"/>
                  </a:lnTo>
                  <a:lnTo>
                    <a:pt x="0" y="2127491"/>
                  </a:lnTo>
                  <a:lnTo>
                    <a:pt x="35052" y="2127491"/>
                  </a:lnTo>
                  <a:lnTo>
                    <a:pt x="35052" y="2040623"/>
                  </a:lnTo>
                  <a:close/>
                </a:path>
                <a:path w="297179" h="3226435">
                  <a:moveTo>
                    <a:pt x="35052" y="1726679"/>
                  </a:moveTo>
                  <a:lnTo>
                    <a:pt x="0" y="1726679"/>
                  </a:lnTo>
                  <a:lnTo>
                    <a:pt x="0" y="1813547"/>
                  </a:lnTo>
                  <a:lnTo>
                    <a:pt x="35052" y="1813547"/>
                  </a:lnTo>
                  <a:lnTo>
                    <a:pt x="35052" y="1726679"/>
                  </a:lnTo>
                  <a:close/>
                </a:path>
                <a:path w="297179" h="3226435">
                  <a:moveTo>
                    <a:pt x="47244" y="156959"/>
                  </a:moveTo>
                  <a:lnTo>
                    <a:pt x="0" y="156959"/>
                  </a:lnTo>
                  <a:lnTo>
                    <a:pt x="0" y="243827"/>
                  </a:lnTo>
                  <a:lnTo>
                    <a:pt x="47244" y="243827"/>
                  </a:lnTo>
                  <a:lnTo>
                    <a:pt x="47244" y="156959"/>
                  </a:lnTo>
                  <a:close/>
                </a:path>
                <a:path w="297179" h="3226435">
                  <a:moveTo>
                    <a:pt x="82296" y="1098791"/>
                  </a:moveTo>
                  <a:lnTo>
                    <a:pt x="0" y="1098791"/>
                  </a:lnTo>
                  <a:lnTo>
                    <a:pt x="0" y="1185659"/>
                  </a:lnTo>
                  <a:lnTo>
                    <a:pt x="82296" y="1185659"/>
                  </a:lnTo>
                  <a:lnTo>
                    <a:pt x="82296" y="1098791"/>
                  </a:lnTo>
                  <a:close/>
                </a:path>
                <a:path w="297179" h="3226435">
                  <a:moveTo>
                    <a:pt x="88392" y="313931"/>
                  </a:moveTo>
                  <a:lnTo>
                    <a:pt x="0" y="313931"/>
                  </a:lnTo>
                  <a:lnTo>
                    <a:pt x="0" y="400799"/>
                  </a:lnTo>
                  <a:lnTo>
                    <a:pt x="88392" y="400799"/>
                  </a:lnTo>
                  <a:lnTo>
                    <a:pt x="88392" y="313931"/>
                  </a:lnTo>
                  <a:close/>
                </a:path>
                <a:path w="297179" h="3226435">
                  <a:moveTo>
                    <a:pt x="99060" y="784847"/>
                  </a:moveTo>
                  <a:lnTo>
                    <a:pt x="0" y="784847"/>
                  </a:lnTo>
                  <a:lnTo>
                    <a:pt x="0" y="871715"/>
                  </a:lnTo>
                  <a:lnTo>
                    <a:pt x="99060" y="871715"/>
                  </a:lnTo>
                  <a:lnTo>
                    <a:pt x="99060" y="784847"/>
                  </a:lnTo>
                  <a:close/>
                </a:path>
                <a:path w="297179" h="3226435">
                  <a:moveTo>
                    <a:pt x="227076" y="470916"/>
                  </a:moveTo>
                  <a:lnTo>
                    <a:pt x="0" y="470916"/>
                  </a:lnTo>
                  <a:lnTo>
                    <a:pt x="0" y="557771"/>
                  </a:lnTo>
                  <a:lnTo>
                    <a:pt x="227076" y="557771"/>
                  </a:lnTo>
                  <a:lnTo>
                    <a:pt x="227076" y="470916"/>
                  </a:lnTo>
                  <a:close/>
                </a:path>
                <a:path w="297179" h="3226435">
                  <a:moveTo>
                    <a:pt x="234696" y="3137903"/>
                  </a:moveTo>
                  <a:lnTo>
                    <a:pt x="0" y="3137903"/>
                  </a:lnTo>
                  <a:lnTo>
                    <a:pt x="0" y="3226295"/>
                  </a:lnTo>
                  <a:lnTo>
                    <a:pt x="234696" y="3226295"/>
                  </a:lnTo>
                  <a:lnTo>
                    <a:pt x="234696" y="3137903"/>
                  </a:lnTo>
                  <a:close/>
                </a:path>
                <a:path w="297179" h="3226435">
                  <a:moveTo>
                    <a:pt x="297180" y="0"/>
                  </a:moveTo>
                  <a:lnTo>
                    <a:pt x="0" y="0"/>
                  </a:lnTo>
                  <a:lnTo>
                    <a:pt x="0" y="86855"/>
                  </a:lnTo>
                  <a:lnTo>
                    <a:pt x="297180" y="86855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00FF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6736080" y="3139439"/>
              <a:ext cx="203200" cy="2441575"/>
            </a:xfrm>
            <a:custGeom>
              <a:avLst/>
              <a:gdLst/>
              <a:ahLst/>
              <a:cxnLst/>
              <a:rect l="l" t="t" r="r" b="b"/>
              <a:pathLst>
                <a:path w="203200" h="2441575">
                  <a:moveTo>
                    <a:pt x="198120" y="2353056"/>
                  </a:moveTo>
                  <a:lnTo>
                    <a:pt x="45720" y="2353056"/>
                  </a:lnTo>
                  <a:lnTo>
                    <a:pt x="45720" y="2441448"/>
                  </a:lnTo>
                  <a:lnTo>
                    <a:pt x="198120" y="2441448"/>
                  </a:lnTo>
                  <a:lnTo>
                    <a:pt x="198120" y="2353056"/>
                  </a:lnTo>
                  <a:close/>
                </a:path>
                <a:path w="203200" h="2441575">
                  <a:moveTo>
                    <a:pt x="198120" y="2196084"/>
                  </a:moveTo>
                  <a:lnTo>
                    <a:pt x="153924" y="2196084"/>
                  </a:lnTo>
                  <a:lnTo>
                    <a:pt x="153924" y="2284476"/>
                  </a:lnTo>
                  <a:lnTo>
                    <a:pt x="198120" y="2284476"/>
                  </a:lnTo>
                  <a:lnTo>
                    <a:pt x="198120" y="2196084"/>
                  </a:lnTo>
                  <a:close/>
                </a:path>
                <a:path w="203200" h="2441575">
                  <a:moveTo>
                    <a:pt x="198120" y="2039112"/>
                  </a:moveTo>
                  <a:lnTo>
                    <a:pt x="30480" y="2039112"/>
                  </a:lnTo>
                  <a:lnTo>
                    <a:pt x="30480" y="2127504"/>
                  </a:lnTo>
                  <a:lnTo>
                    <a:pt x="198120" y="2127504"/>
                  </a:lnTo>
                  <a:lnTo>
                    <a:pt x="198120" y="2039112"/>
                  </a:lnTo>
                  <a:close/>
                </a:path>
                <a:path w="203200" h="2441575">
                  <a:moveTo>
                    <a:pt x="198120" y="1883664"/>
                  </a:moveTo>
                  <a:lnTo>
                    <a:pt x="138684" y="1883664"/>
                  </a:lnTo>
                  <a:lnTo>
                    <a:pt x="138684" y="1970532"/>
                  </a:lnTo>
                  <a:lnTo>
                    <a:pt x="198120" y="1970532"/>
                  </a:lnTo>
                  <a:lnTo>
                    <a:pt x="198120" y="1883664"/>
                  </a:lnTo>
                  <a:close/>
                </a:path>
                <a:path w="203200" h="2441575">
                  <a:moveTo>
                    <a:pt x="198120" y="1726692"/>
                  </a:moveTo>
                  <a:lnTo>
                    <a:pt x="123444" y="1726692"/>
                  </a:lnTo>
                  <a:lnTo>
                    <a:pt x="123444" y="1813560"/>
                  </a:lnTo>
                  <a:lnTo>
                    <a:pt x="198120" y="1813560"/>
                  </a:lnTo>
                  <a:lnTo>
                    <a:pt x="198120" y="1726692"/>
                  </a:lnTo>
                  <a:close/>
                </a:path>
                <a:path w="203200" h="2441575">
                  <a:moveTo>
                    <a:pt x="198120" y="1569720"/>
                  </a:moveTo>
                  <a:lnTo>
                    <a:pt x="0" y="1569720"/>
                  </a:lnTo>
                  <a:lnTo>
                    <a:pt x="0" y="1656588"/>
                  </a:lnTo>
                  <a:lnTo>
                    <a:pt x="198120" y="1656588"/>
                  </a:lnTo>
                  <a:lnTo>
                    <a:pt x="198120" y="1569720"/>
                  </a:lnTo>
                  <a:close/>
                </a:path>
                <a:path w="203200" h="2441575">
                  <a:moveTo>
                    <a:pt x="198120" y="1255776"/>
                  </a:moveTo>
                  <a:lnTo>
                    <a:pt x="108204" y="1255776"/>
                  </a:lnTo>
                  <a:lnTo>
                    <a:pt x="108204" y="1342644"/>
                  </a:lnTo>
                  <a:lnTo>
                    <a:pt x="198120" y="1342644"/>
                  </a:lnTo>
                  <a:lnTo>
                    <a:pt x="198120" y="1255776"/>
                  </a:lnTo>
                  <a:close/>
                </a:path>
                <a:path w="203200" h="2441575">
                  <a:moveTo>
                    <a:pt x="198120" y="941832"/>
                  </a:moveTo>
                  <a:lnTo>
                    <a:pt x="92964" y="941832"/>
                  </a:lnTo>
                  <a:lnTo>
                    <a:pt x="92964" y="1028700"/>
                  </a:lnTo>
                  <a:lnTo>
                    <a:pt x="198120" y="1028700"/>
                  </a:lnTo>
                  <a:lnTo>
                    <a:pt x="198120" y="941832"/>
                  </a:lnTo>
                  <a:close/>
                </a:path>
                <a:path w="203200" h="2441575">
                  <a:moveTo>
                    <a:pt x="198120" y="627888"/>
                  </a:moveTo>
                  <a:lnTo>
                    <a:pt x="32004" y="627888"/>
                  </a:lnTo>
                  <a:lnTo>
                    <a:pt x="32004" y="714756"/>
                  </a:lnTo>
                  <a:lnTo>
                    <a:pt x="198120" y="714756"/>
                  </a:lnTo>
                  <a:lnTo>
                    <a:pt x="198120" y="627888"/>
                  </a:lnTo>
                  <a:close/>
                </a:path>
                <a:path w="203200" h="2441575">
                  <a:moveTo>
                    <a:pt x="198120" y="313944"/>
                  </a:moveTo>
                  <a:lnTo>
                    <a:pt x="80772" y="313944"/>
                  </a:lnTo>
                  <a:lnTo>
                    <a:pt x="80772" y="400812"/>
                  </a:lnTo>
                  <a:lnTo>
                    <a:pt x="198120" y="400812"/>
                  </a:lnTo>
                  <a:lnTo>
                    <a:pt x="198120" y="313944"/>
                  </a:lnTo>
                  <a:close/>
                </a:path>
                <a:path w="203200" h="2441575">
                  <a:moveTo>
                    <a:pt x="198120" y="0"/>
                  </a:moveTo>
                  <a:lnTo>
                    <a:pt x="67056" y="0"/>
                  </a:lnTo>
                  <a:lnTo>
                    <a:pt x="67056" y="86868"/>
                  </a:lnTo>
                  <a:lnTo>
                    <a:pt x="198120" y="86868"/>
                  </a:lnTo>
                  <a:lnTo>
                    <a:pt x="198120" y="0"/>
                  </a:lnTo>
                  <a:close/>
                </a:path>
                <a:path w="203200" h="2441575">
                  <a:moveTo>
                    <a:pt x="202692" y="784860"/>
                  </a:moveTo>
                  <a:lnTo>
                    <a:pt x="198120" y="784860"/>
                  </a:lnTo>
                  <a:lnTo>
                    <a:pt x="198120" y="871728"/>
                  </a:lnTo>
                  <a:lnTo>
                    <a:pt x="202692" y="871728"/>
                  </a:lnTo>
                  <a:lnTo>
                    <a:pt x="202692" y="78486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6934200" y="2476500"/>
              <a:ext cx="0" cy="3296920"/>
            </a:xfrm>
            <a:custGeom>
              <a:avLst/>
              <a:gdLst/>
              <a:ahLst/>
              <a:cxnLst/>
              <a:rect l="l" t="t" r="r" b="b"/>
              <a:pathLst>
                <a:path w="0" h="3296920">
                  <a:moveTo>
                    <a:pt x="0" y="0"/>
                  </a:moveTo>
                  <a:lnTo>
                    <a:pt x="0" y="3296412"/>
                  </a:lnTo>
                </a:path>
              </a:pathLst>
            </a:custGeom>
            <a:ln w="9525">
              <a:solidFill>
                <a:srgbClr val="1B1C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5" name="object 345"/>
          <p:cNvSpPr txBox="1"/>
          <p:nvPr/>
        </p:nvSpPr>
        <p:spPr>
          <a:xfrm>
            <a:off x="7231380" y="2477642"/>
            <a:ext cx="205740" cy="148590"/>
          </a:xfrm>
          <a:prstGeom prst="rect">
            <a:avLst/>
          </a:prstGeom>
          <a:solidFill>
            <a:srgbClr val="FFF5CC"/>
          </a:solidFill>
        </p:spPr>
        <p:txBody>
          <a:bodyPr wrap="square" lIns="0" tIns="698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5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6" name="object 346"/>
          <p:cNvSpPr txBox="1"/>
          <p:nvPr/>
        </p:nvSpPr>
        <p:spPr>
          <a:xfrm>
            <a:off x="6938962" y="2628392"/>
            <a:ext cx="4984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7" name="object 347"/>
          <p:cNvSpPr txBox="1"/>
          <p:nvPr/>
        </p:nvSpPr>
        <p:spPr>
          <a:xfrm>
            <a:off x="7027926" y="2785363"/>
            <a:ext cx="4095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8" name="object 348"/>
          <p:cNvSpPr txBox="1"/>
          <p:nvPr/>
        </p:nvSpPr>
        <p:spPr>
          <a:xfrm>
            <a:off x="7161276" y="2942336"/>
            <a:ext cx="2762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6461950" y="3099307"/>
            <a:ext cx="4679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5270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0" name="object 350"/>
          <p:cNvSpPr txBox="1"/>
          <p:nvPr/>
        </p:nvSpPr>
        <p:spPr>
          <a:xfrm>
            <a:off x="7027926" y="3256279"/>
            <a:ext cx="4095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1" name="object 351"/>
          <p:cNvSpPr txBox="1"/>
          <p:nvPr/>
        </p:nvSpPr>
        <p:spPr>
          <a:xfrm>
            <a:off x="6461950" y="3413251"/>
            <a:ext cx="46799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6938962" y="3570223"/>
            <a:ext cx="4984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3" name="object 353"/>
          <p:cNvSpPr txBox="1"/>
          <p:nvPr/>
        </p:nvSpPr>
        <p:spPr>
          <a:xfrm>
            <a:off x="6461950" y="3727196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6938962" y="3884167"/>
            <a:ext cx="4984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6461950" y="4041140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6954107" y="4198111"/>
            <a:ext cx="48323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6461950" y="4355084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162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8" name="object 358"/>
          <p:cNvSpPr txBox="1"/>
          <p:nvPr/>
        </p:nvSpPr>
        <p:spPr>
          <a:xfrm>
            <a:off x="6954107" y="4512055"/>
            <a:ext cx="48323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9" name="object 359"/>
          <p:cNvSpPr txBox="1"/>
          <p:nvPr/>
        </p:nvSpPr>
        <p:spPr>
          <a:xfrm>
            <a:off x="6461950" y="4669027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6461950" y="4826000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559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6461950" y="4982971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2" name="object 362"/>
          <p:cNvSpPr txBox="1"/>
          <p:nvPr/>
        </p:nvSpPr>
        <p:spPr>
          <a:xfrm>
            <a:off x="6461950" y="5139944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16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3" name="object 363"/>
          <p:cNvSpPr txBox="1"/>
          <p:nvPr/>
        </p:nvSpPr>
        <p:spPr>
          <a:xfrm>
            <a:off x="6461950" y="5296916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4" name="object 364"/>
          <p:cNvSpPr txBox="1"/>
          <p:nvPr/>
        </p:nvSpPr>
        <p:spPr>
          <a:xfrm>
            <a:off x="6461950" y="5453888"/>
            <a:ext cx="467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B1C1B"/>
                </a:solidFill>
                <a:latin typeface="Calibri"/>
                <a:cs typeface="Calibri"/>
              </a:rPr>
              <a:t>-</a:t>
            </a: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5" name="object 365"/>
          <p:cNvSpPr txBox="1"/>
          <p:nvPr/>
        </p:nvSpPr>
        <p:spPr>
          <a:xfrm>
            <a:off x="7196708" y="5610859"/>
            <a:ext cx="77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1B1C1B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66" name="object 366"/>
          <p:cNvGrpSpPr/>
          <p:nvPr/>
        </p:nvGrpSpPr>
        <p:grpSpPr>
          <a:xfrm>
            <a:off x="541019" y="2444495"/>
            <a:ext cx="184785" cy="3316604"/>
            <a:chOff x="541019" y="2444495"/>
            <a:chExt cx="184785" cy="3316604"/>
          </a:xfrm>
        </p:grpSpPr>
        <p:sp>
          <p:nvSpPr>
            <p:cNvPr id="367" name="object 367"/>
            <p:cNvSpPr/>
            <p:nvPr/>
          </p:nvSpPr>
          <p:spPr>
            <a:xfrm>
              <a:off x="594359" y="2444495"/>
              <a:ext cx="76200" cy="3316604"/>
            </a:xfrm>
            <a:custGeom>
              <a:avLst/>
              <a:gdLst/>
              <a:ahLst/>
              <a:cxnLst/>
              <a:rect l="l" t="t" r="r" b="b"/>
              <a:pathLst>
                <a:path w="76200" h="3316604">
                  <a:moveTo>
                    <a:pt x="30162" y="3240087"/>
                  </a:moveTo>
                  <a:lnTo>
                    <a:pt x="0" y="3240087"/>
                  </a:lnTo>
                  <a:lnTo>
                    <a:pt x="38100" y="3316287"/>
                  </a:lnTo>
                  <a:lnTo>
                    <a:pt x="69850" y="3252787"/>
                  </a:lnTo>
                  <a:lnTo>
                    <a:pt x="30162" y="3252787"/>
                  </a:lnTo>
                  <a:lnTo>
                    <a:pt x="30162" y="3240087"/>
                  </a:lnTo>
                  <a:close/>
                </a:path>
                <a:path w="76200" h="3316604">
                  <a:moveTo>
                    <a:pt x="30162" y="74600"/>
                  </a:moveTo>
                  <a:lnTo>
                    <a:pt x="30162" y="3252787"/>
                  </a:lnTo>
                  <a:lnTo>
                    <a:pt x="46037" y="3252787"/>
                  </a:lnTo>
                  <a:lnTo>
                    <a:pt x="46037" y="76200"/>
                  </a:lnTo>
                  <a:lnTo>
                    <a:pt x="38100" y="76200"/>
                  </a:lnTo>
                  <a:lnTo>
                    <a:pt x="30162" y="74600"/>
                  </a:lnTo>
                  <a:close/>
                </a:path>
                <a:path w="76200" h="3316604">
                  <a:moveTo>
                    <a:pt x="76199" y="3240087"/>
                  </a:moveTo>
                  <a:lnTo>
                    <a:pt x="46037" y="3240087"/>
                  </a:lnTo>
                  <a:lnTo>
                    <a:pt x="46037" y="3252787"/>
                  </a:lnTo>
                  <a:lnTo>
                    <a:pt x="69850" y="3252787"/>
                  </a:lnTo>
                  <a:lnTo>
                    <a:pt x="76199" y="3240087"/>
                  </a:lnTo>
                  <a:close/>
                </a:path>
                <a:path w="76200" h="3316604">
                  <a:moveTo>
                    <a:pt x="46037" y="38100"/>
                  </a:moveTo>
                  <a:lnTo>
                    <a:pt x="30162" y="38100"/>
                  </a:lnTo>
                  <a:lnTo>
                    <a:pt x="30162" y="74600"/>
                  </a:lnTo>
                  <a:lnTo>
                    <a:pt x="38100" y="76200"/>
                  </a:lnTo>
                  <a:lnTo>
                    <a:pt x="46037" y="74600"/>
                  </a:lnTo>
                  <a:lnTo>
                    <a:pt x="46037" y="38100"/>
                  </a:lnTo>
                  <a:close/>
                </a:path>
                <a:path w="76200" h="3316604">
                  <a:moveTo>
                    <a:pt x="46037" y="74600"/>
                  </a:moveTo>
                  <a:lnTo>
                    <a:pt x="38100" y="76200"/>
                  </a:lnTo>
                  <a:lnTo>
                    <a:pt x="46037" y="76200"/>
                  </a:lnTo>
                  <a:lnTo>
                    <a:pt x="46037" y="74600"/>
                  </a:lnTo>
                  <a:close/>
                </a:path>
                <a:path w="76200" h="3316604">
                  <a:moveTo>
                    <a:pt x="38100" y="0"/>
                  </a:moveTo>
                  <a:lnTo>
                    <a:pt x="23268" y="2988"/>
                  </a:lnTo>
                  <a:lnTo>
                    <a:pt x="11158" y="11144"/>
                  </a:lnTo>
                  <a:lnTo>
                    <a:pt x="2993" y="23252"/>
                  </a:lnTo>
                  <a:lnTo>
                    <a:pt x="0" y="38100"/>
                  </a:lnTo>
                  <a:lnTo>
                    <a:pt x="2993" y="52947"/>
                  </a:lnTo>
                  <a:lnTo>
                    <a:pt x="11158" y="65055"/>
                  </a:lnTo>
                  <a:lnTo>
                    <a:pt x="23268" y="73211"/>
                  </a:lnTo>
                  <a:lnTo>
                    <a:pt x="30162" y="74600"/>
                  </a:lnTo>
                  <a:lnTo>
                    <a:pt x="30162" y="38100"/>
                  </a:lnTo>
                  <a:lnTo>
                    <a:pt x="76200" y="38100"/>
                  </a:lnTo>
                  <a:lnTo>
                    <a:pt x="73206" y="23252"/>
                  </a:lnTo>
                  <a:lnTo>
                    <a:pt x="65041" y="11144"/>
                  </a:lnTo>
                  <a:lnTo>
                    <a:pt x="52931" y="2988"/>
                  </a:lnTo>
                  <a:lnTo>
                    <a:pt x="38100" y="0"/>
                  </a:lnTo>
                  <a:close/>
                </a:path>
                <a:path w="76200" h="3316604">
                  <a:moveTo>
                    <a:pt x="76200" y="38100"/>
                  </a:moveTo>
                  <a:lnTo>
                    <a:pt x="46037" y="38100"/>
                  </a:lnTo>
                  <a:lnTo>
                    <a:pt x="46037" y="74600"/>
                  </a:lnTo>
                  <a:lnTo>
                    <a:pt x="52931" y="73211"/>
                  </a:lnTo>
                  <a:lnTo>
                    <a:pt x="65041" y="65055"/>
                  </a:lnTo>
                  <a:lnTo>
                    <a:pt x="73206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41F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541019" y="3372611"/>
              <a:ext cx="184785" cy="1499870"/>
            </a:xfrm>
            <a:custGeom>
              <a:avLst/>
              <a:gdLst/>
              <a:ahLst/>
              <a:cxnLst/>
              <a:rect l="l" t="t" r="r" b="b"/>
              <a:pathLst>
                <a:path w="184784" h="1499870">
                  <a:moveTo>
                    <a:pt x="184404" y="0"/>
                  </a:moveTo>
                  <a:lnTo>
                    <a:pt x="0" y="0"/>
                  </a:lnTo>
                  <a:lnTo>
                    <a:pt x="0" y="1499615"/>
                  </a:lnTo>
                  <a:lnTo>
                    <a:pt x="184404" y="1499615"/>
                  </a:lnTo>
                  <a:lnTo>
                    <a:pt x="1844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9" name="object 369"/>
          <p:cNvSpPr txBox="1"/>
          <p:nvPr/>
        </p:nvSpPr>
        <p:spPr>
          <a:xfrm>
            <a:off x="557656" y="3511629"/>
            <a:ext cx="178435" cy="12255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b="1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r>
              <a:rPr dirty="0" sz="1200" spc="-50" b="1">
                <a:solidFill>
                  <a:srgbClr val="03173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importance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0" name="object 370"/>
          <p:cNvSpPr txBox="1"/>
          <p:nvPr/>
        </p:nvSpPr>
        <p:spPr>
          <a:xfrm>
            <a:off x="850798" y="2156586"/>
            <a:ext cx="463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Barrier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1" name="object 371"/>
          <p:cNvGrpSpPr/>
          <p:nvPr/>
        </p:nvGrpSpPr>
        <p:grpSpPr>
          <a:xfrm>
            <a:off x="851916" y="2458592"/>
            <a:ext cx="10519410" cy="3289300"/>
            <a:chOff x="851916" y="2458592"/>
            <a:chExt cx="10519410" cy="3289300"/>
          </a:xfrm>
        </p:grpSpPr>
        <p:sp>
          <p:nvSpPr>
            <p:cNvPr id="372" name="object 372"/>
            <p:cNvSpPr/>
            <p:nvPr/>
          </p:nvSpPr>
          <p:spPr>
            <a:xfrm>
              <a:off x="851916" y="2630423"/>
              <a:ext cx="10506710" cy="2978150"/>
            </a:xfrm>
            <a:custGeom>
              <a:avLst/>
              <a:gdLst/>
              <a:ahLst/>
              <a:cxnLst/>
              <a:rect l="l" t="t" r="r" b="b"/>
              <a:pathLst>
                <a:path w="10506710" h="2978150">
                  <a:moveTo>
                    <a:pt x="0" y="0"/>
                  </a:moveTo>
                  <a:lnTo>
                    <a:pt x="10506329" y="0"/>
                  </a:lnTo>
                </a:path>
                <a:path w="10506710" h="2978150">
                  <a:moveTo>
                    <a:pt x="0" y="156972"/>
                  </a:moveTo>
                  <a:lnTo>
                    <a:pt x="10506329" y="156972"/>
                  </a:lnTo>
                </a:path>
                <a:path w="10506710" h="2978150">
                  <a:moveTo>
                    <a:pt x="0" y="312420"/>
                  </a:moveTo>
                  <a:lnTo>
                    <a:pt x="10506329" y="312420"/>
                  </a:lnTo>
                </a:path>
                <a:path w="10506710" h="2978150">
                  <a:moveTo>
                    <a:pt x="0" y="469391"/>
                  </a:moveTo>
                  <a:lnTo>
                    <a:pt x="10506329" y="469391"/>
                  </a:lnTo>
                </a:path>
                <a:path w="10506710" h="2978150">
                  <a:moveTo>
                    <a:pt x="0" y="627888"/>
                  </a:moveTo>
                  <a:lnTo>
                    <a:pt x="10506329" y="627888"/>
                  </a:lnTo>
                </a:path>
                <a:path w="10506710" h="2978150">
                  <a:moveTo>
                    <a:pt x="0" y="784860"/>
                  </a:moveTo>
                  <a:lnTo>
                    <a:pt x="10506329" y="784860"/>
                  </a:lnTo>
                </a:path>
                <a:path w="10506710" h="2978150">
                  <a:moveTo>
                    <a:pt x="0" y="940308"/>
                  </a:moveTo>
                  <a:lnTo>
                    <a:pt x="10506329" y="940308"/>
                  </a:lnTo>
                </a:path>
                <a:path w="10506710" h="2978150">
                  <a:moveTo>
                    <a:pt x="0" y="1097280"/>
                  </a:moveTo>
                  <a:lnTo>
                    <a:pt x="10506329" y="1097280"/>
                  </a:lnTo>
                </a:path>
                <a:path w="10506710" h="2978150">
                  <a:moveTo>
                    <a:pt x="0" y="1254252"/>
                  </a:moveTo>
                  <a:lnTo>
                    <a:pt x="10506329" y="1254252"/>
                  </a:lnTo>
                </a:path>
                <a:path w="10506710" h="2978150">
                  <a:moveTo>
                    <a:pt x="0" y="1411224"/>
                  </a:moveTo>
                  <a:lnTo>
                    <a:pt x="10506329" y="1411224"/>
                  </a:lnTo>
                </a:path>
                <a:path w="10506710" h="2978150">
                  <a:moveTo>
                    <a:pt x="0" y="1566671"/>
                  </a:moveTo>
                  <a:lnTo>
                    <a:pt x="10506329" y="1566671"/>
                  </a:lnTo>
                </a:path>
                <a:path w="10506710" h="2978150">
                  <a:moveTo>
                    <a:pt x="0" y="1723644"/>
                  </a:moveTo>
                  <a:lnTo>
                    <a:pt x="10506329" y="1723644"/>
                  </a:lnTo>
                </a:path>
                <a:path w="10506710" h="2978150">
                  <a:moveTo>
                    <a:pt x="0" y="1880615"/>
                  </a:moveTo>
                  <a:lnTo>
                    <a:pt x="10506329" y="1880615"/>
                  </a:lnTo>
                </a:path>
                <a:path w="10506710" h="2978150">
                  <a:moveTo>
                    <a:pt x="0" y="2039112"/>
                  </a:moveTo>
                  <a:lnTo>
                    <a:pt x="10506329" y="2039112"/>
                  </a:lnTo>
                </a:path>
                <a:path w="10506710" h="2978150">
                  <a:moveTo>
                    <a:pt x="0" y="2194560"/>
                  </a:moveTo>
                  <a:lnTo>
                    <a:pt x="10506329" y="2194560"/>
                  </a:lnTo>
                </a:path>
                <a:path w="10506710" h="2978150">
                  <a:moveTo>
                    <a:pt x="0" y="2351532"/>
                  </a:moveTo>
                  <a:lnTo>
                    <a:pt x="10506329" y="2351532"/>
                  </a:lnTo>
                </a:path>
                <a:path w="10506710" h="2978150">
                  <a:moveTo>
                    <a:pt x="0" y="2508504"/>
                  </a:moveTo>
                  <a:lnTo>
                    <a:pt x="10506329" y="2508504"/>
                  </a:lnTo>
                </a:path>
                <a:path w="10506710" h="2978150">
                  <a:moveTo>
                    <a:pt x="0" y="2665476"/>
                  </a:moveTo>
                  <a:lnTo>
                    <a:pt x="10506329" y="2665476"/>
                  </a:lnTo>
                </a:path>
                <a:path w="10506710" h="2978150">
                  <a:moveTo>
                    <a:pt x="0" y="2820924"/>
                  </a:moveTo>
                  <a:lnTo>
                    <a:pt x="10506329" y="2820924"/>
                  </a:lnTo>
                </a:path>
                <a:path w="10506710" h="2978150">
                  <a:moveTo>
                    <a:pt x="0" y="2977896"/>
                  </a:moveTo>
                  <a:lnTo>
                    <a:pt x="10506329" y="2977896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864870" y="2468117"/>
              <a:ext cx="10506710" cy="0"/>
            </a:xfrm>
            <a:custGeom>
              <a:avLst/>
              <a:gdLst/>
              <a:ahLst/>
              <a:cxnLst/>
              <a:rect l="l" t="t" r="r" b="b"/>
              <a:pathLst>
                <a:path w="10506710" h="0">
                  <a:moveTo>
                    <a:pt x="0" y="0"/>
                  </a:moveTo>
                  <a:lnTo>
                    <a:pt x="10506329" y="0"/>
                  </a:lnTo>
                </a:path>
              </a:pathLst>
            </a:custGeom>
            <a:ln w="190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3502151" y="2474975"/>
              <a:ext cx="6894830" cy="3272790"/>
            </a:xfrm>
            <a:custGeom>
              <a:avLst/>
              <a:gdLst/>
              <a:ahLst/>
              <a:cxnLst/>
              <a:rect l="l" t="t" r="r" b="b"/>
              <a:pathLst>
                <a:path w="6894830" h="3272790">
                  <a:moveTo>
                    <a:pt x="0" y="0"/>
                  </a:moveTo>
                  <a:lnTo>
                    <a:pt x="0" y="3272688"/>
                  </a:lnTo>
                </a:path>
                <a:path w="6894830" h="3272790">
                  <a:moveTo>
                    <a:pt x="984503" y="0"/>
                  </a:moveTo>
                  <a:lnTo>
                    <a:pt x="984503" y="3272688"/>
                  </a:lnTo>
                </a:path>
                <a:path w="6894830" h="3272790">
                  <a:moveTo>
                    <a:pt x="1969008" y="0"/>
                  </a:moveTo>
                  <a:lnTo>
                    <a:pt x="1969008" y="3272688"/>
                  </a:lnTo>
                </a:path>
                <a:path w="6894830" h="3272790">
                  <a:moveTo>
                    <a:pt x="2955036" y="0"/>
                  </a:moveTo>
                  <a:lnTo>
                    <a:pt x="2955036" y="3272688"/>
                  </a:lnTo>
                </a:path>
                <a:path w="6894830" h="3272790">
                  <a:moveTo>
                    <a:pt x="3939540" y="0"/>
                  </a:moveTo>
                  <a:lnTo>
                    <a:pt x="3939540" y="3272688"/>
                  </a:lnTo>
                </a:path>
                <a:path w="6894830" h="3272790">
                  <a:moveTo>
                    <a:pt x="4924044" y="0"/>
                  </a:moveTo>
                  <a:lnTo>
                    <a:pt x="4924044" y="3272688"/>
                  </a:lnTo>
                </a:path>
                <a:path w="6894830" h="3272790">
                  <a:moveTo>
                    <a:pt x="5910072" y="0"/>
                  </a:moveTo>
                  <a:lnTo>
                    <a:pt x="5910072" y="3272688"/>
                  </a:lnTo>
                </a:path>
                <a:path w="6894830" h="3272790">
                  <a:moveTo>
                    <a:pt x="6894576" y="0"/>
                  </a:moveTo>
                  <a:lnTo>
                    <a:pt x="6894576" y="3272688"/>
                  </a:lnTo>
                </a:path>
              </a:pathLst>
            </a:custGeom>
            <a:ln w="9525">
              <a:solidFill>
                <a:srgbClr val="4D4D4D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5" name="object 375"/>
          <p:cNvSpPr txBox="1"/>
          <p:nvPr/>
        </p:nvSpPr>
        <p:spPr>
          <a:xfrm>
            <a:off x="2069083" y="2159000"/>
            <a:ext cx="477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31739"/>
                </a:solidFill>
                <a:latin typeface="Calibri"/>
                <a:cs typeface="Calibri"/>
              </a:rPr>
              <a:t>Overall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576072" y="5911596"/>
            <a:ext cx="2063750" cy="363220"/>
            <a:chOff x="576072" y="5911596"/>
            <a:chExt cx="2063750" cy="363220"/>
          </a:xfrm>
        </p:grpSpPr>
        <p:sp>
          <p:nvSpPr>
            <p:cNvPr id="377" name="object 377"/>
            <p:cNvSpPr/>
            <p:nvPr/>
          </p:nvSpPr>
          <p:spPr>
            <a:xfrm>
              <a:off x="845820" y="6089904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69" h="90170">
                  <a:moveTo>
                    <a:pt x="89915" y="0"/>
                  </a:moveTo>
                  <a:lnTo>
                    <a:pt x="0" y="0"/>
                  </a:lnTo>
                  <a:lnTo>
                    <a:pt x="0" y="89916"/>
                  </a:lnTo>
                  <a:lnTo>
                    <a:pt x="89915" y="89916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FFF5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719328" y="5983224"/>
              <a:ext cx="1914525" cy="285115"/>
            </a:xfrm>
            <a:custGeom>
              <a:avLst/>
              <a:gdLst/>
              <a:ahLst/>
              <a:cxnLst/>
              <a:rect l="l" t="t" r="r" b="b"/>
              <a:pathLst>
                <a:path w="1914525" h="285114">
                  <a:moveTo>
                    <a:pt x="126491" y="196595"/>
                  </a:moveTo>
                  <a:lnTo>
                    <a:pt x="216407" y="196595"/>
                  </a:lnTo>
                  <a:lnTo>
                    <a:pt x="216407" y="106679"/>
                  </a:lnTo>
                  <a:lnTo>
                    <a:pt x="126491" y="106679"/>
                  </a:lnTo>
                  <a:lnTo>
                    <a:pt x="126491" y="196595"/>
                  </a:lnTo>
                  <a:close/>
                </a:path>
                <a:path w="1914525" h="285114">
                  <a:moveTo>
                    <a:pt x="0" y="284988"/>
                  </a:moveTo>
                  <a:lnTo>
                    <a:pt x="1914144" y="284988"/>
                  </a:lnTo>
                  <a:lnTo>
                    <a:pt x="1914144" y="0"/>
                  </a:lnTo>
                  <a:lnTo>
                    <a:pt x="0" y="0"/>
                  </a:lnTo>
                  <a:lnTo>
                    <a:pt x="0" y="284988"/>
                  </a:lnTo>
                  <a:close/>
                </a:path>
              </a:pathLst>
            </a:custGeom>
            <a:ln w="12700">
              <a:solidFill>
                <a:srgbClr val="0317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576072" y="5911596"/>
              <a:ext cx="304800" cy="154305"/>
            </a:xfrm>
            <a:custGeom>
              <a:avLst/>
              <a:gdLst/>
              <a:ahLst/>
              <a:cxnLst/>
              <a:rect l="l" t="t" r="r" b="b"/>
              <a:pathLst>
                <a:path w="304800" h="154304">
                  <a:moveTo>
                    <a:pt x="304800" y="0"/>
                  </a:moveTo>
                  <a:lnTo>
                    <a:pt x="0" y="0"/>
                  </a:lnTo>
                  <a:lnTo>
                    <a:pt x="0" y="153923"/>
                  </a:lnTo>
                  <a:lnTo>
                    <a:pt x="304800" y="153923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0" name="object 380"/>
          <p:cNvSpPr txBox="1"/>
          <p:nvPr/>
        </p:nvSpPr>
        <p:spPr>
          <a:xfrm>
            <a:off x="620064" y="5892494"/>
            <a:ext cx="1946910" cy="317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031739"/>
                </a:solidFill>
                <a:latin typeface="Calibri"/>
                <a:cs typeface="Calibri"/>
              </a:rPr>
              <a:t>Key</a:t>
            </a:r>
            <a:endParaRPr sz="1000">
              <a:latin typeface="Calibri"/>
              <a:cs typeface="Calibri"/>
            </a:endParaRPr>
          </a:p>
          <a:p>
            <a:pPr marL="379730">
              <a:lnSpc>
                <a:spcPct val="100000"/>
              </a:lnSpc>
              <a:spcBef>
                <a:spcPts val="25"/>
              </a:spcBef>
            </a:pPr>
            <a:r>
              <a:rPr dirty="0" sz="900">
                <a:solidFill>
                  <a:srgbClr val="1B1C1B"/>
                </a:solidFill>
                <a:latin typeface="Calibri"/>
                <a:cs typeface="Calibri"/>
              </a:rPr>
              <a:t>Notable</a:t>
            </a:r>
            <a:r>
              <a:rPr dirty="0" sz="900" spc="-5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B1C1B"/>
                </a:solidFill>
                <a:latin typeface="Calibri"/>
                <a:cs typeface="Calibri"/>
              </a:rPr>
              <a:t>over/under</a:t>
            </a:r>
            <a:r>
              <a:rPr dirty="0" sz="900" spc="-40">
                <a:solidFill>
                  <a:srgbClr val="1B1C1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B1C1B"/>
                </a:solidFill>
                <a:latin typeface="Calibri"/>
                <a:cs typeface="Calibri"/>
              </a:rPr>
              <a:t>performance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1" name="object 381"/>
          <p:cNvSpPr txBox="1"/>
          <p:nvPr/>
        </p:nvSpPr>
        <p:spPr>
          <a:xfrm>
            <a:off x="620369" y="6374003"/>
            <a:ext cx="3785870" cy="276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Source: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customer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understanding</a:t>
            </a:r>
            <a:r>
              <a:rPr dirty="0" sz="9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survey</a:t>
            </a:r>
            <a:r>
              <a:rPr dirty="0" sz="9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(N=2,079);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NativeResearch</a:t>
            </a:r>
            <a:r>
              <a:rPr dirty="0" sz="900" spc="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Notes: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consolidation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reasons</a:t>
            </a:r>
            <a:r>
              <a:rPr dirty="0" sz="900" spc="-1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KoRo</a:t>
            </a:r>
            <a:r>
              <a:rPr dirty="0" sz="900" spc="-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not</a:t>
            </a:r>
            <a:r>
              <a:rPr dirty="0" sz="900" spc="-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last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purchase</a:t>
            </a:r>
            <a:r>
              <a:rPr dirty="0" sz="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brand (K01,</a:t>
            </a:r>
            <a:r>
              <a:rPr dirty="0" sz="900" spc="-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D4D4D"/>
                </a:solidFill>
                <a:latin typeface="Calibri"/>
                <a:cs typeface="Calibri"/>
              </a:rPr>
              <a:t>K02,</a:t>
            </a:r>
            <a:r>
              <a:rPr dirty="0" sz="900" spc="-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D4D4D"/>
                </a:solidFill>
                <a:latin typeface="Calibri"/>
                <a:cs typeface="Calibri"/>
              </a:rPr>
              <a:t>K03)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11428856" y="6412179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 sz="1000" spc="-25">
                <a:solidFill>
                  <a:srgbClr val="1B1C1B"/>
                </a:solidFill>
                <a:latin typeface="Calibri"/>
                <a:cs typeface="Calibri"/>
              </a:rPr>
              <a:t>89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